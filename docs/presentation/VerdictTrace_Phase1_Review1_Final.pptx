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177df51a8f4dfc" /><Relationship Type="http://schemas.openxmlformats.org/officeDocument/2006/relationships/extended-properties" Target="/docProps/app.xml" Id="R4a5a6c9c88e94a05" /><Relationship Type="http://schemas.openxmlformats.org/officeDocument/2006/relationships/officeDocument" Target="/ppt/presentation.xml" Id="R588b1e4beaf447da" /></Relationships>
</file>

<file path=ppt/presentation.xml><?xml version="1.0" encoding="utf-8"?>
<p:presentation xmlns:p="http://schemas.openxmlformats.org/presentationml/2006/main">
  <p:sldMasterIdLst>
    <p:sldMasterId xmlns:r="http://schemas.openxmlformats.org/officeDocument/2006/relationships" id="2147483648" r:id="R7a110065e7474bea"/>
  </p:sldMasterIdLst>
  <p:notesMasterIdLst>
    <p:notesMasterId xmlns:r="http://schemas.openxmlformats.org/officeDocument/2006/relationships" r:id="R53cabe33480c467e"/>
  </p:notesMasterIdLst>
  <p:sldIdLst>
    <p:sldId xmlns:r="http://schemas.openxmlformats.org/officeDocument/2006/relationships" id="256" r:id="R3d66abe07caa42d8"/>
    <p:sldId xmlns:r="http://schemas.openxmlformats.org/officeDocument/2006/relationships" id="257" r:id="R3968e2eb5e764336"/>
    <p:sldId xmlns:r="http://schemas.openxmlformats.org/officeDocument/2006/relationships" id="258" r:id="Rf7044c1f412446b3"/>
    <p:sldId xmlns:r="http://schemas.openxmlformats.org/officeDocument/2006/relationships" id="259" r:id="R959cf68352b74959"/>
    <p:sldId xmlns:r="http://schemas.openxmlformats.org/officeDocument/2006/relationships" id="260" r:id="Rb33bd600ae8a4308"/>
    <p:sldId xmlns:r="http://schemas.openxmlformats.org/officeDocument/2006/relationships" id="261" r:id="R0a09e668670f4117"/>
    <p:sldId xmlns:r="http://schemas.openxmlformats.org/officeDocument/2006/relationships" id="262" r:id="R8285ec59262340af"/>
    <p:sldId xmlns:r="http://schemas.openxmlformats.org/officeDocument/2006/relationships" id="263" r:id="R137f66afbc014b0c"/>
    <p:sldId xmlns:r="http://schemas.openxmlformats.org/officeDocument/2006/relationships" id="264" r:id="R63814075eedb4bf8"/>
    <p:sldId xmlns:r="http://schemas.openxmlformats.org/officeDocument/2006/relationships" id="265" r:id="R5452a01fdfc54c19"/>
    <p:sldId xmlns:r="http://schemas.openxmlformats.org/officeDocument/2006/relationships" id="266" r:id="R4669b0d5861040f9"/>
    <p:sldId xmlns:r="http://schemas.openxmlformats.org/officeDocument/2006/relationships" id="267" r:id="Rc5e0245fd97d43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477b8e1540b4a1c" /><Relationship Type="http://schemas.openxmlformats.org/officeDocument/2006/relationships/slideMaster" Target="/ppt/slideMasters/slideMaster1.xml" Id="R7a110065e7474bea" /><Relationship Type="http://schemas.openxmlformats.org/officeDocument/2006/relationships/notesMaster" Target="/ppt/notesMasters/notesMaster1.xml" Id="R53cabe33480c467e" /><Relationship Type="http://schemas.openxmlformats.org/officeDocument/2006/relationships/presProps" Target="/ppt/presProps.xml" Id="R3eb38e7fc7524378" /><Relationship Type="http://schemas.openxmlformats.org/officeDocument/2006/relationships/viewProps" Target="/ppt/viewProps.xml" Id="Rf53c712f7d1441bf" /><Relationship Type="http://schemas.openxmlformats.org/officeDocument/2006/relationships/tableStyles" Target="/ppt/tableStyles.xml" Id="R98f12e6e20a84e53" /><Relationship Type="http://schemas.openxmlformats.org/officeDocument/2006/relationships/slide" Target="/ppt/slides/slide1.xml" Id="R3d66abe07caa42d8" /><Relationship Type="http://schemas.openxmlformats.org/officeDocument/2006/relationships/slide" Target="/ppt/slides/slide2.xml" Id="R3968e2eb5e764336" /><Relationship Type="http://schemas.openxmlformats.org/officeDocument/2006/relationships/slide" Target="/ppt/slides/slide3.xml" Id="Rf7044c1f412446b3" /><Relationship Type="http://schemas.openxmlformats.org/officeDocument/2006/relationships/slide" Target="/ppt/slides/slide4.xml" Id="R959cf68352b74959" /><Relationship Type="http://schemas.openxmlformats.org/officeDocument/2006/relationships/slide" Target="/ppt/slides/slide5.xml" Id="Rb33bd600ae8a4308" /><Relationship Type="http://schemas.openxmlformats.org/officeDocument/2006/relationships/slide" Target="/ppt/slides/slide6.xml" Id="R0a09e668670f4117" /><Relationship Type="http://schemas.openxmlformats.org/officeDocument/2006/relationships/slide" Target="/ppt/slides/slide7.xml" Id="R8285ec59262340af" /><Relationship Type="http://schemas.openxmlformats.org/officeDocument/2006/relationships/slide" Target="/ppt/slides/slide8.xml" Id="R137f66afbc014b0c" /><Relationship Type="http://schemas.openxmlformats.org/officeDocument/2006/relationships/slide" Target="/ppt/slides/slide9.xml" Id="R63814075eedb4bf8" /><Relationship Type="http://schemas.openxmlformats.org/officeDocument/2006/relationships/slide" Target="/ppt/slides/slide10.xml" Id="R5452a01fdfc54c19" /><Relationship Type="http://schemas.openxmlformats.org/officeDocument/2006/relationships/slide" Target="/ppt/slides/slide11.xml" Id="R4669b0d5861040f9" /><Relationship Type="http://schemas.openxmlformats.org/officeDocument/2006/relationships/slide" Target="/ppt/slides/slide12.xml" Id="Rc5e0245fd97d43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6bd287fbf240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23d9360c3e4bc1" /><Relationship Type="http://schemas.openxmlformats.org/officeDocument/2006/relationships/notesMaster" Target="/ppt/notesMasters/notesMaster1.xml" Id="R2847e37f940448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cf31284a974e0a" /><Relationship Type="http://schemas.openxmlformats.org/officeDocument/2006/relationships/notesMaster" Target="/ppt/notesMasters/notesMaster1.xml" Id="R67a08e0b37114f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3819fbc6894d12" /><Relationship Type="http://schemas.openxmlformats.org/officeDocument/2006/relationships/notesMaster" Target="/ppt/notesMasters/notesMaster1.xml" Id="Rab992054780841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fcd4accbc74d93" /><Relationship Type="http://schemas.openxmlformats.org/officeDocument/2006/relationships/notesMaster" Target="/ppt/notesMasters/notesMaster1.xml" Id="Rc1436b4fcee843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813b9cacc54324" /><Relationship Type="http://schemas.openxmlformats.org/officeDocument/2006/relationships/notesMaster" Target="/ppt/notesMasters/notesMaster1.xml" Id="Rcbfc5952a6e94d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5196f7a3484ef9" /><Relationship Type="http://schemas.openxmlformats.org/officeDocument/2006/relationships/notesMaster" Target="/ppt/notesMasters/notesMaster1.xml" Id="R01f48397bd3449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b84121693b4502" /><Relationship Type="http://schemas.openxmlformats.org/officeDocument/2006/relationships/notesMaster" Target="/ppt/notesMasters/notesMaster1.xml" Id="R135929e7729547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856de277e44cb7" /><Relationship Type="http://schemas.openxmlformats.org/officeDocument/2006/relationships/notesMaster" Target="/ppt/notesMasters/notesMaster1.xml" Id="R7cd210c8da434f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f8011d84e94998" /><Relationship Type="http://schemas.openxmlformats.org/officeDocument/2006/relationships/notesMaster" Target="/ppt/notesMasters/notesMaster1.xml" Id="Rdcddfeb7395245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2dee3c85f541c4" /><Relationship Type="http://schemas.openxmlformats.org/officeDocument/2006/relationships/notesMaster" Target="/ppt/notesMasters/notesMaster1.xml" Id="Rd4ce66b228424d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b54da385f643c6" /><Relationship Type="http://schemas.openxmlformats.org/officeDocument/2006/relationships/notesMaster" Target="/ppt/notesMasters/notesMaster1.xml" Id="R97e8a8f4970149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bdc9fe35914961" /><Relationship Type="http://schemas.openxmlformats.org/officeDocument/2006/relationships/notesMaster" Target="/ppt/notesMasters/notesMaster1.xml" Id="R763787262b0346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35 seconds). Introduce VerdictTrace as a proposed detection, attribution and evidence-preservation system for connected fleets. The project is at the proposal stage. State the two main goals: discriminate benign changes from suspicious behavior across CAN and V2X, and retain evidence that can be independently checked. Agentic AI supports investigation after deterministic decisions. It does not control a vehicle. Introduce the guide and team. No experimental performance results are claimed in this review.</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(about 25 seconds). The presentation first defines the security problem and shows how the proposed prototype fits the available resources. Then it compares related research, walks through scenarios and architecture, and finishes with deliverables, phase milestones and the bounded AI investigation workflow. The four review criteria are addressed directly: problem statement, applications, background work and feasibility.</a:t>
            </a:r>
            <a:endParaRPr/>
          </a:p>
          <a:p xmlns:a="http://schemas.openxmlformats.org/drawingml/2006/main">
            <a:r>
              <a:t/>
            </a:r>
            <a:endParaRPr/>
          </a:p>
          <a:p xmlns:a="http://schemas.openxmlformats.org/drawingml/2006/main">
            <a:r>
              <a:t>References</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(about 75 seconds). A detector can observe a change without knowing its cause. Our controlled scenarios include legitimate updates, changes in driving conditions and gradual malicious injection. Each CAN and V2X detector must retain an independent judgment. Cross-layer timing contributes context but cannot serve as a rule that makes all single-layer changes benign. The output is a calibrated assessment with an affected layer and ranked cause hypothesis. An insufficient-evidence outcome is essential when observation alone cannot distinguish causes. Distribution shift is not automatically concept drift or malicious intent; the dataset protocol will define the exact shift being tested. Forensics adds a second challenge: after an alert, local records or model behavior may change. The project must preserve what was observed and which evidence remains independently verifiable.</a:t>
            </a:r>
            <a:endParaRPr/>
          </a:p>
          <a:p xmlns:a="http://schemas.openxmlformats.org/drawingml/2006/main">
            <a:r>
              <a:t/>
            </a:r>
            <a:endParaRPr/>
          </a:p>
          <a:p xmlns:a="http://schemas.openxmlformats.org/drawingml/2006/main">
            <a:r>
              <a:t>References</a:t>
            </a:r>
            <a:endParaRPr/>
          </a:p>
          <a:p xmlns:a="http://schemas.openxmlformats.org/drawingml/2006/main">
            <a:r>
              <a:t>[1] S. Fuhrman, O. Gungor and T. Rosing, "CND-IDS: Continual Novelty Detection for Intrusion Detection Systems," 62nd ACM/IEEE Design Automation Conference (DAC), 2025. DOI: 10.1109/DAC63849.2025.11132541. https://ieeexplore.ieee.org/document/11132541/ . Open author version: https://arxiv.org/abs/2502.14094</a:t>
            </a:r>
            <a:endParaRPr/>
          </a:p>
          <a:p xmlns:a="http://schemas.openxmlformats.org/drawingml/2006/main">
            <a:r>
              <a:t/>
            </a:r>
            <a:endParaRPr/>
          </a:p>
          <a:p xmlns:a="http://schemas.openxmlformats.org/drawingml/2006/main">
            <a:r>
              <a:t>Dataset reference: K. Verma et al., "A comprehensive guide to CAN IDS data and introduction of the ROAD dataset," PLoS ONE 19(1), 2024. https://www.ornl.gov/publication/comprehensive-guide-can-ids-data-and-introduction-road-dataset . Dataset: https://zenodo.org/records/10462796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(about 75 seconds). Use a single purchased Pi-class edge node and a CAN interface for the hardware path. Fleet members are simulated software clients on the existing Macs; one physical node does not represent a deployed fleet. Macs host V2X generation, model development, DYNOTEARS fitting, evidence coordination, dashboard and AI orchestration. Benchmark local inference, logging and any graph-based scoring on the Pi. The listed amounts are expenditure ceilings chosen to sum to INR 20,000, not verified vendor quotations. NVIDIA hosted APIs are the initial candidate for the investigator, with bounded calls, caching and retry. No NVIDIA GPU is required on a Mac to call a hosted endpoint. If the API is unavailable, deterministic detection and logging continue. Insufficient fleet participation triggers a local-only status. Dataset realism and witness density are explicit experimental limitations. Vehicle-control intervention and autonomous remediation are outside scope.</a:t>
            </a:r>
            <a:endParaRPr/>
          </a:p>
          <a:p xmlns:a="http://schemas.openxmlformats.org/drawingml/2006/main">
            <a:r>
              <a:t/>
            </a:r>
            <a:endParaRPr/>
          </a:p>
          <a:p xmlns:a="http://schemas.openxmlformats.org/drawingml/2006/main">
            <a:r>
              <a:t>References</a:t>
            </a:r>
            <a:endParaRPr/>
          </a:p>
          <a:p xmlns:a="http://schemas.openxmlformats.org/drawingml/2006/main">
            <a:r>
              <a:t>NVIDIA prototyping API access is subject to model-specific rate limits and load; free availability is not a service-level guarantee. https://forums.developer.nvidia.com/t/nvidia-nim-faq/300317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setting (about 65 seconds). CAN is the in-vehicle communication surface connecting electronic control units. V2X carries information between vehicles and external participants. The illustration shows these two surfaces conceptually; it is not a wiring design or a photograph of our prototype. Changes in operating conditions may shift the observed distributions. Our data protocol will implement documented benign-change scenarios and adversarial counterparts. The principal question is whether evidence from both layers improves attribution while retaining sensitivity to attacks on only one layer. Recorded CAN traffic and simulated V2X require a controlled shared scenario, not merely matching timestamps on unrelated datasets. Public ROAD and VeReMi resources provide independent benchmark and scenario references.</a:t>
            </a:r>
            <a:endParaRPr/>
          </a:p>
          <a:p xmlns:a="http://schemas.openxmlformats.org/drawingml/2006/main">
            <a:r>
              <a:t/>
            </a:r>
            <a:endParaRPr/>
          </a:p>
          <a:p xmlns:a="http://schemas.openxmlformats.org/drawingml/2006/main">
            <a:r>
              <a:t>Visual provenance: generated with the built-in ImageGen tool for this deck. Prompt: a restrained 3D technical illustration on white, silver foreground vehicle with a conceptual ECU bus, two background vehicles and roadside wireless links, blue/turquoise accents, no text or labels.</a:t>
            </a:r>
            <a:endParaRPr/>
          </a:p>
          <a:p xmlns:a="http://schemas.openxmlformats.org/drawingml/2006/main">
            <a:r>
              <a:t/>
            </a:r>
            <a:endParaRPr/>
          </a:p>
          <a:p xmlns:a="http://schemas.openxmlformats.org/drawingml/2006/main">
            <a:r>
              <a:t>References</a:t>
            </a:r>
            <a:endParaRPr/>
          </a:p>
          <a:p xmlns:a="http://schemas.openxmlformats.org/drawingml/2006/main">
            <a:r>
              <a:t>Dataset reference: K. Verma et al., "A comprehensive guide to CAN IDS data and introduction of the ROAD dataset," PLoS ONE 19(1), 2024. https://www.ornl.gov/publication/comprehensive-guide-can-ids-data-and-introduction-road-dataset . Dataset: https://zenodo.org/records/10462796</a:t>
            </a:r>
            <a:endParaRPr/>
          </a:p>
          <a:p xmlns:a="http://schemas.openxmlformats.org/drawingml/2006/main">
            <a:r>
              <a:t/>
            </a:r>
            <a:endParaRPr/>
          </a:p>
          <a:p xmlns:a="http://schemas.openxmlformats.org/drawingml/2006/main">
            <a:r>
              <a:t>V2X dataset reference: VeReMi Extension, IEEE ICC 2020. https://github.com/VeReMi-dataset/VeReMi-dataset.github.io/blob/main/veremi-extension.md</a:t>
            </a:r>
            <a:endParaRPr/>
          </a:p>
          <a:p xmlns:a="http://schemas.openxmlformats.org/drawingml/2006/main">
            <a:r>
              <a:t/>
            </a:r>
            <a:endParaRPr/>
          </a:p>
          <a:p xmlns:a="http://schemas.openxmlformats.org/drawingml/2006/main">
            <a:r>
              <a:t>Additional close work: M. Golam, J.-M. Lee and D.-S. Kim, "Language Agent Model-Driven Distributed Consensus for Advanced IoV Threat Response Management," APCC 2025. https://www.ieice.org/publications/proceedings/bin/pdf_link.php?fname=W4-3-6.pdf&amp;iconf=APCC&amp;lang=E&amp;number=W4-3-6&amp;vol=97&amp;year=2025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(about 85 seconds). These papers establish the components we build on. CND-IDS motivates continual detection. Block4Forensic establishes prior vehicular evidence sharing. The ICTC language-agent paper is an especially important close comparison, and related APCC work already discusses CAN, V2X and GPS. Therefore neither a multi-layer detector nor adding an agent to logging is sufficient to establish novelty. Our contribution must be demonstrated through cause-labeled drift experiments, explicit below-quorum behavior, connectivity-aware evidence verification and an investigator separated from canonical verdict storage. DYNOTEARS is essential to our evaluation, but faster or more accurate performance is a hypothesis, not a known result for this task. C-ISFCR is the research centre listing the forensic hash paper; IEEE ICCES is its publication venue. We verified this listing but have not reproduced that paper. The research gap is provisional pending a deeper systematic comparison. No first-ever claim is made.</a:t>
            </a:r>
            <a:endParaRPr/>
          </a:p>
          <a:p xmlns:a="http://schemas.openxmlformats.org/drawingml/2006/main">
            <a:r>
              <a:t/>
            </a:r>
            <a:endParaRPr/>
          </a:p>
          <a:p xmlns:a="http://schemas.openxmlformats.org/drawingml/2006/main">
            <a:r>
              <a:t>References</a:t>
            </a:r>
            <a:endParaRPr/>
          </a:p>
          <a:p xmlns:a="http://schemas.openxmlformats.org/drawingml/2006/main">
            <a:r>
              <a:t>[1] S. Fuhrman, O. Gungor and T. Rosing, "CND-IDS: Continual Novelty Detection for Intrusion Detection Systems," 62nd ACM/IEEE Design Automation Conference (DAC), 2025. DOI: 10.1109/DAC63849.2025.11132541. https://ieeexplore.ieee.org/document/11132541/ . Open author version: https://arxiv.org/abs/2502.14094</a:t>
            </a:r>
            <a:endParaRPr/>
          </a:p>
          <a:p xmlns:a="http://schemas.openxmlformats.org/drawingml/2006/main">
            <a:r>
              <a:t/>
            </a:r>
            <a:endParaRPr/>
          </a:p>
          <a:p xmlns:a="http://schemas.openxmlformats.org/drawingml/2006/main">
            <a:r>
              <a:t>[2] M. Cebe, E. Erdin, K. Akkaya, H. Aksu and S. Uluagac, "Block4Forensic: An Integrated Lightweight Blockchain Framework for Forensics Applications of Connected Vehicles," IEEE Communications Magazine, 56(10), pp. 50–57, 2018. DOI: 10.1109/MCOM.2018.1800137. https://arxiv.org/abs/1802.00561</a:t>
            </a:r>
            <a:endParaRPr/>
          </a:p>
          <a:p xmlns:a="http://schemas.openxmlformats.org/drawingml/2006/main">
            <a:r>
              <a:t/>
            </a:r>
            <a:endParaRPr/>
          </a:p>
          <a:p xmlns:a="http://schemas.openxmlformats.org/drawingml/2006/main">
            <a:r>
              <a:t>[3] M. Golam, J.-M. Lee and D.-S. Kim, "Leveraging Blockchain-Empowered Lightweight Language Agent for Efficient Distributed DoS Detection in IoV Networks," ICTC 2025, pp. 286–291, IEEE proceedings. https://d2j16w31g89z0j.cloudfront.net/site/ictc2025/abs/E02-6.pdf</a:t>
            </a:r>
            <a:endParaRPr/>
          </a:p>
          <a:p xmlns:a="http://schemas.openxmlformats.org/drawingml/2006/main">
            <a:r>
              <a:t/>
            </a:r>
            <a:endParaRPr/>
          </a:p>
          <a:p xmlns:a="http://schemas.openxmlformats.org/drawingml/2006/main">
            <a:r>
              <a:t>[4] R. Pamfil et al., "DYNOTEARS: Structure Learning from Time-Series Data," AISTATS, PMLR 108, pp. 1595–1605, 2020. https://proceedings.mlr.press/v108/pamfil20a.html</a:t>
            </a:r>
            <a:endParaRPr/>
          </a:p>
          <a:p xmlns:a="http://schemas.openxmlformats.org/drawingml/2006/main">
            <a:r>
              <a:t/>
            </a:r>
            <a:endParaRPr/>
          </a:p>
          <a:p xmlns:a="http://schemas.openxmlformats.org/drawingml/2006/main">
            <a:r>
              <a:t>[5] P. K. C., R. Soman and P. Honnavalli, "Validity of Forensic Evidence using Hash Function," IEEE ICCES, pp. 823–826, 2020. DOI: 10.1109/ICCES48766.2020.9138061. https://ieeexplore.ieee.org/document/9138061 . Bibliographic inclusion verified through PES C-ISFCR: https://www.isfcr.pes.edu/research . Full methods were not accessible during preparation; this is a background reference, not a reproduced baseline.</a:t>
            </a:r>
            <a:endParaRPr/>
          </a:p>
          <a:p xmlns:a="http://schemas.openxmlformats.org/drawingml/2006/main">
            <a:r>
              <a:t/>
            </a:r>
            <a:endParaRPr/>
          </a:p>
          <a:p xmlns:a="http://schemas.openxmlformats.org/drawingml/2006/main">
            <a:r>
              <a:t>[6] A. Z. Md Jalal Uddin, A. Nayeem and T. Bhuiyan, "Robust Federated Learning for Anomaly Detection in Connected Autonomous Vehicle Networks Under Adversarial Attacks," Automation 7(3), 80, 2026. DOI: 10.3390/automation7030080. https://www.mdpi.com/2673-4052/7/3/80</a:t>
            </a:r>
            <a:endParaRPr/>
          </a:p>
          <a:p xmlns:a="http://schemas.openxmlformats.org/drawingml/2006/main">
            <a:r>
              <a:t/>
            </a:r>
            <a:endParaRPr/>
          </a:p>
          <a:p xmlns:a="http://schemas.openxmlformats.org/drawingml/2006/main">
            <a:r>
              <a:t>Additional close work: M. Golam, J.-M. Lee and D.-S. Kim, "Language Agent Model-Driven Distributed Consensus for Advanced IoV Threat Response Management," APCC 2025. https://www.ieice.org/publications/proceedings/bin/pdf_link.php?fname=W4-3-6.pdf&amp;iconf=APCC&amp;lang=E&amp;number=W4-3-6&amp;vol=97&amp;year=2025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Applications (about 75 seconds). Walk through a concrete example: a legitimate software update changes message timing, while an attacker slowly injects CAN frames. The desired system uses separate layer evidence and documented context to distinguish these cases where possible. If V2X remains normal, the CAN alert is still preserved. A second scenario tests falsified V2X information against local vehicle context. The final scenario deletes or changes local records around a connection outage. A missing receipt alone is not evidence of tampering. A verified independent commitment that conflicts with the presented local history can support an integrity alert. These are intended experimental outcomes and use cases, not observed results. Users are fleet SOC analysts and researchers. The dashboard supports acknowledgment, annotations, additional evidence queries and report export; it does not actuate the vehicle.</a:t>
            </a:r>
            <a:endParaRPr/>
          </a:p>
          <a:p xmlns:a="http://schemas.openxmlformats.org/drawingml/2006/main">
            <a:r>
              <a:t/>
            </a:r>
            <a:endParaRPr/>
          </a:p>
          <a:p xmlns:a="http://schemas.openxmlformats.org/drawingml/2006/main">
            <a:r>
              <a:t>References</a:t>
            </a:r>
            <a:endParaRPr/>
          </a:p>
          <a:p xmlns:a="http://schemas.openxmlformats.org/drawingml/2006/main">
            <a:r>
              <a:t>Dataset reference: K. Verma et al., "A comprehensive guide to CAN IDS data and introduction of the ROAD dataset," PLoS ONE 19(1), 2024. https://www.ornl.gov/publication/comprehensive-guide-can-ids-data-and-introduction-road-dataset . Dataset: https://zenodo.org/records/10462796</a:t>
            </a:r>
            <a:endParaRPr/>
          </a:p>
          <a:p xmlns:a="http://schemas.openxmlformats.org/drawingml/2006/main">
            <a:r>
              <a:t/>
            </a:r>
            <a:endParaRPr/>
          </a:p>
          <a:p xmlns:a="http://schemas.openxmlformats.org/drawingml/2006/main">
            <a:r>
              <a:t>V2X dataset reference: VeReMi Extension, IEEE ICC 2020. https://github.com/VeReMi-dataset/VeReMi-dataset.github.io/blob/main/veremi-extension.md</a:t>
            </a:r>
            <a:endParaRPr/>
          </a:p>
          <a:p xmlns:a="http://schemas.openxmlformats.org/drawingml/2006/main">
            <a:r>
              <a:t/>
            </a:r>
            <a:endParaRPr/>
          </a:p>
          <a:p xmlns:a="http://schemas.openxmlformats.org/drawingml/2006/main">
            <a:r>
              <a:t>[2] M. Cebe, E. Erdin, K. Akkaya, H. Aksu and S. Uluagac, "Block4Forensic: An Integrated Lightweight Blockchain Framework for Forensics Applications of Connected Vehicles," IEEE Communications Magazine, 56(10), pp. 50–57, 2018. DOI: 10.1109/MCOM.2018.1800137. https://arxiv.org/abs/1802.00561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(about 95 seconds). Local CAN and V2X detectors generate independent evidence. A versioned attribution policy preserves each detector assessment while using timing and DYNOTEARS-derived relationships as confidence modifiers. DYNOTEARS fitting initially runs on a Mac. Evaluate exported graph-based features or scores on the edge only after measuring their cost. The graph provides hypotheses under modeling assumptions; it does not prove causation. Vehicles share only event-matched signed verdicts, confidence and authentication metadata, not model weights. Honest observations from different events must never be combined into one vote. The initial experiment uses four registered clients and at most one Byzantine client. Require three matching signed labels for the same event and policy epoch before declaring fleet corroboration. The verifier rejects duplicate identities, stale votes and invalid signatures, and honest clients must not sign contradictory labels for an epoch. This threshold limits the influence of one arbitrary voter; it does not guarantee detection truth or establish a complete distributed consensus protocol. Honest observations may differ, so unresolved disagreement must remain visible. Below three matching votes it retains the local verdict and marks fleet support unavailable. Generalizing beyond this configuration requires a documented protocol and fault-model justification. The title refers to robustness under stated assumptions; neither a high vote count nor confidence weighting alone establishes Byzantine agreement. All local and fleet outcomes are recorded through GhostTrace. The agent reads evidence later and cannot rewrite this decision path.</a:t>
            </a:r>
            <a:endParaRPr/>
          </a:p>
          <a:p xmlns:a="http://schemas.openxmlformats.org/drawingml/2006/main">
            <a:r>
              <a:t/>
            </a:r>
            <a:endParaRPr/>
          </a:p>
          <a:p xmlns:a="http://schemas.openxmlformats.org/drawingml/2006/main">
            <a:r>
              <a:t>References</a:t>
            </a:r>
            <a:endParaRPr/>
          </a:p>
          <a:p xmlns:a="http://schemas.openxmlformats.org/drawingml/2006/main">
            <a:r>
              <a:t>[4] R. Pamfil et al., "DYNOTEARS: Structure Learning from Time-Series Data," AISTATS, PMLR 108, pp. 1595–1605, 2020. https://proceedings.mlr.press/v108/pamfil20a.html</a:t>
            </a:r>
            <a:endParaRPr/>
          </a:p>
          <a:p xmlns:a="http://schemas.openxmlformats.org/drawingml/2006/main">
            <a:r>
              <a:t/>
            </a:r>
            <a:endParaRPr/>
          </a:p>
          <a:p xmlns:a="http://schemas.openxmlformats.org/drawingml/2006/main">
            <a:r>
              <a:t>[6] A. Z. Md Jalal Uddin, A. Nayeem and T. Bhuiyan, "Robust Federated Learning for Anomaly Detection in Connected Autonomous Vehicle Networks Under Adversarial Attacks," Automation 7(3), 80, 2026. DOI: 10.3390/automation7030080. https://www.mdpi.com/2673-4052/7/3/80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Deliverables and evaluation (about 85 seconds). Phase I produces the study protocol, threat model, controlled scenario generator and basic per-layer detectors. Phase II integrates every essential module, including DYNOTEARS, fleet verdict corroboration, hash-chained logs, independent witnesses, model-memory tests and the bounded agent dashboard. Phase III evaluates and releases the reproducible prototype, two datasets and a manuscript for submission. Dataset 1 contains synchronized experimental CAN and V2X scenarios with cause labels and provenance. Dataset 2 contains deletion, alteration, rollback and replay scenarios with genuine connectivity gaps as negative controls. Controlled forgetting scenarios are separately labeled for model-memory analysis. Publishing a paper is the goal; acceptance is not guaranteed. Use chronological and scenario-disjoint splits, held-out attack families, multiple seeds and uncertainty intervals. Compare per-layer-only detection, timing correlation and DYNOTEARS; local-only and fleet-assisted verdicts; hashes alone and witnessed records; a fixed report template and the agent. Agent evaluation measures evidence citation validity, factual support, unsupported claims, investigation latency and resistance to malicious text in retrieved records. Measure Pi CPU, RAM, throughput and detection/logging delay.</a:t>
            </a:r>
            <a:endParaRPr/>
          </a:p>
          <a:p xmlns:a="http://schemas.openxmlformats.org/drawingml/2006/main">
            <a:r>
              <a:t/>
            </a:r>
            <a:endParaRPr/>
          </a:p>
          <a:p xmlns:a="http://schemas.openxmlformats.org/drawingml/2006/main">
            <a:r>
              <a:t>References</a:t>
            </a:r>
            <a:endParaRPr/>
          </a:p>
          <a:p xmlns:a="http://schemas.openxmlformats.org/drawingml/2006/main">
            <a:r>
              <a:t>[1] S. Fuhrman, O. Gungor and T. Rosing, "CND-IDS: Continual Novelty Detection for Intrusion Detection Systems," 62nd ACM/IEEE Design Automation Conference (DAC), 2025. DOI: 10.1109/DAC63849.2025.11132541. https://ieeexplore.ieee.org/document/11132541/ . Open author version: https://arxiv.org/abs/2502.14094</a:t>
            </a:r>
            <a:endParaRPr/>
          </a:p>
          <a:p xmlns:a="http://schemas.openxmlformats.org/drawingml/2006/main">
            <a:r>
              <a:t/>
            </a:r>
            <a:endParaRPr/>
          </a:p>
          <a:p xmlns:a="http://schemas.openxmlformats.org/drawingml/2006/main">
            <a:r>
              <a:t>[4] R. Pamfil et al., "DYNOTEARS: Structure Learning from Time-Series Data," AISTATS, PMLR 108, pp. 1595–1605, 2020. https://proceedings.mlr.press/v108/pamfil20a.html</a:t>
            </a:r>
            <a:endParaRPr/>
          </a:p>
          <a:p xmlns:a="http://schemas.openxmlformats.org/drawingml/2006/main">
            <a:r>
              <a:t/>
            </a:r>
            <a:endParaRPr/>
          </a:p>
          <a:p xmlns:a="http://schemas.openxmlformats.org/drawingml/2006/main">
            <a:r>
              <a:t>[7] M. Umer, G. Dawson and R. Polikar, "Targeted Forgetting and False Memory Formation in Continual Learners through Adversarial Backdoor Attacks," 2020. https://arxiv.org/abs/2002.07111 . Experiments concern MNIST-based continual-learning tasks, not automotive data.</a:t>
            </a:r>
            <a:endParaRPr/>
          </a:p>
          <a:p xmlns:a="http://schemas.openxmlformats.org/drawingml/2006/main">
            <a:r>
              <a:t/>
            </a:r>
            <a:endParaRPr/>
          </a:p>
          <a:p xmlns:a="http://schemas.openxmlformats.org/drawingml/2006/main">
            <a:r>
              <a:t>Dataset reference: K. Verma et al., "A comprehensive guide to CAN IDS data and introduction of the ROAD dataset," PLoS ONE 19(1), 2024. https://www.ornl.gov/publication/comprehensive-guide-can-ids-data-and-introduction-road-dataset . Dataset: https://zenodo.org/records/10462796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plan (about 60 seconds). This is a phase-based Gantt rather than an invented calendar. Phase I establishes the scope, threat assumptions, dataset protocol and baselines. Phase II performs integration, with the scenario pipeline supporting the detectors, GhostTrace and agent tools. Phase III concentrates on controlled evaluation, ablations, packaging datasets and code, and writing the manuscript. Iteration can cross phases, but implementation and release gates should remain explicit. Calendar dates and personal workload allocations are not asserted here. The review is a proposal review and none of these bars indicate completed implementation.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GhostTrace and Agentic AI (about 90 seconds). Explain the boundary first. Deterministic code verifies signatures, hash-chain links and independently retained commitments. Cryptographic consistency establishes consistency with a commitment, not that an original sensor claim or attack verdict was true. Hashes stored only on a fully compromised device can be rewritten, so independent witness receipts and trusted coordinator anchors are important. Receipt absence cannot prove benign connectivity loss or tampering. Outcomes distinguish consistency, a verifiable conflict and insufficient evidence. When the vehicle is isolated before external witnessing, the evidence gap remains visible. Model memory is tested against previously confirmed signatures, but deterioration alone does not establish malicious forgetting. The agent chooses bounded evidence queries through allowlisted read-only tools, reconciles available records, compares hypotheses and writes a report with record IDs and unknowns. Tool permissions and separate credentials prevent writes to canonical verdicts and evidence. Test these restrictions, including prompt injection in retrieved material. A human reviews, annotates and exports a separate report. Record the agent model/version, tool calls and report provenance separately from canonical verdicts. Formal isolation is an objective to verify, not a completed proof.</a:t>
            </a:r>
          </a:p>
          <a:p xmlns:a="http://schemas.openxmlformats.org/drawingml/2006/main">
            <a:r>
              <a:t/>
            </a:r>
          </a:p>
          <a:p xmlns:a="http://schemas.openxmlformats.org/drawingml/2006/main">
            <a:r>
              <a:t>References</a:t>
            </a:r>
          </a:p>
          <a:p xmlns:a="http://schemas.openxmlformats.org/drawingml/2006/main">
            <a:r>
              <a:t>[2] M. Cebe, E. Erdin, K. Akkaya, H. Aksu and S. Uluagac, "Block4Forensic: An Integrated Lightweight Blockchain Framework for Forensics Applications of Connected Vehicles," IEEE Communications Magazine, 56(10), pp. 50–57, 2018. DOI: 10.1109/MCOM.2018.1800137. https://arxiv.org/abs/1802.00561</a:t>
            </a:r>
          </a:p>
          <a:p xmlns:a="http://schemas.openxmlformats.org/drawingml/2006/main">
            <a:r>
              <a:t/>
            </a:r>
          </a:p>
          <a:p xmlns:a="http://schemas.openxmlformats.org/drawingml/2006/main">
            <a:r>
              <a:t>[5] P. K. C., R. Soman and P. Honnavalli, "Validity of Forensic Evidence using Hash Function," IEEE ICCES, pp. 823–826, 2020. DOI: 10.1109/ICCES48766.2020.9138061. https://ieeexplore.ieee.org/document/9138061 . Bibliographic inclusion verified through PES C-ISFCR: https://www.isfcr.pes.edu/research . Full methods were not accessible during preparation; this is a background reference, not a reproduced baseline.</a:t>
            </a:r>
          </a:p>
          <a:p xmlns:a="http://schemas.openxmlformats.org/drawingml/2006/main">
            <a:r>
              <a:t/>
            </a:r>
          </a:p>
          <a:p xmlns:a="http://schemas.openxmlformats.org/drawingml/2006/main">
            <a:r>
              <a:t>[7] M. Umer, G. Dawson and R. Polikar, "Targeted Forgetting and False Memory Formation in Continual Learners through Adversarial Backdoor Attacks," 2020. https://arxiv.org/abs/2002.07111 . Experiments concern MNIST-based continual-learning tasks, not automotive data.</a:t>
            </a:r>
          </a:p>
          <a:p xmlns:a="http://schemas.openxmlformats.org/drawingml/2006/main">
            <a:r>
              <a:t/>
            </a:r>
          </a:p>
          <a:p xmlns:a="http://schemas.openxmlformats.org/drawingml/2006/main">
            <a:r>
              <a:t>[3] M. Golam, J.-M. Lee and D.-S. Kim, "Leveraging Blockchain-Empowered Lightweight Language Agent for Efficient Distributed DoS Detection in IoV Networks," ICTC 2025, pp. 286–291, IEEE proceedings. https://d2j16w31g89z0j.cloudfront.net/site/ictc2025/abs/E02-6.pdf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(about 15 seconds). Invite questions about the threat assumptions, feasibility, novelty and evaluation.</a:t>
            </a:r>
          </a:p>
          <a:p xmlns:a="http://schemas.openxmlformats.org/drawingml/2006/main">
            <a:r>
              <a:t/>
            </a:r>
          </a:p>
          <a:p xmlns:a="http://schemas.openxmlformats.org/drawingml/2006/main">
            <a:r>
              <a:t>Defence notes</a:t>
            </a:r>
          </a:p>
          <a:p xmlns:a="http://schemas.openxmlformats.org/drawingml/2006/main">
            <a:r>
              <a:t>1. Why both layers? Each preserves independent attack evidence; the project tests whether cross-layer context improves cause attribution.</a:t>
            </a:r>
          </a:p>
          <a:p xmlns:a="http://schemas.openxmlformats.org/drawingml/2006/main">
            <a:r>
              <a:t>2. Why Agentic AI? The agent chooses evidence queries and compares hypotheses, with cited records and human review. It does not issue the detector verdict.</a:t>
            </a:r>
          </a:p>
          <a:p xmlns:a="http://schemas.openxmlformats.org/drawingml/2006/main">
            <a:r>
              <a:t>3. Why DYNOTEARS? It is a required comparison of temporal structure learning against a simpler timing baseline. Benefit and runtime are measured, not assumed.</a:t>
            </a:r>
          </a:p>
          <a:p xmlns:a="http://schemas.openxmlformats.org/drawingml/2006/main">
            <a:r>
              <a:t>4. Does a hash prove the record is true? No. Integrity is checked relative to external commitments under stated key and witness assumptions.</a:t>
            </a:r>
          </a:p>
          <a:p xmlns:a="http://schemas.openxmlformats.org/drawingml/2006/main">
            <a:r>
              <a:t>5. Can isolation be completely solved? No. Missing independent witnesses may leave an unresolved evidence gap.</a:t>
            </a:r>
          </a:p>
          <a:p xmlns:a="http://schemas.openxmlformats.org/drawingml/2006/main">
            <a:r>
              <a:t>6. Does a quorum guarantee correctness? No. It depends on event alignment, authenticated membership, fault assumptions and honest detection quality.</a:t>
            </a:r>
          </a:p>
          <a:p xmlns:a="http://schemas.openxmlformats.org/drawingml/2006/main">
            <a:r>
              <a:t>7. What is completed? Proposal definition and initial literature review; prototype and experiments remain planned.</a:t>
            </a:r>
          </a:p>
          <a:p xmlns:a="http://schemas.openxmlformats.org/drawingml/2006/main">
            <a:r>
              <a:t>8. What is novel? The proposed combined treatment of cause-labeled drift, fleet uncertainty, witnessed IDS evidence and isolated agent investigation. This must be demonstrated by evaluation and a detailed prior-work comparison.</a:t>
            </a:r>
          </a:p>
          <a:p xmlns:a="http://schemas.openxmlformats.org/drawingml/2006/main">
            <a:r>
              <a:t/>
            </a:r>
          </a:p>
          <a:p xmlns:a="http://schemas.openxmlformats.org/drawingml/2006/main">
            <a:r>
              <a:t>Full reference list</a:t>
            </a:r>
          </a:p>
          <a:p xmlns:a="http://schemas.openxmlformats.org/drawingml/2006/main">
            <a:r>
              <a:t/>
            </a:r>
          </a:p>
          <a:p xmlns:a="http://schemas.openxmlformats.org/drawingml/2006/main">
            <a:r>
              <a:t>References</a:t>
            </a:r>
          </a:p>
          <a:p xmlns:a="http://schemas.openxmlformats.org/drawingml/2006/main">
            <a:r>
              <a:t>[1] S. Fuhrman, O. Gungor and T. Rosing, "CND-IDS: Continual Novelty Detection for Intrusion Detection Systems," 62nd ACM/IEEE Design Automation Conference (DAC), 2025. DOI: 10.1109/DAC63849.2025.11132541. https://ieeexplore.ieee.org/document/11132541/ . Open author version: https://arxiv.org/abs/2502.14094</a:t>
            </a:r>
          </a:p>
          <a:p xmlns:a="http://schemas.openxmlformats.org/drawingml/2006/main">
            <a:r>
              <a:t/>
            </a:r>
          </a:p>
          <a:p xmlns:a="http://schemas.openxmlformats.org/drawingml/2006/main">
            <a:r>
              <a:t>[2] M. Cebe, E. Erdin, K. Akkaya, H. Aksu and S. Uluagac, "Block4Forensic: An Integrated Lightweight Blockchain Framework for Forensics Applications of Connected Vehicles," IEEE Communications Magazine, 56(10), pp. 50–57, 2018. DOI: 10.1109/MCOM.2018.1800137. https://arxiv.org/abs/1802.00561</a:t>
            </a:r>
          </a:p>
          <a:p xmlns:a="http://schemas.openxmlformats.org/drawingml/2006/main">
            <a:r>
              <a:t/>
            </a:r>
          </a:p>
          <a:p xmlns:a="http://schemas.openxmlformats.org/drawingml/2006/main">
            <a:r>
              <a:t>[3] M. Golam, J.-M. Lee and D.-S. Kim, "Leveraging Blockchain-Empowered Lightweight Language Agent for Efficient Distributed DoS Detection in IoV Networks," ICTC 2025, pp. 286–291, IEEE proceedings. https://d2j16w31g89z0j.cloudfront.net/site/ictc2025/abs/E02-6.pdf</a:t>
            </a:r>
          </a:p>
          <a:p xmlns:a="http://schemas.openxmlformats.org/drawingml/2006/main">
            <a:r>
              <a:t/>
            </a:r>
          </a:p>
          <a:p xmlns:a="http://schemas.openxmlformats.org/drawingml/2006/main">
            <a:r>
              <a:t>[4] R. Pamfil et al., "DYNOTEARS: Structure Learning from Time-Series Data," AISTATS, PMLR 108, pp. 1595–1605, 2020. https://proceedings.mlr.press/v108/pamfil20a.html</a:t>
            </a:r>
          </a:p>
          <a:p xmlns:a="http://schemas.openxmlformats.org/drawingml/2006/main">
            <a:r>
              <a:t/>
            </a:r>
          </a:p>
          <a:p xmlns:a="http://schemas.openxmlformats.org/drawingml/2006/main">
            <a:r>
              <a:t>[5] P. K. C., R. Soman and P. Honnavalli, "Validity of Forensic Evidence using Hash Function," IEEE ICCES, pp. 823–826, 2020. DOI: 10.1109/ICCES48766.2020.9138061. https://ieeexplore.ieee.org/document/9138061 . Bibliographic inclusion verified through PES C-ISFCR: https://www.isfcr.pes.edu/research . Full methods were not accessible during preparation; this is a background reference, not a reproduced baseline.</a:t>
            </a:r>
          </a:p>
          <a:p xmlns:a="http://schemas.openxmlformats.org/drawingml/2006/main">
            <a:r>
              <a:t/>
            </a:r>
          </a:p>
          <a:p xmlns:a="http://schemas.openxmlformats.org/drawingml/2006/main">
            <a:r>
              <a:t>[6] A. Z. Md Jalal Uddin, A. Nayeem and T. Bhuiyan, "Robust Federated Learning for Anomaly Detection in Connected Autonomous Vehicle Networks Under Adversarial Attacks," Automation 7(3), 80, 2026. DOI: 10.3390/automation7030080. https://www.mdpi.com/2673-4052/7/3/80</a:t>
            </a:r>
          </a:p>
          <a:p xmlns:a="http://schemas.openxmlformats.org/drawingml/2006/main">
            <a:r>
              <a:t/>
            </a:r>
          </a:p>
          <a:p xmlns:a="http://schemas.openxmlformats.org/drawingml/2006/main">
            <a:r>
              <a:t>[7] M. Umer, G. Dawson and R. Polikar, "Targeted Forgetting and False Memory Formation in Continual Learners through Adversarial Backdoor Attacks," 2020. https://arxiv.org/abs/2002.07111 . Experiments concern MNIST-based continual-learning tasks, not automotive data.</a:t>
            </a:r>
          </a:p>
          <a:p xmlns:a="http://schemas.openxmlformats.org/drawingml/2006/main">
            <a:r>
              <a:t/>
            </a:r>
          </a:p>
          <a:p xmlns:a="http://schemas.openxmlformats.org/drawingml/2006/main">
            <a:r>
              <a:t>Additional close work: M. Golam, J.-M. Lee and D.-S. Kim, "Language Agent Model-Driven Distributed Consensus for Advanced IoV Threat Response Management," APCC 2025. https://www.ieice.org/publications/proceedings/bin/pdf_link.php?fname=W4-3-6.pdf&amp;iconf=APCC&amp;lang=E&amp;number=W4-3-6&amp;vol=97&amp;year=2025</a:t>
            </a:r>
          </a:p>
          <a:p xmlns:a="http://schemas.openxmlformats.org/drawingml/2006/main">
            <a:r>
              <a:t/>
            </a:r>
          </a:p>
          <a:p xmlns:a="http://schemas.openxmlformats.org/drawingml/2006/main">
            <a:r>
              <a:t>Dataset reference: K. Verma et al., "A comprehensive guide to CAN IDS data and introduction of the ROAD dataset," PLoS ONE 19(1), 2024. https://www.ornl.gov/publication/comprehensive-guide-can-ids-data-and-introduction-road-dataset . Dataset: https://zenodo.org/records/10462796</a:t>
            </a:r>
          </a:p>
          <a:p xmlns:a="http://schemas.openxmlformats.org/drawingml/2006/main">
            <a:r>
              <a:t/>
            </a:r>
          </a:p>
          <a:p xmlns:a="http://schemas.openxmlformats.org/drawingml/2006/main">
            <a:r>
              <a:t>V2X dataset reference: VeReMi Extension, IEEE ICC 2020. https://github.com/VeReMi-dataset/VeReMi-dataset.github.io/blob/main/veremi-extension.md</a:t>
            </a:r>
          </a:p>
          <a:p xmlns:a="http://schemas.openxmlformats.org/drawingml/2006/main">
            <a:r>
              <a:t/>
            </a:r>
          </a:p>
          <a:p xmlns:a="http://schemas.openxmlformats.org/drawingml/2006/main">
            <a:r>
              <a:t>NVIDIA prototyping API access is subject to model-specific rate limits and load; free availability is not a service-level guarantee. https://forums.developer.nvidia.com/t/nvidia-nim-faq/300317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b6430a528547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6ce986b99f4a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cba77747074d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38a000be9d45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058ff6948646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3f0634b6c44b4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62b6425a09b4a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22147f81ad743d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444f48e7641403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2713C8-F183-1D43-AE77-BF9BD4D2AE33}"/>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E7AF752-0EC0-CF4D-965A-5129A913599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3E32540-0688-DC4A-809A-52FB3313D3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0F2CA43E-0611-D047-BC7B-31F920B659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B6E4123-5713-BC41-BBD0-42ADF35D96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1DED43-C903-1F44-A779-40DF9AEFDE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E9975D8-34AD-544B-B0E2-83FA77D2FA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9D24DD5-B8E0-534E-B68A-EF415575E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45096688-5BB1-5E48-BD14-BBC9FA67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DC407C-3003-DB44-98B5-0DEC6272B1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C5630D-09E2-0742-AED8-D3F732546CD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15B2CD3-A564-8044-A4EC-7EBA26298781}"/>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A64EE-79C1-8B46-BA9C-199117C7B4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A851AAB2-DA47-AE48-A088-6FC7C16945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348FF9C-19C9-FA46-8C21-7420249942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7CBAF5-C913-024F-8BE6-64C58F9702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95E6DB7-D3D7-1443-A583-8730715E253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53CEB82F-3E99-7441-9B06-6D7C2156AB8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426D282-1572-D344-87D1-785DA85760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3723D760-065F-6442-AF7E-1A7AAFFCA9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6BF4C15-EC3A-7E41-A2B3-D2AB7D70E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72CC90-B8AE-8A46-A8A5-F7E8DA615EEE}"/>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8E152C5-AA77-4B47-965C-21A00C1EECE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C466F8D-3502-5242-9160-E1CDE38E0ABE}"/>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9754302-8F9A-5648-9C5E-6D037F1C754C}"/>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A9FC9CD-8823-F145-9952-EFBA9ACD2E8C}"/>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D65EF4D9-655F-4842-A6B8-D44A050122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8" name="Footer Placeholder 7">
            <a:extLst xmlns:a="http://schemas.openxmlformats.org/drawingml/2006/main">
              <a:ext uri="{FF2B5EF4-FFF2-40B4-BE49-F238E27FC236}">
                <a16:creationId xmlns:a16="http://schemas.microsoft.com/office/drawing/2014/main" id="{08E68A74-725F-8F40-8F80-E96287703E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9D868FA-8565-A740-9B9C-B3CD6AB335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DFCE3-1C1E-7448-AF7E-5E46BB1408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B19D5C9-50F6-8546-8D8C-AFACC1BC1B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4" name="Footer Placeholder 3">
            <a:extLst xmlns:a="http://schemas.openxmlformats.org/drawingml/2006/main">
              <a:ext uri="{FF2B5EF4-FFF2-40B4-BE49-F238E27FC236}">
                <a16:creationId xmlns:a16="http://schemas.microsoft.com/office/drawing/2014/main" id="{1DEA0D0C-FCAF-4F4C-AAF5-C9B78C03C4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568836A-EEA3-7347-A63C-8E66DF7B34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E7A43C1-2303-5A41-B234-90D15E2A4B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3" name="Footer Placeholder 2">
            <a:extLst xmlns:a="http://schemas.openxmlformats.org/drawingml/2006/main">
              <a:ext uri="{FF2B5EF4-FFF2-40B4-BE49-F238E27FC236}">
                <a16:creationId xmlns:a16="http://schemas.microsoft.com/office/drawing/2014/main" id="{9EA77971-B281-6149-9884-0E9C45F816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1D0F6F3-1061-E842-B540-6BD0D6CB8D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B970D-13D5-B346-968D-400B0BCCF66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019FFE0-37CD-7644-A007-76E5304F121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0210BE7-EA92-B44F-9EEC-94E6F6955C4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3B6D810-D2A1-B549-A5BC-25CCA5CDCD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6AD872D2-2005-3043-A02D-3E2DB9334E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9F9F01D-1164-4249-AD67-1D51D33C01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2D3B30-2A71-A043-9BD7-3B8C66BF74A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32B08A9-6B45-4340-8859-996D9B949092}"/>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26B1F4B2-96C1-614B-9110-8D1AEE080D3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07DF3EB-6252-5845-AE7D-FB94ECF9F1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1A7037-0853-0447-B5BA-F1548123F733}"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D2D65DB7-EFE7-7446-8DEC-69F1FB47AE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2A0E09F-0F32-5644-881A-A61CD82461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61da5a214034cf1" /><Relationship Type="http://schemas.openxmlformats.org/officeDocument/2006/relationships/theme" Target="/ppt/slideMasters/theme/theme2.xml" Id="Rf89f8e1834f64c1e" /><Relationship Type="http://schemas.openxmlformats.org/officeDocument/2006/relationships/slideLayout" Target="/ppt/slideLayouts/slideLayout1.xml" Id="Ra2b6eb7f5d82489d" /><Relationship Type="http://schemas.openxmlformats.org/officeDocument/2006/relationships/slideLayout" Target="/ppt/slideLayouts/slideLayout2.xml" Id="R4dbae9f199664f7d" /><Relationship Type="http://schemas.openxmlformats.org/officeDocument/2006/relationships/slideLayout" Target="/ppt/slideLayouts/slideLayout3.xml" Id="Rf8826326cc3a43b9" /><Relationship Type="http://schemas.openxmlformats.org/officeDocument/2006/relationships/slideLayout" Target="/ppt/slideLayouts/slideLayout4.xml" Id="R645fa4fe581c4826" /><Relationship Type="http://schemas.openxmlformats.org/officeDocument/2006/relationships/slideLayout" Target="/ppt/slideLayouts/slideLayout5.xml" Id="Rdf9478c3092a4975" /><Relationship Type="http://schemas.openxmlformats.org/officeDocument/2006/relationships/slideLayout" Target="/ppt/slideLayouts/slideLayout6.xml" Id="Rfca3f19c75624fe4" /><Relationship Type="http://schemas.openxmlformats.org/officeDocument/2006/relationships/slideLayout" Target="/ppt/slideLayouts/slideLayout7.xml" Id="R34f15d26b8d94f94" /><Relationship Type="http://schemas.openxmlformats.org/officeDocument/2006/relationships/slideLayout" Target="/ppt/slideLayouts/slideLayout8.xml" Id="Re049aa23c7204ba7" /><Relationship Type="http://schemas.openxmlformats.org/officeDocument/2006/relationships/slideLayout" Target="/ppt/slideLayouts/slideLayout9.xml" Id="R9a3dd5a196594f1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26E61B7-8DCD-1544-BC5D-B4592F60C646}"/>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BAB61D9-7FB3-1343-9555-936FC6036D9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DC2A79E-2DF5-4E41-BDCF-90E9D26B7E0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D1A7037-0853-0447-B5BA-F1548123F733}"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556D5DC5-E1CB-B84F-BCAB-EB319B37181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712A2C-5C91-4B43-A114-209348A10C9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102F0E29-F314-934F-92DB-8EEB8DA68833}" type="slidenum">
              <a:t>‹#›</a:t>
            </a:fld>
            <a:endParaRPr/>
          </a:p>
        </p:txBody>
      </p:sp>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e61da5a214034cf1"/>
          <a:srcRect xmlns:a="http://schemas.openxmlformats.org/drawingml/2006/main" l="0" t="0" r="0" b="0"/>
          <a:stretch xmlns:a="http://schemas.openxmlformats.org/drawingml/2006/main">
            <a:fillRect l="0" t="0" r="0" b="0"/>
          </a:stretch>
        </p:blipFill>
        <p:spPr>
          <a:xfrm xmlns:a="http://schemas.openxmlformats.org/drawingml/2006/main">
            <a:off x="10167336" y="365125"/>
            <a:ext cx="1162050" cy="5334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b6eb7f5d82489d"/>
    <p:sldLayoutId xmlns:r="http://schemas.openxmlformats.org/officeDocument/2006/relationships" id="2147483650" r:id="R4dbae9f199664f7d"/>
    <p:sldLayoutId xmlns:r="http://schemas.openxmlformats.org/officeDocument/2006/relationships" id="2147483651" r:id="Rf8826326cc3a43b9"/>
    <p:sldLayoutId xmlns:r="http://schemas.openxmlformats.org/officeDocument/2006/relationships" id="2147483652" r:id="R645fa4fe581c4826"/>
    <p:sldLayoutId xmlns:r="http://schemas.openxmlformats.org/officeDocument/2006/relationships" id="2147483653" r:id="Rdf9478c3092a4975"/>
    <p:sldLayoutId xmlns:r="http://schemas.openxmlformats.org/officeDocument/2006/relationships" id="2147483654" r:id="Rfca3f19c75624fe4"/>
    <p:sldLayoutId xmlns:r="http://schemas.openxmlformats.org/officeDocument/2006/relationships" id="2147483655" r:id="R34f15d26b8d94f94"/>
    <p:sldLayoutId xmlns:r="http://schemas.openxmlformats.org/officeDocument/2006/relationships" id="2147483656" r:id="Re049aa23c7204ba7"/>
    <p:sldLayoutId xmlns:r="http://schemas.openxmlformats.org/officeDocument/2006/relationships" id="2147483657" r:id="R9a3dd5a196594f1a"/>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b9f5dff068ce44c3" /><Relationship Type="http://schemas.openxmlformats.org/officeDocument/2006/relationships/notesSlide" Target="/ppt/notesSlides/notesSlide1.xml" Id="Rb7e5567de9ba49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3f1bea3fce14600" /><Relationship Type="http://schemas.openxmlformats.org/officeDocument/2006/relationships/notesSlide" Target="/ppt/notesSlides/notesSlide2.xml" Id="Re6cb75d576e541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1aa36d2eb70403b" /><Relationship Type="http://schemas.openxmlformats.org/officeDocument/2006/relationships/notesSlide" Target="/ppt/notesSlides/notesSlide3.xml" Id="Rb1f3cdc32da641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1d59beff1e148ef" /><Relationship Type="http://schemas.openxmlformats.org/officeDocument/2006/relationships/notesSlide" Target="/ppt/notesSlides/notesSlide4.xml" Id="R14aef97e037a47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e768841aee34425" /><Relationship Type="http://schemas.openxmlformats.org/officeDocument/2006/relationships/image" Target="/ppt/media/image2.png" Id="R832ff9e28e6445b7" /><Relationship Type="http://schemas.openxmlformats.org/officeDocument/2006/relationships/notesSlide" Target="/ppt/notesSlides/notesSlide5.xml" Id="Rd8f9428b55b94e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e7d030115aa406a" /><Relationship Type="http://schemas.openxmlformats.org/officeDocument/2006/relationships/notesSlide" Target="/ppt/notesSlides/notesSlide6.xml" Id="Rce8ec64e806243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31db43d2102a4ead" /><Relationship Type="http://schemas.openxmlformats.org/officeDocument/2006/relationships/notesSlide" Target="/ppt/notesSlides/notesSlide7.xml" Id="R1f0ff347330f46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e6daa13ff874022" /><Relationship Type="http://schemas.openxmlformats.org/officeDocument/2006/relationships/notesSlide" Target="/ppt/notesSlides/notesSlide8.xml" Id="Rdda4c666e20d41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7fe8c4b7b7a4e85" /><Relationship Type="http://schemas.openxmlformats.org/officeDocument/2006/relationships/notesSlide" Target="/ppt/notesSlides/notesSlide9.xml" Id="R2d5f16a3eb0b4a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57cdf38cd8f486c" /><Relationship Type="http://schemas.openxmlformats.org/officeDocument/2006/relationships/notesSlide" Target="/ppt/notesSlides/notesSlide10.xml" Id="Ra38126192cc040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b9ecd5787f1410c" /><Relationship Type="http://schemas.openxmlformats.org/officeDocument/2006/relationships/notesSlide" Target="/ppt/notesSlides/notesSlide11.xml" Id="R6ec9e2c2a24d44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b65390b7d454baf" /><Relationship Type="http://schemas.openxmlformats.org/officeDocument/2006/relationships/notesSlide" Target="/ppt/notesSlides/notesSlide12.xml" Id="R50cb9415b03244a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479910D-E9BE-4F87-9946-8F146CFDB175}"/>
              </a:ext>
            </a:extLst>
          </p:cNvPr>
          <p:cNvSpPr>
            <a:spLocks xmlns:a="http://schemas.openxmlformats.org/drawingml/2006/main" noGrp="1"/>
          </p:cNvSpPr>
          <p:nvPr/>
        </p:nvSpPr>
        <p:spPr>
          <a:xfrm xmlns:a="http://schemas.openxmlformats.org/drawingml/2006/main">
            <a:off x="1143000" y="1162050"/>
            <a:ext cx="9906000" cy="51816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marL="342891" indent="-342891" algn="l">
              <a:buNone/>
              <a:defRPr sz="2400" b="1">
                <a:solidFill>
                  <a:srgbClr val="FF0000"/>
                </a:solidFill>
                <a:latin typeface="Trebuchet MS"/>
                <a:ea typeface="Trebuchet MS"/>
                <a:cs typeface="Trebuchet MS"/>
              </a:defRPr>
            </a:pPr>
            <a:r>
              <a:rPr sz="2400" b="1">
                <a:solidFill>
                  <a:srgbClr val="FF0000"/>
                </a:solidFill>
                <a:latin typeface="Trebuchet MS"/>
                <a:ea typeface="Trebuchet MS"/>
                <a:cs typeface="Trebuchet MS"/>
              </a:rPr>
              <a:t>UE24CS320A - Capstone Project Approval</a:t>
            </a:r>
            <a:endParaRPr sz="2800" b="1">
              <a:solidFill>
                <a:srgbClr val="FF0000"/>
              </a:solidFill>
              <a:latin typeface="Trebuchet MS"/>
              <a:ea typeface="Trebuchet MS"/>
              <a:cs typeface="Trebuchet MS"/>
            </a:endParaRPr>
          </a:p>
        </p:txBody>
      </p:sp>
      <p:sp>
        <p:nvSpPr>
          <p:cNvPr id="3" name="text-1">
            <a:extLst xmlns:a="http://schemas.openxmlformats.org/drawingml/2006/main">
              <a:ext uri="{FF2B5EF4-FFF2-40B4-BE49-F238E27FC236}">
                <a16:creationId xmlns:a16="http://schemas.microsoft.com/office/drawing/2014/main" id="{FC29A4EE-87BB-4856-B7DD-6DF14DA901E2}"/>
              </a:ext>
            </a:extLst>
          </p:cNvPr>
          <p:cNvSpPr>
            <a:spLocks xmlns:a="http://schemas.openxmlformats.org/drawingml/2006/main" noGrp="1"/>
          </p:cNvSpPr>
          <p:nvPr/>
        </p:nvSpPr>
        <p:spPr>
          <a:xfrm xmlns:a="http://schemas.openxmlformats.org/drawingml/2006/main">
            <a:off x="1143000" y="18097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033CC"/>
                </a:solidFill>
                <a:latin typeface="Trebuchet MS"/>
                <a:ea typeface="Trebuchet MS"/>
                <a:cs typeface="Trebuchet MS"/>
              </a:defRPr>
            </a:pPr>
            <a:r>
              <a:rPr sz="3750" b="1">
                <a:solidFill>
                  <a:srgbClr val="0033CC"/>
                </a:solidFill>
                <a:latin typeface="Trebuchet MS"/>
                <a:ea typeface="Trebuchet MS"/>
                <a:cs typeface="Trebuchet MS"/>
              </a:rPr>
              <a:t>VerdictTrace-</a:t>
            </a:r>
          </a:p>
        </p:txBody>
      </p:sp>
      <p:sp>
        <p:nvSpPr>
          <p:cNvPr id="4" name="text-2">
            <a:extLst xmlns:a="http://schemas.openxmlformats.org/drawingml/2006/main">
              <a:ext uri="{FF2B5EF4-FFF2-40B4-BE49-F238E27FC236}">
                <a16:creationId xmlns:a16="http://schemas.microsoft.com/office/drawing/2014/main" id="{D198A397-6668-4331-A5D3-56CA991460DD}"/>
              </a:ext>
            </a:extLst>
          </p:cNvPr>
          <p:cNvSpPr>
            <a:spLocks xmlns:a="http://schemas.openxmlformats.org/drawingml/2006/main" noGrp="1"/>
          </p:cNvSpPr>
          <p:nvPr/>
        </p:nvSpPr>
        <p:spPr>
          <a:xfrm xmlns:a="http://schemas.openxmlformats.org/drawingml/2006/main">
            <a:off x="1143000" y="2457450"/>
            <a:ext cx="100012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33CC"/>
                </a:solidFill>
                <a:latin typeface="Trebuchet MS"/>
                <a:ea typeface="Trebuchet MS"/>
                <a:cs typeface="Trebuchet MS"/>
              </a:defRPr>
            </a:pPr>
            <a:r>
              <a:rPr sz="2700" b="0">
                <a:solidFill>
                  <a:srgbClr val="0033CC"/>
                </a:solidFill>
                <a:latin typeface="Trebuchet MS"/>
                <a:ea typeface="Trebuchet MS"/>
                <a:cs typeface="Trebuchet MS"/>
              </a:rPr>
              <a:t>Tamper-Evident, Byzantine-Robust</a:t>
            </a:r>
          </a:p>
          <a:p xmlns:a="http://schemas.openxmlformats.org/drawingml/2006/main">
            <a:pPr algn="l">
              <a:defRPr sz="2700" b="0">
                <a:solidFill>
                  <a:srgbClr val="0033CC"/>
                </a:solidFill>
                <a:latin typeface="Trebuchet MS"/>
                <a:ea typeface="Trebuchet MS"/>
                <a:cs typeface="Trebuchet MS"/>
              </a:defRPr>
            </a:pPr>
            <a:r>
              <a:rPr sz="2700" b="0">
                <a:solidFill>
                  <a:srgbClr val="0033CC"/>
                </a:solidFill>
                <a:latin typeface="Trebuchet MS"/>
                <a:ea typeface="Trebuchet MS"/>
                <a:cs typeface="Trebuchet MS"/>
              </a:rPr>
              <a:t>Cross-Layer Drift Attribution for</a:t>
            </a:r>
          </a:p>
          <a:p xmlns:a="http://schemas.openxmlformats.org/drawingml/2006/main">
            <a:pPr algn="l">
              <a:defRPr sz="2700" b="0">
                <a:solidFill>
                  <a:srgbClr val="0033CC"/>
                </a:solidFill>
                <a:latin typeface="Trebuchet MS"/>
                <a:ea typeface="Trebuchet MS"/>
                <a:cs typeface="Trebuchet MS"/>
              </a:defRPr>
            </a:pPr>
            <a:r>
              <a:rPr sz="2700" b="0">
                <a:solidFill>
                  <a:srgbClr val="0033CC"/>
                </a:solidFill>
                <a:latin typeface="Trebuchet MS"/>
                <a:ea typeface="Trebuchet MS"/>
                <a:cs typeface="Trebuchet MS"/>
              </a:rPr>
              <a:t>Connected Vehicle Fleets</a:t>
            </a:r>
          </a:p>
        </p:txBody>
      </p:sp>
      <p:sp>
        <p:nvSpPr>
          <p:cNvPr id="5" name="text-3">
            <a:extLst xmlns:a="http://schemas.openxmlformats.org/drawingml/2006/main">
              <a:ext uri="{FF2B5EF4-FFF2-40B4-BE49-F238E27FC236}">
                <a16:creationId xmlns:a16="http://schemas.microsoft.com/office/drawing/2014/main" id="{4155784D-5FA1-42E1-A8B1-6CCB9F58470B}"/>
              </a:ext>
            </a:extLst>
          </p:cNvPr>
          <p:cNvSpPr>
            <a:spLocks xmlns:a="http://schemas.openxmlformats.org/drawingml/2006/main" noGrp="1"/>
          </p:cNvSpPr>
          <p:nvPr/>
        </p:nvSpPr>
        <p:spPr>
          <a:xfrm xmlns:a="http://schemas.openxmlformats.org/drawingml/2006/main">
            <a:off x="1143000" y="3952875"/>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0345A"/>
                </a:solidFill>
                <a:latin typeface="Trebuchet MS"/>
                <a:ea typeface="Trebuchet MS"/>
                <a:cs typeface="Trebuchet MS"/>
              </a:defRPr>
            </a:pPr>
            <a:r>
              <a:rPr sz="2025" b="0">
                <a:solidFill>
                  <a:srgbClr val="20345A"/>
                </a:solidFill>
                <a:latin typeface="Trebuchet MS"/>
                <a:ea typeface="Trebuchet MS"/>
                <a:cs typeface="Trebuchet MS"/>
              </a:rPr>
              <a:t>Project Guide: Prof. Saravanaraj S</a:t>
            </a:r>
          </a:p>
        </p:txBody>
      </p:sp>
      <p:sp>
        <p:nvSpPr>
          <p:cNvPr id="6" name="text-4">
            <a:extLst xmlns:a="http://schemas.openxmlformats.org/drawingml/2006/main">
              <a:ext uri="{FF2B5EF4-FFF2-40B4-BE49-F238E27FC236}">
                <a16:creationId xmlns:a16="http://schemas.microsoft.com/office/drawing/2014/main" id="{9FCA9888-E275-4168-9223-0BCF4878ADA2}"/>
              </a:ext>
            </a:extLst>
          </p:cNvPr>
          <p:cNvSpPr>
            <a:spLocks xmlns:a="http://schemas.openxmlformats.org/drawingml/2006/main" noGrp="1"/>
          </p:cNvSpPr>
          <p:nvPr/>
        </p:nvSpPr>
        <p:spPr>
          <a:xfrm xmlns:a="http://schemas.openxmlformats.org/drawingml/2006/main">
            <a:off x="9334500" y="39814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33CC"/>
                </a:solidFill>
                <a:latin typeface="Trebuchet MS"/>
                <a:ea typeface="Trebuchet MS"/>
                <a:cs typeface="Trebuchet MS"/>
              </a:defRPr>
            </a:pPr>
            <a:r>
              <a:rPr sz="1875" b="1">
                <a:solidFill>
                  <a:srgbClr val="0033CC"/>
                </a:solidFill>
                <a:latin typeface="Trebuchet MS"/>
                <a:ea typeface="Trebuchet MS"/>
                <a:cs typeface="Trebuchet MS"/>
              </a:rPr>
              <a:t>Batch 51</a:t>
            </a:r>
          </a:p>
        </p:txBody>
      </p:sp>
      <p:sp>
        <p:nvSpPr>
          <p:cNvPr id="7" name="line-5">
            <a:extLst xmlns:a="http://schemas.openxmlformats.org/drawingml/2006/main">
              <a:ext uri="{FF2B5EF4-FFF2-40B4-BE49-F238E27FC236}">
                <a16:creationId xmlns:a16="http://schemas.microsoft.com/office/drawing/2014/main" id="{8AE05C54-B921-4739-A3CC-C955B9664793}"/>
              </a:ext>
            </a:extLst>
          </p:cNvPr>
          <p:cNvSpPr>
            <a:spLocks xmlns:a="http://schemas.openxmlformats.org/drawingml/2006/main" noGrp="1"/>
          </p:cNvSpPr>
          <p:nvPr/>
        </p:nvSpPr>
        <p:spPr>
          <a:xfrm xmlns:a="http://schemas.openxmlformats.org/drawingml/2006/main">
            <a:off x="1143000" y="4419600"/>
            <a:ext cx="9620250" cy="0"/>
          </a:xfrm>
          <a:prstGeom xmlns:a="http://schemas.openxmlformats.org/drawingml/2006/main" prst="line">
            <a:avLst/>
          </a:prstGeom>
          <a:noFill xmlns:a="http://schemas.openxmlformats.org/drawingml/2006/main"/>
          <a:ln xmlns:a="http://schemas.openxmlformats.org/drawingml/2006/main" w="19050">
            <a:solidFill>
              <a:srgbClr val="33CCCC"/>
            </a:solidFill>
            <a:prstDash val="solid"/>
          </a:ln>
        </p:spPr>
      </p:sp>
      <p:sp>
        <p:nvSpPr>
          <p:cNvPr id="8" name="text-6">
            <a:extLst xmlns:a="http://schemas.openxmlformats.org/drawingml/2006/main">
              <a:ext uri="{FF2B5EF4-FFF2-40B4-BE49-F238E27FC236}">
                <a16:creationId xmlns:a16="http://schemas.microsoft.com/office/drawing/2014/main" id="{2CCF542E-D178-40B3-8861-C2DCFD9B9487}"/>
              </a:ext>
            </a:extLst>
          </p:cNvPr>
          <p:cNvSpPr>
            <a:spLocks xmlns:a="http://schemas.openxmlformats.org/drawingml/2006/main" noGrp="1"/>
          </p:cNvSpPr>
          <p:nvPr/>
        </p:nvSpPr>
        <p:spPr>
          <a:xfrm xmlns:a="http://schemas.openxmlformats.org/drawingml/2006/main">
            <a:off x="1143000" y="46196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Dhanush Sai Suprapadha</a:t>
            </a:r>
          </a:p>
        </p:txBody>
      </p:sp>
      <p:sp>
        <p:nvSpPr>
          <p:cNvPr id="9" name="text-7">
            <a:extLst xmlns:a="http://schemas.openxmlformats.org/drawingml/2006/main">
              <a:ext uri="{FF2B5EF4-FFF2-40B4-BE49-F238E27FC236}">
                <a16:creationId xmlns:a16="http://schemas.microsoft.com/office/drawing/2014/main" id="{CF0A36C1-2866-41C5-B9DD-0DDAB9E40785}"/>
              </a:ext>
            </a:extLst>
          </p:cNvPr>
          <p:cNvSpPr>
            <a:spLocks xmlns:a="http://schemas.openxmlformats.org/drawingml/2006/main" noGrp="1"/>
          </p:cNvSpPr>
          <p:nvPr/>
        </p:nvSpPr>
        <p:spPr>
          <a:xfrm xmlns:a="http://schemas.openxmlformats.org/drawingml/2006/main">
            <a:off x="8001000" y="461962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PES2UG24CS154</a:t>
            </a:r>
          </a:p>
        </p:txBody>
      </p:sp>
      <p:sp>
        <p:nvSpPr>
          <p:cNvPr id="10" name="text-8">
            <a:extLst xmlns:a="http://schemas.openxmlformats.org/drawingml/2006/main">
              <a:ext uri="{FF2B5EF4-FFF2-40B4-BE49-F238E27FC236}">
                <a16:creationId xmlns:a16="http://schemas.microsoft.com/office/drawing/2014/main" id="{C9BA0804-385F-43CA-9E22-E231FA26BDC7}"/>
              </a:ext>
            </a:extLst>
          </p:cNvPr>
          <p:cNvSpPr>
            <a:spLocks xmlns:a="http://schemas.openxmlformats.org/drawingml/2006/main" noGrp="1"/>
          </p:cNvSpPr>
          <p:nvPr/>
        </p:nvSpPr>
        <p:spPr>
          <a:xfrm xmlns:a="http://schemas.openxmlformats.org/drawingml/2006/main">
            <a:off x="1143000" y="49530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Gurubelli Yekambar Eshwar Rao</a:t>
            </a:r>
          </a:p>
        </p:txBody>
      </p:sp>
      <p:sp>
        <p:nvSpPr>
          <p:cNvPr id="11" name="text-9">
            <a:extLst xmlns:a="http://schemas.openxmlformats.org/drawingml/2006/main">
              <a:ext uri="{FF2B5EF4-FFF2-40B4-BE49-F238E27FC236}">
                <a16:creationId xmlns:a16="http://schemas.microsoft.com/office/drawing/2014/main" id="{0AF9ACF8-686A-4185-811B-CC5106DE9A28}"/>
              </a:ext>
            </a:extLst>
          </p:cNvPr>
          <p:cNvSpPr>
            <a:spLocks xmlns:a="http://schemas.openxmlformats.org/drawingml/2006/main" noGrp="1"/>
          </p:cNvSpPr>
          <p:nvPr/>
        </p:nvSpPr>
        <p:spPr>
          <a:xfrm xmlns:a="http://schemas.openxmlformats.org/drawingml/2006/main">
            <a:off x="8001000" y="49530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PES2UG24CS173</a:t>
            </a:r>
          </a:p>
        </p:txBody>
      </p:sp>
      <p:sp>
        <p:nvSpPr>
          <p:cNvPr id="12" name="text-10">
            <a:extLst xmlns:a="http://schemas.openxmlformats.org/drawingml/2006/main">
              <a:ext uri="{FF2B5EF4-FFF2-40B4-BE49-F238E27FC236}">
                <a16:creationId xmlns:a16="http://schemas.microsoft.com/office/drawing/2014/main" id="{25A812AD-4369-4EE7-8948-91E09A3BA19B}"/>
              </a:ext>
            </a:extLst>
          </p:cNvPr>
          <p:cNvSpPr>
            <a:spLocks xmlns:a="http://schemas.openxmlformats.org/drawingml/2006/main" noGrp="1"/>
          </p:cNvSpPr>
          <p:nvPr/>
        </p:nvSpPr>
        <p:spPr>
          <a:xfrm xmlns:a="http://schemas.openxmlformats.org/drawingml/2006/main">
            <a:off x="1143000" y="528637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Shreya R D</a:t>
            </a:r>
          </a:p>
        </p:txBody>
      </p:sp>
      <p:sp>
        <p:nvSpPr>
          <p:cNvPr id="13" name="text-11">
            <a:extLst xmlns:a="http://schemas.openxmlformats.org/drawingml/2006/main">
              <a:ext uri="{FF2B5EF4-FFF2-40B4-BE49-F238E27FC236}">
                <a16:creationId xmlns:a16="http://schemas.microsoft.com/office/drawing/2014/main" id="{927D0DA8-1909-406D-8EC9-8CCB3439DC7A}"/>
              </a:ext>
            </a:extLst>
          </p:cNvPr>
          <p:cNvSpPr>
            <a:spLocks xmlns:a="http://schemas.openxmlformats.org/drawingml/2006/main" noGrp="1"/>
          </p:cNvSpPr>
          <p:nvPr/>
        </p:nvSpPr>
        <p:spPr>
          <a:xfrm xmlns:a="http://schemas.openxmlformats.org/drawingml/2006/main">
            <a:off x="8001000" y="528637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PES2UG24CS680</a:t>
            </a:r>
          </a:p>
        </p:txBody>
      </p:sp>
      <p:sp>
        <p:nvSpPr>
          <p:cNvPr id="14" name="text-12">
            <a:extLst xmlns:a="http://schemas.openxmlformats.org/drawingml/2006/main">
              <a:ext uri="{FF2B5EF4-FFF2-40B4-BE49-F238E27FC236}">
                <a16:creationId xmlns:a16="http://schemas.microsoft.com/office/drawing/2014/main" id="{87AC0CE9-7191-4A93-A5E0-77A29819D371}"/>
              </a:ext>
            </a:extLst>
          </p:cNvPr>
          <p:cNvSpPr>
            <a:spLocks xmlns:a="http://schemas.openxmlformats.org/drawingml/2006/main" noGrp="1"/>
          </p:cNvSpPr>
          <p:nvPr/>
        </p:nvSpPr>
        <p:spPr>
          <a:xfrm xmlns:a="http://schemas.openxmlformats.org/drawingml/2006/main">
            <a:off x="1143000" y="56197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Amruta Karoshi</a:t>
            </a:r>
          </a:p>
        </p:txBody>
      </p:sp>
      <p:sp>
        <p:nvSpPr>
          <p:cNvPr id="15" name="text-13">
            <a:extLst xmlns:a="http://schemas.openxmlformats.org/drawingml/2006/main">
              <a:ext uri="{FF2B5EF4-FFF2-40B4-BE49-F238E27FC236}">
                <a16:creationId xmlns:a16="http://schemas.microsoft.com/office/drawing/2014/main" id="{BE7D2D0E-23C0-4398-AF70-BF7AE5841BD1}"/>
              </a:ext>
            </a:extLst>
          </p:cNvPr>
          <p:cNvSpPr>
            <a:spLocks xmlns:a="http://schemas.openxmlformats.org/drawingml/2006/main" noGrp="1"/>
          </p:cNvSpPr>
          <p:nvPr/>
        </p:nvSpPr>
        <p:spPr>
          <a:xfrm xmlns:a="http://schemas.openxmlformats.org/drawingml/2006/main">
            <a:off x="8001000" y="56197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PES2UG24CS675</a:t>
            </a:r>
          </a:p>
        </p:txBody>
      </p:sp>
      <p:sp>
        <p:nvSpPr>
          <p:cNvPr id="16" name="text-14">
            <a:extLst xmlns:a="http://schemas.openxmlformats.org/drawingml/2006/main">
              <a:ext uri="{FF2B5EF4-FFF2-40B4-BE49-F238E27FC236}">
                <a16:creationId xmlns:a16="http://schemas.microsoft.com/office/drawing/2014/main" id="{DD9B6AB2-A3DE-4485-9475-66E3AD7C5487}"/>
              </a:ext>
            </a:extLst>
          </p:cNvPr>
          <p:cNvSpPr>
            <a:spLocks xmlns:a="http://schemas.openxmlformats.org/drawingml/2006/main" noGrp="1"/>
          </p:cNvSpPr>
          <p:nvPr/>
        </p:nvSpPr>
        <p:spPr>
          <a:xfrm xmlns:a="http://schemas.openxmlformats.org/drawingml/2006/main">
            <a:off x="1143000" y="6257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3627A"/>
                </a:solidFill>
                <a:latin typeface="Trebuchet MS"/>
                <a:ea typeface="Trebuchet MS"/>
                <a:cs typeface="Trebuchet MS"/>
              </a:defRPr>
            </a:pPr>
            <a:r>
              <a:rPr sz="1500" b="0">
                <a:solidFill>
                  <a:srgbClr val="53627A"/>
                </a:solidFill>
                <a:latin typeface="Trebuchet MS"/>
                <a:ea typeface="Trebuchet MS"/>
                <a:cs typeface="Trebuchet MS"/>
              </a:rPr>
              <a:t>Phase I / Review 1</a:t>
            </a:r>
          </a:p>
        </p:txBody>
      </p:sp>
    </p:spTree>
    <p:extLst>
      <p:ext uri="{BB962C8B-B14F-4D97-AF65-F5344CB8AC3E}">
        <p14:creationId xmlns:p14="http://schemas.microsoft.com/office/powerpoint/2010/main" val="13422295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2624E70F-4DD3-4A2F-8CD2-B6E8CB2A7F92}"/>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4DD1595E-0F41-49E9-B266-2FBED2D70F86}"/>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Outline</a:t>
            </a:r>
          </a:p>
        </p:txBody>
      </p:sp>
      <p:sp>
        <p:nvSpPr>
          <p:cNvPr id="15" name="text-15">
            <a:extLst xmlns:a="http://schemas.openxmlformats.org/drawingml/2006/main">
              <a:ext uri="{FF2B5EF4-FFF2-40B4-BE49-F238E27FC236}">
                <a16:creationId xmlns:a16="http://schemas.microsoft.com/office/drawing/2014/main" id="{FC85D933-C79C-4B1A-B288-AE0BB29F431B}"/>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02</a:t>
            </a:r>
          </a:p>
        </p:txBody>
      </p:sp>
      <p:sp>
        <p:nvSpPr>
          <p:cNvPr id="16" name="text-16">
            <a:extLst xmlns:a="http://schemas.openxmlformats.org/drawingml/2006/main">
              <a:ext uri="{FF2B5EF4-FFF2-40B4-BE49-F238E27FC236}">
                <a16:creationId xmlns:a16="http://schemas.microsoft.com/office/drawing/2014/main" id="{736F42D0-EDB8-49B9-AC10-C3D795EF562C}"/>
              </a:ext>
            </a:extLst>
          </p:cNvPr>
          <p:cNvSpPr>
            <a:spLocks xmlns:a="http://schemas.openxmlformats.org/drawingml/2006/main" noGrp="1"/>
          </p:cNvSpPr>
          <p:nvPr/>
        </p:nvSpPr>
        <p:spPr>
          <a:xfrm xmlns:a="http://schemas.openxmlformats.org/drawingml/2006/main">
            <a:off x="1143000" y="2238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E8B"/>
                </a:solidFill>
                <a:latin typeface="Trebuchet MS"/>
                <a:ea typeface="Trebuchet MS"/>
                <a:cs typeface="Trebuchet MS"/>
              </a:defRPr>
            </a:pPr>
            <a:r>
              <a:rPr sz="2700" b="1">
                <a:solidFill>
                  <a:srgbClr val="087E8B"/>
                </a:solidFill>
                <a:latin typeface="Trebuchet MS"/>
                <a:ea typeface="Trebuchet MS"/>
                <a:cs typeface="Trebuchet MS"/>
              </a:rPr>
              <a:t>01</a:t>
            </a:r>
          </a:p>
        </p:txBody>
      </p:sp>
      <p:sp>
        <p:nvSpPr>
          <p:cNvPr id="17" name="text-17">
            <a:extLst xmlns:a="http://schemas.openxmlformats.org/drawingml/2006/main">
              <a:ext uri="{FF2B5EF4-FFF2-40B4-BE49-F238E27FC236}">
                <a16:creationId xmlns:a16="http://schemas.microsoft.com/office/drawing/2014/main" id="{3F08ECD6-51AF-4FD9-BEB3-EFED848A6782}"/>
              </a:ext>
            </a:extLst>
          </p:cNvPr>
          <p:cNvSpPr>
            <a:spLocks xmlns:a="http://schemas.openxmlformats.org/drawingml/2006/main" noGrp="1"/>
          </p:cNvSpPr>
          <p:nvPr/>
        </p:nvSpPr>
        <p:spPr>
          <a:xfrm xmlns:a="http://schemas.openxmlformats.org/drawingml/2006/main">
            <a:off x="1905000" y="22479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Problem statement</a:t>
            </a:r>
          </a:p>
        </p:txBody>
      </p:sp>
      <p:sp>
        <p:nvSpPr>
          <p:cNvPr id="18" name="text-18">
            <a:extLst xmlns:a="http://schemas.openxmlformats.org/drawingml/2006/main">
              <a:ext uri="{FF2B5EF4-FFF2-40B4-BE49-F238E27FC236}">
                <a16:creationId xmlns:a16="http://schemas.microsoft.com/office/drawing/2014/main" id="{7D592203-1867-4B5B-98A4-8EA027B32633}"/>
              </a:ext>
            </a:extLst>
          </p:cNvPr>
          <p:cNvSpPr>
            <a:spLocks xmlns:a="http://schemas.openxmlformats.org/drawingml/2006/main" noGrp="1"/>
          </p:cNvSpPr>
          <p:nvPr/>
        </p:nvSpPr>
        <p:spPr>
          <a:xfrm xmlns:a="http://schemas.openxmlformats.org/drawingml/2006/main">
            <a:off x="1905000" y="26765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27A"/>
                </a:solidFill>
                <a:latin typeface="Trebuchet MS"/>
                <a:ea typeface="Trebuchet MS"/>
                <a:cs typeface="Trebuchet MS"/>
              </a:defRPr>
            </a:pPr>
            <a:r>
              <a:rPr sz="1725" b="0">
                <a:solidFill>
                  <a:srgbClr val="53627A"/>
                </a:solidFill>
                <a:latin typeface="Trebuchet MS"/>
                <a:ea typeface="Trebuchet MS"/>
                <a:cs typeface="Trebuchet MS"/>
              </a:rPr>
              <a:t>Security question and intended outputs</a:t>
            </a:r>
          </a:p>
        </p:txBody>
      </p:sp>
      <p:sp>
        <p:nvSpPr>
          <p:cNvPr id="19" name="text-19">
            <a:extLst xmlns:a="http://schemas.openxmlformats.org/drawingml/2006/main">
              <a:ext uri="{FF2B5EF4-FFF2-40B4-BE49-F238E27FC236}">
                <a16:creationId xmlns:a16="http://schemas.microsoft.com/office/drawing/2014/main" id="{C529B330-44D5-4E6E-81E9-A49B386DE4D1}"/>
              </a:ext>
            </a:extLst>
          </p:cNvPr>
          <p:cNvSpPr>
            <a:spLocks xmlns:a="http://schemas.openxmlformats.org/drawingml/2006/main" noGrp="1"/>
          </p:cNvSpPr>
          <p:nvPr/>
        </p:nvSpPr>
        <p:spPr>
          <a:xfrm xmlns:a="http://schemas.openxmlformats.org/drawingml/2006/main">
            <a:off x="1143000" y="34766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E8B"/>
                </a:solidFill>
                <a:latin typeface="Trebuchet MS"/>
                <a:ea typeface="Trebuchet MS"/>
                <a:cs typeface="Trebuchet MS"/>
              </a:defRPr>
            </a:pPr>
            <a:r>
              <a:rPr sz="2700" b="1">
                <a:solidFill>
                  <a:srgbClr val="087E8B"/>
                </a:solidFill>
                <a:latin typeface="Trebuchet MS"/>
                <a:ea typeface="Trebuchet MS"/>
                <a:cs typeface="Trebuchet MS"/>
              </a:rPr>
              <a:t>02</a:t>
            </a:r>
          </a:p>
        </p:txBody>
      </p:sp>
      <p:sp>
        <p:nvSpPr>
          <p:cNvPr id="20" name="text-20">
            <a:extLst xmlns:a="http://schemas.openxmlformats.org/drawingml/2006/main">
              <a:ext uri="{FF2B5EF4-FFF2-40B4-BE49-F238E27FC236}">
                <a16:creationId xmlns:a16="http://schemas.microsoft.com/office/drawing/2014/main" id="{B1D5CE4E-A026-4B12-9828-7BF5D5BECF00}"/>
              </a:ext>
            </a:extLst>
          </p:cNvPr>
          <p:cNvSpPr>
            <a:spLocks xmlns:a="http://schemas.openxmlformats.org/drawingml/2006/main" noGrp="1"/>
          </p:cNvSpPr>
          <p:nvPr/>
        </p:nvSpPr>
        <p:spPr>
          <a:xfrm xmlns:a="http://schemas.openxmlformats.org/drawingml/2006/main">
            <a:off x="1905000" y="348615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Scope and feasibility</a:t>
            </a:r>
          </a:p>
        </p:txBody>
      </p:sp>
      <p:sp>
        <p:nvSpPr>
          <p:cNvPr id="21" name="text-21">
            <a:extLst xmlns:a="http://schemas.openxmlformats.org/drawingml/2006/main">
              <a:ext uri="{FF2B5EF4-FFF2-40B4-BE49-F238E27FC236}">
                <a16:creationId xmlns:a16="http://schemas.microsoft.com/office/drawing/2014/main" id="{31783990-E2D6-4DB0-9FE0-A3331B3B7AA3}"/>
              </a:ext>
            </a:extLst>
          </p:cNvPr>
          <p:cNvSpPr>
            <a:spLocks xmlns:a="http://schemas.openxmlformats.org/drawingml/2006/main" noGrp="1"/>
          </p:cNvSpPr>
          <p:nvPr/>
        </p:nvSpPr>
        <p:spPr>
          <a:xfrm xmlns:a="http://schemas.openxmlformats.org/drawingml/2006/main">
            <a:off x="1905000" y="39147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27A"/>
                </a:solidFill>
                <a:latin typeface="Trebuchet MS"/>
                <a:ea typeface="Trebuchet MS"/>
                <a:cs typeface="Trebuchet MS"/>
              </a:defRPr>
            </a:pPr>
            <a:r>
              <a:rPr sz="1725" b="0">
                <a:solidFill>
                  <a:srgbClr val="53627A"/>
                </a:solidFill>
                <a:latin typeface="Trebuchet MS"/>
                <a:ea typeface="Trebuchet MS"/>
                <a:cs typeface="Trebuchet MS"/>
              </a:rPr>
              <a:t>Testbed, budget and operating limits</a:t>
            </a:r>
          </a:p>
        </p:txBody>
      </p:sp>
      <p:sp>
        <p:nvSpPr>
          <p:cNvPr id="22" name="text-22">
            <a:extLst xmlns:a="http://schemas.openxmlformats.org/drawingml/2006/main">
              <a:ext uri="{FF2B5EF4-FFF2-40B4-BE49-F238E27FC236}">
                <a16:creationId xmlns:a16="http://schemas.microsoft.com/office/drawing/2014/main" id="{C9C67EA2-0833-4AD8-A731-1A73160A107D}"/>
              </a:ext>
            </a:extLst>
          </p:cNvPr>
          <p:cNvSpPr>
            <a:spLocks xmlns:a="http://schemas.openxmlformats.org/drawingml/2006/main" noGrp="1"/>
          </p:cNvSpPr>
          <p:nvPr/>
        </p:nvSpPr>
        <p:spPr>
          <a:xfrm xmlns:a="http://schemas.openxmlformats.org/drawingml/2006/main">
            <a:off x="1143000" y="4714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E8B"/>
                </a:solidFill>
                <a:latin typeface="Trebuchet MS"/>
                <a:ea typeface="Trebuchet MS"/>
                <a:cs typeface="Trebuchet MS"/>
              </a:defRPr>
            </a:pPr>
            <a:r>
              <a:rPr sz="2700" b="1">
                <a:solidFill>
                  <a:srgbClr val="087E8B"/>
                </a:solidFill>
                <a:latin typeface="Trebuchet MS"/>
                <a:ea typeface="Trebuchet MS"/>
                <a:cs typeface="Trebuchet MS"/>
              </a:rPr>
              <a:t>03</a:t>
            </a:r>
          </a:p>
        </p:txBody>
      </p:sp>
      <p:sp>
        <p:nvSpPr>
          <p:cNvPr id="23" name="text-23">
            <a:extLst xmlns:a="http://schemas.openxmlformats.org/drawingml/2006/main">
              <a:ext uri="{FF2B5EF4-FFF2-40B4-BE49-F238E27FC236}">
                <a16:creationId xmlns:a16="http://schemas.microsoft.com/office/drawing/2014/main" id="{A6388DCE-F1D1-47E7-81EF-AFE86F159B91}"/>
              </a:ext>
            </a:extLst>
          </p:cNvPr>
          <p:cNvSpPr>
            <a:spLocks xmlns:a="http://schemas.openxmlformats.org/drawingml/2006/main" noGrp="1"/>
          </p:cNvSpPr>
          <p:nvPr/>
        </p:nvSpPr>
        <p:spPr>
          <a:xfrm xmlns:a="http://schemas.openxmlformats.org/drawingml/2006/main">
            <a:off x="1905000" y="47244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Background work</a:t>
            </a:r>
          </a:p>
        </p:txBody>
      </p:sp>
      <p:sp>
        <p:nvSpPr>
          <p:cNvPr id="24" name="text-24">
            <a:extLst xmlns:a="http://schemas.openxmlformats.org/drawingml/2006/main">
              <a:ext uri="{FF2B5EF4-FFF2-40B4-BE49-F238E27FC236}">
                <a16:creationId xmlns:a16="http://schemas.microsoft.com/office/drawing/2014/main" id="{CE1ADF16-768D-4C1E-B393-CD7C3D4D0719}"/>
              </a:ext>
            </a:extLst>
          </p:cNvPr>
          <p:cNvSpPr>
            <a:spLocks xmlns:a="http://schemas.openxmlformats.org/drawingml/2006/main" noGrp="1"/>
          </p:cNvSpPr>
          <p:nvPr/>
        </p:nvSpPr>
        <p:spPr>
          <a:xfrm xmlns:a="http://schemas.openxmlformats.org/drawingml/2006/main">
            <a:off x="1905000" y="51530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27A"/>
                </a:solidFill>
                <a:latin typeface="Trebuchet MS"/>
                <a:ea typeface="Trebuchet MS"/>
                <a:cs typeface="Trebuchet MS"/>
              </a:defRPr>
            </a:pPr>
            <a:r>
              <a:rPr sz="1725" b="0">
                <a:solidFill>
                  <a:srgbClr val="53627A"/>
                </a:solidFill>
                <a:latin typeface="Trebuchet MS"/>
                <a:ea typeface="Trebuchet MS"/>
                <a:cs typeface="Trebuchet MS"/>
              </a:rPr>
              <a:t>Prior research and contribution to test</a:t>
            </a:r>
          </a:p>
        </p:txBody>
      </p:sp>
      <p:sp>
        <p:nvSpPr>
          <p:cNvPr id="25" name="text-25">
            <a:extLst xmlns:a="http://schemas.openxmlformats.org/drawingml/2006/main">
              <a:ext uri="{FF2B5EF4-FFF2-40B4-BE49-F238E27FC236}">
                <a16:creationId xmlns:a16="http://schemas.microsoft.com/office/drawing/2014/main" id="{1345C4F7-E093-4420-92C2-2DB87E400612}"/>
              </a:ext>
            </a:extLst>
          </p:cNvPr>
          <p:cNvSpPr>
            <a:spLocks xmlns:a="http://schemas.openxmlformats.org/drawingml/2006/main" noGrp="1"/>
          </p:cNvSpPr>
          <p:nvPr/>
        </p:nvSpPr>
        <p:spPr>
          <a:xfrm xmlns:a="http://schemas.openxmlformats.org/drawingml/2006/main">
            <a:off x="6286500" y="2238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E8B"/>
                </a:solidFill>
                <a:latin typeface="Trebuchet MS"/>
                <a:ea typeface="Trebuchet MS"/>
                <a:cs typeface="Trebuchet MS"/>
              </a:defRPr>
            </a:pPr>
            <a:r>
              <a:rPr sz="2700" b="1">
                <a:solidFill>
                  <a:srgbClr val="087E8B"/>
                </a:solidFill>
                <a:latin typeface="Trebuchet MS"/>
                <a:ea typeface="Trebuchet MS"/>
                <a:cs typeface="Trebuchet MS"/>
              </a:rPr>
              <a:t>04</a:t>
            </a:r>
          </a:p>
        </p:txBody>
      </p:sp>
      <p:sp>
        <p:nvSpPr>
          <p:cNvPr id="26" name="text-26">
            <a:extLst xmlns:a="http://schemas.openxmlformats.org/drawingml/2006/main">
              <a:ext uri="{FF2B5EF4-FFF2-40B4-BE49-F238E27FC236}">
                <a16:creationId xmlns:a16="http://schemas.microsoft.com/office/drawing/2014/main" id="{248E8814-E735-435C-987B-09000B17D7E7}"/>
              </a:ext>
            </a:extLst>
          </p:cNvPr>
          <p:cNvSpPr>
            <a:spLocks xmlns:a="http://schemas.openxmlformats.org/drawingml/2006/main" noGrp="1"/>
          </p:cNvSpPr>
          <p:nvPr/>
        </p:nvSpPr>
        <p:spPr>
          <a:xfrm xmlns:a="http://schemas.openxmlformats.org/drawingml/2006/main">
            <a:off x="7048500" y="22479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Applications / use cases</a:t>
            </a:r>
          </a:p>
        </p:txBody>
      </p:sp>
      <p:sp>
        <p:nvSpPr>
          <p:cNvPr id="27" name="text-27">
            <a:extLst xmlns:a="http://schemas.openxmlformats.org/drawingml/2006/main">
              <a:ext uri="{FF2B5EF4-FFF2-40B4-BE49-F238E27FC236}">
                <a16:creationId xmlns:a16="http://schemas.microsoft.com/office/drawing/2014/main" id="{01D8605A-0F41-41DF-B8CE-514DF6118178}"/>
              </a:ext>
            </a:extLst>
          </p:cNvPr>
          <p:cNvSpPr>
            <a:spLocks xmlns:a="http://schemas.openxmlformats.org/drawingml/2006/main" noGrp="1"/>
          </p:cNvSpPr>
          <p:nvPr/>
        </p:nvSpPr>
        <p:spPr>
          <a:xfrm xmlns:a="http://schemas.openxmlformats.org/drawingml/2006/main">
            <a:off x="7048500" y="26765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27A"/>
                </a:solidFill>
                <a:latin typeface="Trebuchet MS"/>
                <a:ea typeface="Trebuchet MS"/>
                <a:cs typeface="Trebuchet MS"/>
              </a:defRPr>
            </a:pPr>
            <a:r>
              <a:rPr sz="1725" b="0">
                <a:solidFill>
                  <a:srgbClr val="53627A"/>
                </a:solidFill>
                <a:latin typeface="Trebuchet MS"/>
                <a:ea typeface="Trebuchet MS"/>
                <a:cs typeface="Trebuchet MS"/>
              </a:rPr>
              <a:t>Fleet monitoring and forensic review</a:t>
            </a:r>
          </a:p>
        </p:txBody>
      </p:sp>
      <p:sp>
        <p:nvSpPr>
          <p:cNvPr id="28" name="text-28">
            <a:extLst xmlns:a="http://schemas.openxmlformats.org/drawingml/2006/main">
              <a:ext uri="{FF2B5EF4-FFF2-40B4-BE49-F238E27FC236}">
                <a16:creationId xmlns:a16="http://schemas.microsoft.com/office/drawing/2014/main" id="{E69AEE1A-D9F6-4441-9482-15C7E7F7033C}"/>
              </a:ext>
            </a:extLst>
          </p:cNvPr>
          <p:cNvSpPr>
            <a:spLocks xmlns:a="http://schemas.openxmlformats.org/drawingml/2006/main" noGrp="1"/>
          </p:cNvSpPr>
          <p:nvPr/>
        </p:nvSpPr>
        <p:spPr>
          <a:xfrm xmlns:a="http://schemas.openxmlformats.org/drawingml/2006/main">
            <a:off x="6286500" y="34766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E8B"/>
                </a:solidFill>
                <a:latin typeface="Trebuchet MS"/>
                <a:ea typeface="Trebuchet MS"/>
                <a:cs typeface="Trebuchet MS"/>
              </a:defRPr>
            </a:pPr>
            <a:r>
              <a:rPr sz="2700" b="1">
                <a:solidFill>
                  <a:srgbClr val="087E8B"/>
                </a:solidFill>
                <a:latin typeface="Trebuchet MS"/>
                <a:ea typeface="Trebuchet MS"/>
                <a:cs typeface="Trebuchet MS"/>
              </a:rPr>
              <a:t>05</a:t>
            </a:r>
          </a:p>
        </p:txBody>
      </p:sp>
      <p:sp>
        <p:nvSpPr>
          <p:cNvPr id="29" name="text-29">
            <a:extLst xmlns:a="http://schemas.openxmlformats.org/drawingml/2006/main">
              <a:ext uri="{FF2B5EF4-FFF2-40B4-BE49-F238E27FC236}">
                <a16:creationId xmlns:a16="http://schemas.microsoft.com/office/drawing/2014/main" id="{069627BF-ECEF-4B3E-8400-2817592D63EB}"/>
              </a:ext>
            </a:extLst>
          </p:cNvPr>
          <p:cNvSpPr>
            <a:spLocks xmlns:a="http://schemas.openxmlformats.org/drawingml/2006/main" noGrp="1"/>
          </p:cNvSpPr>
          <p:nvPr/>
        </p:nvSpPr>
        <p:spPr>
          <a:xfrm xmlns:a="http://schemas.openxmlformats.org/drawingml/2006/main">
            <a:off x="7048500" y="348615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Proposed architecture</a:t>
            </a:r>
          </a:p>
        </p:txBody>
      </p:sp>
      <p:sp>
        <p:nvSpPr>
          <p:cNvPr id="30" name="text-30">
            <a:extLst xmlns:a="http://schemas.openxmlformats.org/drawingml/2006/main">
              <a:ext uri="{FF2B5EF4-FFF2-40B4-BE49-F238E27FC236}">
                <a16:creationId xmlns:a16="http://schemas.microsoft.com/office/drawing/2014/main" id="{73E4203D-A151-4A1E-8760-83782503DC2E}"/>
              </a:ext>
            </a:extLst>
          </p:cNvPr>
          <p:cNvSpPr>
            <a:spLocks xmlns:a="http://schemas.openxmlformats.org/drawingml/2006/main" noGrp="1"/>
          </p:cNvSpPr>
          <p:nvPr/>
        </p:nvSpPr>
        <p:spPr>
          <a:xfrm xmlns:a="http://schemas.openxmlformats.org/drawingml/2006/main">
            <a:off x="7048500" y="39147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27A"/>
                </a:solidFill>
                <a:latin typeface="Trebuchet MS"/>
                <a:ea typeface="Trebuchet MS"/>
                <a:cs typeface="Trebuchet MS"/>
              </a:defRPr>
            </a:pPr>
            <a:r>
              <a:rPr sz="1725" b="0">
                <a:solidFill>
                  <a:srgbClr val="53627A"/>
                </a:solidFill>
                <a:latin typeface="Trebuchet MS"/>
                <a:ea typeface="Trebuchet MS"/>
                <a:cs typeface="Trebuchet MS"/>
              </a:rPr>
              <a:t>Attribution, GhostTrace and Agentic AI</a:t>
            </a:r>
          </a:p>
        </p:txBody>
      </p:sp>
      <p:sp>
        <p:nvSpPr>
          <p:cNvPr id="31" name="text-31">
            <a:extLst xmlns:a="http://schemas.openxmlformats.org/drawingml/2006/main">
              <a:ext uri="{FF2B5EF4-FFF2-40B4-BE49-F238E27FC236}">
                <a16:creationId xmlns:a16="http://schemas.microsoft.com/office/drawing/2014/main" id="{D465F47F-920C-4A35-8138-E6D0919E6717}"/>
              </a:ext>
            </a:extLst>
          </p:cNvPr>
          <p:cNvSpPr>
            <a:spLocks xmlns:a="http://schemas.openxmlformats.org/drawingml/2006/main" noGrp="1"/>
          </p:cNvSpPr>
          <p:nvPr/>
        </p:nvSpPr>
        <p:spPr>
          <a:xfrm xmlns:a="http://schemas.openxmlformats.org/drawingml/2006/main">
            <a:off x="6286500" y="4714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E8B"/>
                </a:solidFill>
                <a:latin typeface="Trebuchet MS"/>
                <a:ea typeface="Trebuchet MS"/>
                <a:cs typeface="Trebuchet MS"/>
              </a:defRPr>
            </a:pPr>
            <a:r>
              <a:rPr sz="2700" b="1">
                <a:solidFill>
                  <a:srgbClr val="087E8B"/>
                </a:solidFill>
                <a:latin typeface="Trebuchet MS"/>
                <a:ea typeface="Trebuchet MS"/>
                <a:cs typeface="Trebuchet MS"/>
              </a:rPr>
              <a:t>06</a:t>
            </a:r>
          </a:p>
        </p:txBody>
      </p:sp>
      <p:sp>
        <p:nvSpPr>
          <p:cNvPr id="32" name="text-32">
            <a:extLst xmlns:a="http://schemas.openxmlformats.org/drawingml/2006/main">
              <a:ext uri="{FF2B5EF4-FFF2-40B4-BE49-F238E27FC236}">
                <a16:creationId xmlns:a16="http://schemas.microsoft.com/office/drawing/2014/main" id="{BF77B7A0-2BE1-4528-8040-3F06596C89E9}"/>
              </a:ext>
            </a:extLst>
          </p:cNvPr>
          <p:cNvSpPr>
            <a:spLocks xmlns:a="http://schemas.openxmlformats.org/drawingml/2006/main" noGrp="1"/>
          </p:cNvSpPr>
          <p:nvPr/>
        </p:nvSpPr>
        <p:spPr>
          <a:xfrm xmlns:a="http://schemas.openxmlformats.org/drawingml/2006/main">
            <a:off x="7048500" y="47244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Deliverables and timeline</a:t>
            </a:r>
          </a:p>
        </p:txBody>
      </p:sp>
      <p:sp>
        <p:nvSpPr>
          <p:cNvPr id="33" name="text-33">
            <a:extLst xmlns:a="http://schemas.openxmlformats.org/drawingml/2006/main">
              <a:ext uri="{FF2B5EF4-FFF2-40B4-BE49-F238E27FC236}">
                <a16:creationId xmlns:a16="http://schemas.microsoft.com/office/drawing/2014/main" id="{C60241BB-236F-434B-B0FB-9E6F4A036952}"/>
              </a:ext>
            </a:extLst>
          </p:cNvPr>
          <p:cNvSpPr>
            <a:spLocks xmlns:a="http://schemas.openxmlformats.org/drawingml/2006/main" noGrp="1"/>
          </p:cNvSpPr>
          <p:nvPr/>
        </p:nvSpPr>
        <p:spPr>
          <a:xfrm xmlns:a="http://schemas.openxmlformats.org/drawingml/2006/main">
            <a:off x="7048500" y="51530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27A"/>
                </a:solidFill>
                <a:latin typeface="Trebuchet MS"/>
                <a:ea typeface="Trebuchet MS"/>
                <a:cs typeface="Trebuchet MS"/>
              </a:defRPr>
            </a:pPr>
            <a:r>
              <a:rPr sz="1725" b="0">
                <a:solidFill>
                  <a:srgbClr val="53627A"/>
                </a:solidFill>
                <a:latin typeface="Trebuchet MS"/>
                <a:ea typeface="Trebuchet MS"/>
                <a:cs typeface="Trebuchet MS"/>
              </a:rPr>
              <a:t>Three-phase plan and evaluation</a:t>
            </a:r>
          </a:p>
        </p:txBody>
      </p:sp>
    </p:spTree>
    <p:extLst>
      <p:ext uri="{BB962C8B-B14F-4D97-AF65-F5344CB8AC3E}">
        <p14:creationId xmlns:p14="http://schemas.microsoft.com/office/powerpoint/2010/main" val="17673490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7E787BD7-BA7E-4723-80E3-E809FFC3518A}"/>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89174E92-0094-4187-ACDF-7F1BBC868F96}"/>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Problem Statement</a:t>
            </a:r>
            <a:endParaRPr sz="2400">
              <a:solidFill>
                <a:srgbClr val="FF0000"/>
              </a:solidFill>
              <a:latin typeface="Trebuchet MS"/>
              <a:ea typeface="Trebuchet MS"/>
              <a:cs typeface="Trebuchet MS"/>
            </a:endParaRPr>
          </a:p>
        </p:txBody>
      </p:sp>
      <p:sp>
        <p:nvSpPr>
          <p:cNvPr id="15" name="text-34">
            <a:extLst xmlns:a="http://schemas.openxmlformats.org/drawingml/2006/main">
              <a:ext uri="{FF2B5EF4-FFF2-40B4-BE49-F238E27FC236}">
                <a16:creationId xmlns:a16="http://schemas.microsoft.com/office/drawing/2014/main" id="{745F3E64-897B-4CF2-A2D2-5DD18B9CAE69}"/>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03</a:t>
            </a:r>
          </a:p>
        </p:txBody>
      </p:sp>
      <p:sp>
        <p:nvSpPr>
          <p:cNvPr id="16" name="text-35">
            <a:extLst xmlns:a="http://schemas.openxmlformats.org/drawingml/2006/main">
              <a:ext uri="{FF2B5EF4-FFF2-40B4-BE49-F238E27FC236}">
                <a16:creationId xmlns:a16="http://schemas.microsoft.com/office/drawing/2014/main" id="{F8A10B88-C852-4DFC-84F1-982F225D5082}"/>
              </a:ext>
            </a:extLst>
          </p:cNvPr>
          <p:cNvSpPr>
            <a:spLocks xmlns:a="http://schemas.openxmlformats.org/drawingml/2006/main" noGrp="1"/>
          </p:cNvSpPr>
          <p:nvPr/>
        </p:nvSpPr>
        <p:spPr>
          <a:xfrm xmlns:a="http://schemas.openxmlformats.org/drawingml/2006/main">
            <a:off x="1143000" y="1943100"/>
            <a:ext cx="9906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Distinguish benign change from suspicious CAN / V2X behavior,</a:t>
            </a:r>
          </a:p>
          <a:p xmlns:a="http://schemas.openxmlformats.org/drawingml/2006/main">
            <a:pPr algn="l">
              <a:defRPr sz="2250" b="0">
                <a:solidFill>
                  <a:srgbClr val="0033CC"/>
                </a:solidFill>
                <a:latin typeface="Trebuchet MS"/>
                <a:ea typeface="Trebuchet MS"/>
                <a:cs typeface="Trebuchet MS"/>
              </a:defRPr>
            </a:pPr>
            <a:r>
              <a:rPr sz="2250" b="0">
                <a:solidFill>
                  <a:srgbClr val="0033CC"/>
                </a:solidFill>
                <a:latin typeface="Trebuchet MS"/>
                <a:ea typeface="Trebuchet MS"/>
                <a:cs typeface="Trebuchet MS"/>
              </a:rPr>
              <a:t>attribute the likely cause, and preserve independently verifiable evidence.</a:t>
            </a:r>
          </a:p>
        </p:txBody>
      </p:sp>
      <p:sp>
        <p:nvSpPr>
          <p:cNvPr id="17" name="diagram-36">
            <a:extLst xmlns:a="http://schemas.openxmlformats.org/drawingml/2006/main">
              <a:ext uri="{FF2B5EF4-FFF2-40B4-BE49-F238E27FC236}">
                <a16:creationId xmlns:a16="http://schemas.microsoft.com/office/drawing/2014/main" id="{A3CA6040-FCB5-4624-845A-D46A253D6FE9}"/>
              </a:ext>
            </a:extLst>
          </p:cNvPr>
          <p:cNvSpPr>
            <a:spLocks xmlns:a="http://schemas.openxmlformats.org/drawingml/2006/main" noGrp="1"/>
          </p:cNvSpPr>
          <p:nvPr/>
        </p:nvSpPr>
        <p:spPr>
          <a:xfrm xmlns:a="http://schemas.openxmlformats.org/drawingml/2006/main">
            <a:off x="1143000" y="3181350"/>
            <a:ext cx="2905125" cy="819150"/>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Software update /</a:t>
            </a:r>
          </a:p>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benign behavior change</a:t>
            </a:r>
          </a:p>
        </p:txBody>
      </p:sp>
      <p:sp>
        <p:nvSpPr>
          <p:cNvPr id="18" name="diagram-37">
            <a:extLst xmlns:a="http://schemas.openxmlformats.org/drawingml/2006/main">
              <a:ext uri="{FF2B5EF4-FFF2-40B4-BE49-F238E27FC236}">
                <a16:creationId xmlns:a16="http://schemas.microsoft.com/office/drawing/2014/main" id="{29AB8047-0B3E-4BEA-A1A3-42542FA8DBF1}"/>
              </a:ext>
            </a:extLst>
          </p:cNvPr>
          <p:cNvSpPr>
            <a:spLocks xmlns:a="http://schemas.openxmlformats.org/drawingml/2006/main" noGrp="1"/>
          </p:cNvSpPr>
          <p:nvPr/>
        </p:nvSpPr>
        <p:spPr>
          <a:xfrm xmlns:a="http://schemas.openxmlformats.org/drawingml/2006/main">
            <a:off x="1143000" y="4486275"/>
            <a:ext cx="2905125" cy="819150"/>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Gradual injection /</a:t>
            </a:r>
          </a:p>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falsified vehicle message</a:t>
            </a:r>
          </a:p>
        </p:txBody>
      </p:sp>
      <p:sp>
        <p:nvSpPr>
          <p:cNvPr id="19" name="diagram-38">
            <a:extLst xmlns:a="http://schemas.openxmlformats.org/drawingml/2006/main">
              <a:ext uri="{FF2B5EF4-FFF2-40B4-BE49-F238E27FC236}">
                <a16:creationId xmlns:a16="http://schemas.microsoft.com/office/drawing/2014/main" id="{9A7ACD25-D162-4B08-BF90-AEB965E81065}"/>
              </a:ext>
            </a:extLst>
          </p:cNvPr>
          <p:cNvSpPr>
            <a:spLocks xmlns:a="http://schemas.openxmlformats.org/drawingml/2006/main" noGrp="1"/>
          </p:cNvSpPr>
          <p:nvPr/>
        </p:nvSpPr>
        <p:spPr>
          <a:xfrm xmlns:a="http://schemas.openxmlformats.org/drawingml/2006/main">
            <a:off x="4819650" y="3743325"/>
            <a:ext cx="2476500" cy="1009650"/>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100" b="1">
                <a:solidFill>
                  <a:srgbClr val="0033CC"/>
                </a:solidFill>
                <a:latin typeface="Trebuchet MS"/>
                <a:ea typeface="Trebuchet MS"/>
                <a:cs typeface="Trebuchet MS"/>
              </a:defRPr>
            </a:pPr>
            <a:r>
              <a:rPr sz="2100" b="1">
                <a:solidFill>
                  <a:srgbClr val="0033CC"/>
                </a:solidFill>
                <a:latin typeface="Trebuchet MS"/>
                <a:ea typeface="Trebuchet MS"/>
                <a:cs typeface="Trebuchet MS"/>
              </a:rPr>
              <a:t>Similar-looking</a:t>
            </a:r>
          </a:p>
          <a:p xmlns:a="http://schemas.openxmlformats.org/drawingml/2006/main">
            <a:pPr algn="ctr">
              <a:defRPr sz="2100" b="1">
                <a:solidFill>
                  <a:srgbClr val="0033CC"/>
                </a:solidFill>
                <a:latin typeface="Trebuchet MS"/>
                <a:ea typeface="Trebuchet MS"/>
                <a:cs typeface="Trebuchet MS"/>
              </a:defRPr>
            </a:pPr>
            <a:r>
              <a:rPr sz="2100" b="1">
                <a:solidFill>
                  <a:srgbClr val="0033CC"/>
                </a:solidFill>
                <a:latin typeface="Trebuchet MS"/>
                <a:ea typeface="Trebuchet MS"/>
                <a:cs typeface="Trebuchet MS"/>
              </a:rPr>
              <a:t>telemetry change</a:t>
            </a:r>
          </a:p>
        </p:txBody>
      </p:sp>
      <p:sp>
        <p:nvSpPr>
          <p:cNvPr id="20" name="diagram-39">
            <a:extLst xmlns:a="http://schemas.openxmlformats.org/drawingml/2006/main">
              <a:ext uri="{FF2B5EF4-FFF2-40B4-BE49-F238E27FC236}">
                <a16:creationId xmlns:a16="http://schemas.microsoft.com/office/drawing/2014/main" id="{800E33E2-37E9-4CBC-8318-86E4889C92C8}"/>
              </a:ext>
            </a:extLst>
          </p:cNvPr>
          <p:cNvSpPr>
            <a:spLocks xmlns:a="http://schemas.openxmlformats.org/drawingml/2006/main" noGrp="1"/>
          </p:cNvSpPr>
          <p:nvPr/>
        </p:nvSpPr>
        <p:spPr>
          <a:xfrm xmlns:a="http://schemas.openxmlformats.org/drawingml/2006/main">
            <a:off x="8143875" y="3600450"/>
            <a:ext cx="2619375" cy="1304925"/>
          </a:xfrm>
          <a:prstGeom xmlns:a="http://schemas.openxmlformats.org/drawingml/2006/main" prst="rect">
            <a:avLst/>
          </a:prstGeom>
          <a:solidFill xmlns:a="http://schemas.openxmlformats.org/drawingml/2006/main">
            <a:srgbClr val="FFFFFF"/>
          </a:solidFill>
          <a:ln xmlns:a="http://schemas.openxmlformats.org/drawingml/2006/main" w="14288">
            <a:solidFill>
              <a:srgbClr val="0033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Benign</a:t>
            </a:r>
          </a:p>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Suspicious</a:t>
            </a:r>
          </a:p>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Insufficient evidence</a:t>
            </a:r>
          </a:p>
        </p:txBody>
      </p:sp>
      <p:cxnSp>
        <p:nvCxnSpPr>
          <p:cNvPr id="33" name=""/>
          <p:cNvCxnSpPr>
            <a:stCxn xmlns:a="http://schemas.openxmlformats.org/drawingml/2006/main" id="17" idx="3"/>
            <a:endCxn xmlns:a="http://schemas.openxmlformats.org/drawingml/2006/main" id="19" idx="1"/>
          </p:cNvCxnSpPr>
          <p:nvPr/>
        </p:nvCxnSpPr>
        <p:spPr>
          <a:xfrm xmlns:a="http://schemas.openxmlformats.org/drawingml/2006/main">
            <a:off x="4048125" y="3590925"/>
            <a:ext cx="771525" cy="657225"/>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34" name=""/>
          <p:cNvCxnSpPr>
            <a:stCxn xmlns:a="http://schemas.openxmlformats.org/drawingml/2006/main" id="18" idx="3"/>
            <a:endCxn xmlns:a="http://schemas.openxmlformats.org/drawingml/2006/main" id="19" idx="1"/>
          </p:cNvCxnSpPr>
          <p:nvPr/>
        </p:nvCxnSpPr>
        <p:spPr>
          <a:xfrm xmlns:a="http://schemas.openxmlformats.org/drawingml/2006/main" flipV="1">
            <a:off x="4048125" y="4248150"/>
            <a:ext cx="771525" cy="647700"/>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35" name=""/>
          <p:cNvCxnSpPr>
            <a:stCxn xmlns:a="http://schemas.openxmlformats.org/drawingml/2006/main" id="19" idx="3"/>
            <a:endCxn xmlns:a="http://schemas.openxmlformats.org/drawingml/2006/main" id="20" idx="1"/>
          </p:cNvCxnSpPr>
          <p:nvPr/>
        </p:nvCxnSpPr>
        <p:spPr>
          <a:xfrm xmlns:a="http://schemas.openxmlformats.org/drawingml/2006/main">
            <a:off x="7296150" y="4248150"/>
            <a:ext cx="847725" cy="4763"/>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sp>
        <p:nvSpPr>
          <p:cNvPr id="24" name="text-40">
            <a:extLst xmlns:a="http://schemas.openxmlformats.org/drawingml/2006/main">
              <a:ext uri="{FF2B5EF4-FFF2-40B4-BE49-F238E27FC236}">
                <a16:creationId xmlns:a16="http://schemas.microsoft.com/office/drawing/2014/main" id="{E6C0862B-DA39-44A6-9F5F-9A7CCCAB936A}"/>
              </a:ext>
            </a:extLst>
          </p:cNvPr>
          <p:cNvSpPr>
            <a:spLocks xmlns:a="http://schemas.openxmlformats.org/drawingml/2006/main" noGrp="1"/>
          </p:cNvSpPr>
          <p:nvPr/>
        </p:nvSpPr>
        <p:spPr>
          <a:xfrm xmlns:a="http://schemas.openxmlformats.org/drawingml/2006/main">
            <a:off x="1143000" y="576262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0345A"/>
                </a:solidFill>
                <a:latin typeface="Trebuchet MS"/>
                <a:ea typeface="Trebuchet MS"/>
                <a:cs typeface="Trebuchet MS"/>
              </a:defRPr>
            </a:pPr>
            <a:r>
              <a:rPr sz="1950" b="1">
                <a:solidFill>
                  <a:srgbClr val="20345A"/>
                </a:solidFill>
                <a:latin typeface="Trebuchet MS"/>
                <a:ea typeface="Trebuchet MS"/>
                <a:cs typeface="Trebuchet MS"/>
              </a:rPr>
              <a:t>A quiet V2X layer must not clear a suspicious CAN event.</a:t>
            </a:r>
          </a:p>
        </p:txBody>
      </p:sp>
    </p:spTree>
    <p:extLst>
      <p:ext uri="{BB962C8B-B14F-4D97-AF65-F5344CB8AC3E}">
        <p14:creationId xmlns:p14="http://schemas.microsoft.com/office/powerpoint/2010/main" val="38110301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E1EB6B94-AB75-4427-AA0A-CBCCD0233502}"/>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23FFCD6C-DD1C-45FC-A8C1-A938C0A8CCB8}"/>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Scope and Feasibility Study</a:t>
            </a:r>
            <a:endParaRPr sz="2400">
              <a:solidFill>
                <a:srgbClr val="FF0000"/>
              </a:solidFill>
              <a:latin typeface="Trebuchet MS"/>
              <a:ea typeface="Trebuchet MS"/>
              <a:cs typeface="Trebuchet MS"/>
            </a:endParaRPr>
          </a:p>
        </p:txBody>
      </p:sp>
      <p:sp>
        <p:nvSpPr>
          <p:cNvPr id="15" name="text-41">
            <a:extLst xmlns:a="http://schemas.openxmlformats.org/drawingml/2006/main">
              <a:ext uri="{FF2B5EF4-FFF2-40B4-BE49-F238E27FC236}">
                <a16:creationId xmlns:a16="http://schemas.microsoft.com/office/drawing/2014/main" id="{B9F4E360-81E7-465E-BFE3-A8FF3924EB7B}"/>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04</a:t>
            </a:r>
          </a:p>
        </p:txBody>
      </p:sp>
      <p:sp>
        <p:nvSpPr>
          <p:cNvPr id="16" name="text-42">
            <a:extLst xmlns:a="http://schemas.openxmlformats.org/drawingml/2006/main">
              <a:ext uri="{FF2B5EF4-FFF2-40B4-BE49-F238E27FC236}">
                <a16:creationId xmlns:a16="http://schemas.microsoft.com/office/drawing/2014/main" id="{C98774CC-89E9-4D88-B04E-E4F2072D9607}"/>
              </a:ext>
            </a:extLst>
          </p:cNvPr>
          <p:cNvSpPr>
            <a:spLocks xmlns:a="http://schemas.openxmlformats.org/drawingml/2006/main" noGrp="1"/>
          </p:cNvSpPr>
          <p:nvPr/>
        </p:nvSpPr>
        <p:spPr>
          <a:xfrm xmlns:a="http://schemas.openxmlformats.org/drawingml/2006/main">
            <a:off x="1143000" y="1952625"/>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345A"/>
                </a:solidFill>
                <a:latin typeface="Trebuchet MS"/>
                <a:ea typeface="Trebuchet MS"/>
                <a:cs typeface="Trebuchet MS"/>
              </a:defRPr>
            </a:pPr>
            <a:r>
              <a:rPr sz="2100" b="1">
                <a:solidFill>
                  <a:srgbClr val="20345A"/>
                </a:solidFill>
                <a:latin typeface="Trebuchet MS"/>
                <a:ea typeface="Trebuchet MS"/>
                <a:cs typeface="Trebuchet MS"/>
              </a:rPr>
              <a:t>Proposed laboratory testbed</a:t>
            </a:r>
          </a:p>
        </p:txBody>
      </p:sp>
      <p:sp>
        <p:nvSpPr>
          <p:cNvPr id="17" name="diagram-43">
            <a:extLst xmlns:a="http://schemas.openxmlformats.org/drawingml/2006/main">
              <a:ext uri="{FF2B5EF4-FFF2-40B4-BE49-F238E27FC236}">
                <a16:creationId xmlns:a16="http://schemas.microsoft.com/office/drawing/2014/main" id="{2F1EE6EB-0BB2-4D1D-A89B-ADA0E2D64333}"/>
              </a:ext>
            </a:extLst>
          </p:cNvPr>
          <p:cNvSpPr>
            <a:spLocks xmlns:a="http://schemas.openxmlformats.org/drawingml/2006/main" noGrp="1"/>
          </p:cNvSpPr>
          <p:nvPr/>
        </p:nvSpPr>
        <p:spPr>
          <a:xfrm xmlns:a="http://schemas.openxmlformats.org/drawingml/2006/main">
            <a:off x="1143000" y="2524125"/>
            <a:ext cx="2143125" cy="857250"/>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CAN replay +</a:t>
            </a:r>
          </a:p>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simulated V2X</a:t>
            </a:r>
          </a:p>
        </p:txBody>
      </p:sp>
      <p:sp>
        <p:nvSpPr>
          <p:cNvPr id="18" name="diagram-44">
            <a:extLst xmlns:a="http://schemas.openxmlformats.org/drawingml/2006/main">
              <a:ext uri="{FF2B5EF4-FFF2-40B4-BE49-F238E27FC236}">
                <a16:creationId xmlns:a16="http://schemas.microsoft.com/office/drawing/2014/main" id="{E1D570D4-3C41-468F-9497-116509B8F6B8}"/>
              </a:ext>
            </a:extLst>
          </p:cNvPr>
          <p:cNvSpPr>
            <a:spLocks xmlns:a="http://schemas.openxmlformats.org/drawingml/2006/main" noGrp="1"/>
          </p:cNvSpPr>
          <p:nvPr/>
        </p:nvSpPr>
        <p:spPr>
          <a:xfrm xmlns:a="http://schemas.openxmlformats.org/drawingml/2006/main">
            <a:off x="3943350" y="2524125"/>
            <a:ext cx="2428875" cy="857250"/>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Pi 4-class edge</a:t>
            </a:r>
          </a:p>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Detection + logging</a:t>
            </a:r>
          </a:p>
        </p:txBody>
      </p:sp>
      <p:sp>
        <p:nvSpPr>
          <p:cNvPr id="19" name="diagram-45">
            <a:extLst xmlns:a="http://schemas.openxmlformats.org/drawingml/2006/main">
              <a:ext uri="{FF2B5EF4-FFF2-40B4-BE49-F238E27FC236}">
                <a16:creationId xmlns:a16="http://schemas.microsoft.com/office/drawing/2014/main" id="{8931EB3F-B3FB-4AEF-8102-3F4A14E4B9DB}"/>
              </a:ext>
            </a:extLst>
          </p:cNvPr>
          <p:cNvSpPr>
            <a:spLocks xmlns:a="http://schemas.openxmlformats.org/drawingml/2006/main" noGrp="1"/>
          </p:cNvSpPr>
          <p:nvPr/>
        </p:nvSpPr>
        <p:spPr>
          <a:xfrm xmlns:a="http://schemas.openxmlformats.org/drawingml/2006/main">
            <a:off x="1143000" y="3933825"/>
            <a:ext cx="5229225" cy="962025"/>
          </a:xfrm>
          <a:prstGeom xmlns:a="http://schemas.openxmlformats.org/drawingml/2006/main" prst="rect">
            <a:avLst/>
          </a:prstGeom>
          <a:solidFill xmlns:a="http://schemas.openxmlformats.org/drawingml/2006/main">
            <a:srgbClr val="FFFFFF"/>
          </a:solidFill>
          <a:ln xmlns:a="http://schemas.openxmlformats.org/drawingml/2006/main" w="14288">
            <a:solidFill>
              <a:srgbClr val="0033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Four existing M4 Macs</a:t>
            </a:r>
          </a:p>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Simulation, training, SOC and AI tools</a:t>
            </a:r>
          </a:p>
        </p:txBody>
      </p:sp>
      <p:cxnSp>
        <p:nvCxnSpPr>
          <p:cNvPr id="34" name=""/>
          <p:cNvCxnSpPr>
            <a:stCxn xmlns:a="http://schemas.openxmlformats.org/drawingml/2006/main" id="17" idx="3"/>
            <a:endCxn xmlns:a="http://schemas.openxmlformats.org/drawingml/2006/main" id="18" idx="1"/>
          </p:cNvCxnSpPr>
          <p:nvPr/>
        </p:nvCxnSpPr>
        <p:spPr>
          <a:xfrm xmlns:a="http://schemas.openxmlformats.org/drawingml/2006/main">
            <a:off x="3286125" y="2952750"/>
            <a:ext cx="657225" cy="0"/>
          </a:xfrm>
          <a:prstGeom xmlns:a="http://schemas.openxmlformats.org/drawingml/2006/main" prst="straightConnector1">
            <a:avLst/>
          </a:prstGeom>
          <a:ln xmlns:a="http://schemas.openxmlformats.org/drawingml/2006/main" w="19050">
            <a:solidFill>
              <a:srgbClr val="087E8B"/>
            </a:solidFill>
            <a:prstDash val="solid"/>
            <a:tailEnd type="triangle" w="sm" len="sm"/>
          </a:ln>
        </p:spPr>
      </p:cxnSp>
      <p:cxnSp>
        <p:nvCxnSpPr>
          <p:cNvPr id="35" name=""/>
          <p:cNvCxnSpPr>
            <a:stCxn xmlns:a="http://schemas.openxmlformats.org/drawingml/2006/main" id="18" idx="2"/>
            <a:endCxn xmlns:a="http://schemas.openxmlformats.org/drawingml/2006/main" id="19" idx="0"/>
          </p:cNvCxnSpPr>
          <p:nvPr/>
        </p:nvCxnSpPr>
        <p:spPr>
          <a:xfrm xmlns:a="http://schemas.openxmlformats.org/drawingml/2006/main" flipH="1">
            <a:off x="3757613" y="3381375"/>
            <a:ext cx="1400175" cy="552450"/>
          </a:xfrm>
          <a:prstGeom xmlns:a="http://schemas.openxmlformats.org/drawingml/2006/main" prst="bentConnector4">
            <a:avLst>
              <a:gd name="adj1" fmla="val 0"/>
              <a:gd name="adj2" fmla="val 50000"/>
            </a:avLst>
          </a:prstGeom>
          <a:ln xmlns:a="http://schemas.openxmlformats.org/drawingml/2006/main" w="19050">
            <a:solidFill>
              <a:srgbClr val="087E8B"/>
            </a:solidFill>
            <a:prstDash val="solid"/>
            <a:tailEnd type="triangle" w="sm" len="sm"/>
          </a:ln>
        </p:spPr>
      </p:cxnSp>
      <p:sp>
        <p:nvSpPr>
          <p:cNvPr id="22" name="text-46">
            <a:extLst xmlns:a="http://schemas.openxmlformats.org/drawingml/2006/main">
              <a:ext uri="{FF2B5EF4-FFF2-40B4-BE49-F238E27FC236}">
                <a16:creationId xmlns:a16="http://schemas.microsoft.com/office/drawing/2014/main" id="{1AE13335-E4DA-454C-8524-9A8E99BE2312}"/>
              </a:ext>
            </a:extLst>
          </p:cNvPr>
          <p:cNvSpPr>
            <a:spLocks xmlns:a="http://schemas.openxmlformats.org/drawingml/2006/main" noGrp="1"/>
          </p:cNvSpPr>
          <p:nvPr/>
        </p:nvSpPr>
        <p:spPr>
          <a:xfrm xmlns:a="http://schemas.openxmlformats.org/drawingml/2006/main">
            <a:off x="6943725" y="195262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345A"/>
                </a:solidFill>
                <a:latin typeface="Trebuchet MS"/>
                <a:ea typeface="Trebuchet MS"/>
                <a:cs typeface="Trebuchet MS"/>
              </a:defRPr>
            </a:pPr>
            <a:r>
              <a:rPr sz="2025" b="1">
                <a:solidFill>
                  <a:srgbClr val="20345A"/>
                </a:solidFill>
                <a:latin typeface="Trebuchet MS"/>
                <a:ea typeface="Trebuchet MS"/>
                <a:cs typeface="Trebuchet MS"/>
              </a:rPr>
              <a:t>Total team ceiling: INR 20,000</a:t>
            </a:r>
          </a:p>
        </p:txBody>
      </p:sp>
      <p:graphicFrame>
        <p:nvGraphicFramePr>
          <p:cNvPr id="37" name=""/>
          <p:cNvGraphicFramePr/>
          <p:nvPr/>
        </p:nvGraphicFramePr>
        <p:xfrm>
          <a:off xmlns:a="http://schemas.openxmlformats.org/drawingml/2006/main" x="6943725" y="2476500"/>
          <a:ext xmlns:a="http://schemas.openxmlformats.org/drawingml/2006/main" cx="4000500" cy="2476500"/>
        </p:xfrm>
        <a:graphic xmlns:a="http://schemas.openxmlformats.org/drawingml/2006/main">
          <a:graphicData uri="http://schemas.openxmlformats.org/drawingml/2006/table">
            <a:tbl>
              <a:tblPr firstRow="0" bandRow="0"/>
              <a:tblGrid>
                <a:gridCol w="2762250"/>
                <a:gridCol w="1238250"/>
              </a:tblGrid>
              <a:tr h="409575">
                <a:tc>
                  <a:txBody>
                    <a:bodyPr lIns="114300" tIns="76200" rIns="114300" bIns="76200">
                      <a:noAutofit/>
                    </a:bodyPr>
                    <a:lstStyle/>
                    <a:p>
                      <a:r>
                        <a:rPr sz="1725" b="0">
                          <a:solidFill>
                            <a:srgbClr val="20345A"/>
                          </a:solidFill>
                          <a:latin typeface="Trebuchet MS"/>
                          <a:ea typeface="Trebuchet MS"/>
                          <a:cs typeface="Trebuchet MS"/>
                        </a:rPr>
                        <a:t>Pi and essentials</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9,000</a:t>
                      </a:r>
                    </a:p>
                  </a:txBody>
                  <a:tcPr marL="91440" marR="91440" marT="45720" marB="45720" anchor="ctr">
                    <a:solidFill>
                      <a:srgbClr val="F4F8FC"/>
                    </a:solidFill>
                  </a:tcPr>
                </a:tc>
              </a:tr>
              <a:tr h="409575">
                <a:tc>
                  <a:txBody>
                    <a:bodyPr lIns="114300" tIns="76200" rIns="114300" bIns="76200">
                      <a:noAutofit/>
                    </a:bodyPr>
                    <a:lstStyle/>
                    <a:p>
                      <a:r>
                        <a:rPr sz="1725" b="0">
                          <a:solidFill>
                            <a:srgbClr val="20345A"/>
                          </a:solidFill>
                          <a:latin typeface="Trebuchet MS"/>
                          <a:ea typeface="Trebuchet MS"/>
                          <a:cs typeface="Trebuchet MS"/>
                        </a:rPr>
                        <a:t>CAN and bench</a:t>
                      </a:r>
                    </a:p>
                  </a:txBody>
                  <a:tcPr marL="91440" marR="91440" marT="45720" marB="45720" anchor="ctr">
                    <a:solidFill>
                      <a:srgbClr val="FFFFFF"/>
                    </a:solidFill>
                  </a:tcPr>
                </a:tc>
                <a:tc>
                  <a:txBody>
                    <a:bodyPr lIns="114300" tIns="76200" rIns="114300" bIns="76200">
                      <a:noAutofit/>
                    </a:bodyPr>
                    <a:lstStyle/>
                    <a:p>
                      <a:r>
                        <a:rPr sz="1725" b="0">
                          <a:solidFill>
                            <a:srgbClr val="20345A"/>
                          </a:solidFill>
                          <a:latin typeface="Trebuchet MS"/>
                          <a:ea typeface="Trebuchet MS"/>
                          <a:cs typeface="Trebuchet MS"/>
                        </a:rPr>
                        <a:t>4,000</a:t>
                      </a:r>
                    </a:p>
                  </a:txBody>
                  <a:tcPr marL="91440" marR="91440" marT="45720" marB="45720" anchor="ctr">
                    <a:solidFill>
                      <a:srgbClr val="FFFFFF"/>
                    </a:solidFill>
                  </a:tcPr>
                </a:tc>
              </a:tr>
              <a:tr h="409575">
                <a:tc>
                  <a:txBody>
                    <a:bodyPr lIns="114300" tIns="76200" rIns="114300" bIns="76200">
                      <a:noAutofit/>
                    </a:bodyPr>
                    <a:lstStyle/>
                    <a:p>
                      <a:r>
                        <a:rPr sz="1725" b="0">
                          <a:solidFill>
                            <a:srgbClr val="20345A"/>
                          </a:solidFill>
                          <a:latin typeface="Trebuchet MS"/>
                          <a:ea typeface="Trebuchet MS"/>
                          <a:cs typeface="Trebuchet MS"/>
                        </a:rPr>
                        <a:t>Storage / cables</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2,000</a:t>
                      </a:r>
                    </a:p>
                  </a:txBody>
                  <a:tcPr marL="91440" marR="91440" marT="45720" marB="45720" anchor="ctr">
                    <a:solidFill>
                      <a:srgbClr val="F4F8FC"/>
                    </a:solidFill>
                  </a:tcPr>
                </a:tc>
              </a:tr>
              <a:tr h="409575">
                <a:tc>
                  <a:txBody>
                    <a:bodyPr lIns="114300" tIns="76200" rIns="114300" bIns="76200">
                      <a:noAutofit/>
                    </a:bodyPr>
                    <a:lstStyle/>
                    <a:p>
                      <a:r>
                        <a:rPr sz="1725" b="0">
                          <a:solidFill>
                            <a:srgbClr val="20345A"/>
                          </a:solidFill>
                          <a:latin typeface="Trebuchet MS"/>
                          <a:ea typeface="Trebuchet MS"/>
                          <a:cs typeface="Trebuchet MS"/>
                        </a:rPr>
                        <a:t>API / testing</a:t>
                      </a:r>
                    </a:p>
                  </a:txBody>
                  <a:tcPr marL="91440" marR="91440" marT="45720" marB="45720" anchor="ctr">
                    <a:solidFill>
                      <a:srgbClr val="FFFFFF"/>
                    </a:solidFill>
                  </a:tcPr>
                </a:tc>
                <a:tc>
                  <a:txBody>
                    <a:bodyPr lIns="114300" tIns="76200" rIns="114300" bIns="76200">
                      <a:noAutofit/>
                    </a:bodyPr>
                    <a:lstStyle/>
                    <a:p>
                      <a:r>
                        <a:rPr sz="1725" b="0">
                          <a:solidFill>
                            <a:srgbClr val="20345A"/>
                          </a:solidFill>
                          <a:latin typeface="Trebuchet MS"/>
                          <a:ea typeface="Trebuchet MS"/>
                          <a:cs typeface="Trebuchet MS"/>
                        </a:rPr>
                        <a:t>2,000</a:t>
                      </a:r>
                    </a:p>
                  </a:txBody>
                  <a:tcPr marL="91440" marR="91440" marT="45720" marB="45720" anchor="ctr">
                    <a:solidFill>
                      <a:srgbClr val="FFFFFF"/>
                    </a:solidFill>
                  </a:tcPr>
                </a:tc>
              </a:tr>
              <a:tr h="409575">
                <a:tc>
                  <a:txBody>
                    <a:bodyPr lIns="114300" tIns="76200" rIns="114300" bIns="76200">
                      <a:noAutofit/>
                    </a:bodyPr>
                    <a:lstStyle/>
                    <a:p>
                      <a:r>
                        <a:rPr sz="1725" b="0">
                          <a:solidFill>
                            <a:srgbClr val="20345A"/>
                          </a:solidFill>
                          <a:latin typeface="Trebuchet MS"/>
                          <a:ea typeface="Trebuchet MS"/>
                          <a:cs typeface="Trebuchet MS"/>
                        </a:rPr>
                        <a:t>Contingency</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3,000</a:t>
                      </a:r>
                    </a:p>
                  </a:txBody>
                  <a:tcPr marL="91440" marR="91440" marT="45720" marB="45720" anchor="ctr">
                    <a:solidFill>
                      <a:srgbClr val="F4F8FC"/>
                    </a:solidFill>
                  </a:tcPr>
                </a:tc>
              </a:tr>
              <a:tr h="428625">
                <a:tc>
                  <a:txBody>
                    <a:bodyPr lIns="114300" tIns="76200" rIns="114300" bIns="76200">
                      <a:noAutofit/>
                    </a:bodyPr>
                    <a:lstStyle/>
                    <a:p>
                      <a:r>
                        <a:rPr sz="1725" b="1">
                          <a:solidFill>
                            <a:srgbClr val="FFFFFF"/>
                          </a:solidFill>
                          <a:latin typeface="Trebuchet MS"/>
                          <a:ea typeface="Trebuchet MS"/>
                          <a:cs typeface="Trebuchet MS"/>
                        </a:rPr>
                        <a:t>Total (INR)</a:t>
                      </a:r>
                    </a:p>
                  </a:txBody>
                  <a:tcPr marL="91440" marR="91440" marT="45720" marB="45720" anchor="ctr">
                    <a:solidFill>
                      <a:srgbClr val="20345A"/>
                    </a:solidFill>
                  </a:tcPr>
                </a:tc>
                <a:tc>
                  <a:txBody>
                    <a:bodyPr lIns="114300" tIns="76200" rIns="114300" bIns="76200">
                      <a:noAutofit/>
                    </a:bodyPr>
                    <a:lstStyle/>
                    <a:p>
                      <a:r>
                        <a:rPr sz="1725" b="1">
                          <a:solidFill>
                            <a:srgbClr val="FFFFFF"/>
                          </a:solidFill>
                          <a:latin typeface="Trebuchet MS"/>
                          <a:ea typeface="Trebuchet MS"/>
                          <a:cs typeface="Trebuchet MS"/>
                        </a:rPr>
                        <a:t>20,000</a:t>
                      </a:r>
                    </a:p>
                  </a:txBody>
                  <a:tcPr marL="91440" marR="91440" marT="45720" marB="45720" anchor="ctr">
                    <a:solidFill>
                      <a:srgbClr val="20345A"/>
                    </a:solidFill>
                  </a:tcPr>
                </a:tc>
              </a:tr>
            </a:tbl>
          </a:graphicData>
        </a:graphic>
      </p:graphicFrame>
      <p:sp>
        <p:nvSpPr>
          <p:cNvPr id="24" name="text-47">
            <a:extLst xmlns:a="http://schemas.openxmlformats.org/drawingml/2006/main">
              <a:ext uri="{FF2B5EF4-FFF2-40B4-BE49-F238E27FC236}">
                <a16:creationId xmlns:a16="http://schemas.microsoft.com/office/drawing/2014/main" id="{D7CCDAF1-6E65-4F66-BE6D-DDA6118E1CBC}"/>
              </a:ext>
            </a:extLst>
          </p:cNvPr>
          <p:cNvSpPr>
            <a:spLocks xmlns:a="http://schemas.openxmlformats.org/drawingml/2006/main" noGrp="1"/>
          </p:cNvSpPr>
          <p:nvPr/>
        </p:nvSpPr>
        <p:spPr>
          <a:xfrm xmlns:a="http://schemas.openxmlformats.org/drawingml/2006/main">
            <a:off x="6943725" y="50387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27A"/>
                </a:solidFill>
                <a:latin typeface="Trebuchet MS"/>
                <a:ea typeface="Trebuchet MS"/>
                <a:cs typeface="Trebuchet MS"/>
              </a:defRPr>
            </a:pPr>
            <a:r>
              <a:rPr sz="1350" b="0">
                <a:solidFill>
                  <a:srgbClr val="53627A"/>
                </a:solidFill>
                <a:latin typeface="Trebuchet MS"/>
                <a:ea typeface="Trebuchet MS"/>
                <a:cs typeface="Trebuchet MS"/>
              </a:rPr>
              <a:t>Planning allocations, subject to quotations</a:t>
            </a:r>
          </a:p>
        </p:txBody>
      </p:sp>
      <p:sp>
        <p:nvSpPr>
          <p:cNvPr id="25" name="text-48">
            <a:extLst xmlns:a="http://schemas.openxmlformats.org/drawingml/2006/main">
              <a:ext uri="{FF2B5EF4-FFF2-40B4-BE49-F238E27FC236}">
                <a16:creationId xmlns:a16="http://schemas.microsoft.com/office/drawing/2014/main" id="{85BB99A2-DAEB-4385-94E8-1BEB57DBA5B5}"/>
              </a:ext>
            </a:extLst>
          </p:cNvPr>
          <p:cNvSpPr>
            <a:spLocks xmlns:a="http://schemas.openxmlformats.org/drawingml/2006/main" noGrp="1"/>
          </p:cNvSpPr>
          <p:nvPr/>
        </p:nvSpPr>
        <p:spPr>
          <a:xfrm xmlns:a="http://schemas.openxmlformats.org/drawingml/2006/main">
            <a:off x="1143000" y="53054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45A"/>
                </a:solidFill>
                <a:latin typeface="Trebuchet MS"/>
                <a:ea typeface="Trebuchet MS"/>
                <a:cs typeface="Trebuchet MS"/>
              </a:defRPr>
            </a:pPr>
            <a:r>
              <a:rPr sz="1875" b="0">
                <a:solidFill>
                  <a:srgbClr val="20345A"/>
                </a:solidFill>
                <a:latin typeface="Trebuchet MS"/>
                <a:ea typeface="Trebuchet MS"/>
                <a:cs typeface="Trebuchet MS"/>
              </a:rPr>
              <a:t>Sparse fleet: local-only verdicts</a:t>
            </a:r>
          </a:p>
          <a:p xmlns:a="http://schemas.openxmlformats.org/drawingml/2006/main">
            <a:pPr algn="l">
              <a:defRPr sz="1875" b="0">
                <a:solidFill>
                  <a:srgbClr val="20345A"/>
                </a:solidFill>
                <a:latin typeface="Trebuchet MS"/>
                <a:ea typeface="Trebuchet MS"/>
                <a:cs typeface="Trebuchet MS"/>
              </a:defRPr>
            </a:pPr>
            <a:r>
              <a:rPr sz="1875" b="0">
                <a:solidFill>
                  <a:srgbClr val="20345A"/>
                </a:solidFill>
                <a:latin typeface="Trebuchet MS"/>
                <a:ea typeface="Trebuchet MS"/>
                <a:cs typeface="Trebuchet MS"/>
              </a:rPr>
              <a:t>API outage: queue AI investigations</a:t>
            </a:r>
          </a:p>
        </p:txBody>
      </p:sp>
      <p:sp>
        <p:nvSpPr>
          <p:cNvPr id="26" name="text-49">
            <a:extLst xmlns:a="http://schemas.openxmlformats.org/drawingml/2006/main">
              <a:ext uri="{FF2B5EF4-FFF2-40B4-BE49-F238E27FC236}">
                <a16:creationId xmlns:a16="http://schemas.microsoft.com/office/drawing/2014/main" id="{B561D3B1-0698-4E44-888E-981F4626088E}"/>
              </a:ext>
            </a:extLst>
          </p:cNvPr>
          <p:cNvSpPr>
            <a:spLocks xmlns:a="http://schemas.openxmlformats.org/drawingml/2006/main" noGrp="1"/>
          </p:cNvSpPr>
          <p:nvPr/>
        </p:nvSpPr>
        <p:spPr>
          <a:xfrm xmlns:a="http://schemas.openxmlformats.org/drawingml/2006/main">
            <a:off x="6943725" y="5495925"/>
            <a:ext cx="4000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45A"/>
                </a:solidFill>
                <a:latin typeface="Trebuchet MS"/>
                <a:ea typeface="Trebuchet MS"/>
                <a:cs typeface="Trebuchet MS"/>
              </a:defRPr>
            </a:pPr>
            <a:r>
              <a:rPr sz="1875" b="0">
                <a:solidFill>
                  <a:srgbClr val="20345A"/>
                </a:solidFill>
                <a:latin typeface="Trebuchet MS"/>
                <a:ea typeface="Trebuchet MS"/>
                <a:cs typeface="Trebuchet MS"/>
              </a:rPr>
              <a:t>Experimental validation</a:t>
            </a:r>
          </a:p>
          <a:p xmlns:a="http://schemas.openxmlformats.org/drawingml/2006/main">
            <a:pPr algn="l">
              <a:defRPr sz="1875" b="0">
                <a:solidFill>
                  <a:srgbClr val="20345A"/>
                </a:solidFill>
                <a:latin typeface="Trebuchet MS"/>
                <a:ea typeface="Trebuchet MS"/>
                <a:cs typeface="Trebuchet MS"/>
              </a:defRPr>
            </a:pPr>
            <a:r>
              <a:rPr sz="1875" b="0">
                <a:solidFill>
                  <a:srgbClr val="20345A"/>
                </a:solidFill>
                <a:latin typeface="Trebuchet MS"/>
                <a:ea typeface="Trebuchet MS"/>
                <a:cs typeface="Trebuchet MS"/>
              </a:rPr>
              <a:t>Human-reviewed responses only</a:t>
            </a:r>
          </a:p>
        </p:txBody>
      </p:sp>
    </p:spTree>
    <p:extLst>
      <p:ext uri="{BB962C8B-B14F-4D97-AF65-F5344CB8AC3E}">
        <p14:creationId xmlns:p14="http://schemas.microsoft.com/office/powerpoint/2010/main" val="42053692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DE1DE256-78BF-9303-91B3-73AAF4694F89}"/>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850EEB4A-C33A-37D8-561C-B5D841D91C07}"/>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Background</a:t>
            </a:r>
            <a:endParaRPr sz="2400">
              <a:solidFill>
                <a:srgbClr val="FF0000"/>
              </a:solidFill>
              <a:latin typeface="Trebuchet MS"/>
              <a:ea typeface="Trebuchet MS"/>
              <a:cs typeface="Trebuchet MS"/>
            </a:endParaRPr>
          </a:p>
        </p:txBody>
      </p:sp>
      <p:sp>
        <p:nvSpPr>
          <p:cNvPr id="15" name="text-50">
            <a:extLst xmlns:a="http://schemas.openxmlformats.org/drawingml/2006/main">
              <a:ext uri="{FF2B5EF4-FFF2-40B4-BE49-F238E27FC236}">
                <a16:creationId xmlns:a16="http://schemas.microsoft.com/office/drawing/2014/main" id="{F0FAB3DA-7809-4A36-B710-81B9EE74C85B}"/>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05</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32ff9e28e6445b7"/>
          <a:stretch xmlns:a="http://schemas.openxmlformats.org/drawingml/2006/main"/>
        </p:blipFill>
        <p:spPr>
          <a:xfrm xmlns:a="http://schemas.openxmlformats.org/drawingml/2006/main">
            <a:off x="4610100" y="1962150"/>
            <a:ext cx="6286500" cy="4191000"/>
          </a:xfrm>
          <a:prstGeom xmlns:a="http://schemas.openxmlformats.org/drawingml/2006/main" prst="rect">
            <a:avLst/>
          </a:prstGeom>
        </p:spPr>
      </p:pic>
      <p:sp>
        <p:nvSpPr>
          <p:cNvPr id="17" name="text-51">
            <a:extLst xmlns:a="http://schemas.openxmlformats.org/drawingml/2006/main">
              <a:ext uri="{FF2B5EF4-FFF2-40B4-BE49-F238E27FC236}">
                <a16:creationId xmlns:a16="http://schemas.microsoft.com/office/drawing/2014/main" id="{28472196-3FD2-4A86-82A8-EF4756876221}"/>
              </a:ext>
            </a:extLst>
          </p:cNvPr>
          <p:cNvSpPr>
            <a:spLocks xmlns:a="http://schemas.openxmlformats.org/drawingml/2006/main" noGrp="1"/>
          </p:cNvSpPr>
          <p:nvPr/>
        </p:nvSpPr>
        <p:spPr>
          <a:xfrm xmlns:a="http://schemas.openxmlformats.org/drawingml/2006/main">
            <a:off x="1143000" y="22098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33CC"/>
                </a:solidFill>
                <a:latin typeface="Trebuchet MS"/>
                <a:ea typeface="Trebuchet MS"/>
                <a:cs typeface="Trebuchet MS"/>
              </a:defRPr>
            </a:pPr>
            <a:r>
              <a:rPr sz="2550" b="1">
                <a:solidFill>
                  <a:srgbClr val="0033CC"/>
                </a:solidFill>
                <a:latin typeface="Trebuchet MS"/>
                <a:ea typeface="Trebuchet MS"/>
                <a:cs typeface="Trebuchet MS"/>
              </a:rPr>
              <a:t>CAN</a:t>
            </a:r>
          </a:p>
        </p:txBody>
      </p:sp>
      <p:sp>
        <p:nvSpPr>
          <p:cNvPr id="18" name="text-52">
            <a:extLst xmlns:a="http://schemas.openxmlformats.org/drawingml/2006/main">
              <a:ext uri="{FF2B5EF4-FFF2-40B4-BE49-F238E27FC236}">
                <a16:creationId xmlns:a16="http://schemas.microsoft.com/office/drawing/2014/main" id="{AC02420F-BACC-418B-8306-C5F7B4936A62}"/>
              </a:ext>
            </a:extLst>
          </p:cNvPr>
          <p:cNvSpPr>
            <a:spLocks xmlns:a="http://schemas.openxmlformats.org/drawingml/2006/main" noGrp="1"/>
          </p:cNvSpPr>
          <p:nvPr/>
        </p:nvSpPr>
        <p:spPr>
          <a:xfrm xmlns:a="http://schemas.openxmlformats.org/drawingml/2006/main">
            <a:off x="1143000" y="2695575"/>
            <a:ext cx="304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45A"/>
                </a:solidFill>
                <a:latin typeface="Trebuchet MS"/>
                <a:ea typeface="Trebuchet MS"/>
                <a:cs typeface="Trebuchet MS"/>
              </a:defRPr>
            </a:pPr>
            <a:r>
              <a:rPr sz="1950" b="0">
                <a:solidFill>
                  <a:srgbClr val="20345A"/>
                </a:solidFill>
                <a:latin typeface="Trebuchet MS"/>
                <a:ea typeface="Trebuchet MS"/>
                <a:cs typeface="Trebuchet MS"/>
              </a:rPr>
              <a:t>Internal control traffic</a:t>
            </a:r>
          </a:p>
          <a:p xmlns:a="http://schemas.openxmlformats.org/drawingml/2006/main">
            <a:pPr algn="l">
              <a:defRPr sz="1950" b="0">
                <a:solidFill>
                  <a:srgbClr val="20345A"/>
                </a:solidFill>
                <a:latin typeface="Trebuchet MS"/>
                <a:ea typeface="Trebuchet MS"/>
                <a:cs typeface="Trebuchet MS"/>
              </a:defRPr>
            </a:pPr>
            <a:r>
              <a:rPr sz="1950" b="0">
                <a:solidFill>
                  <a:srgbClr val="20345A"/>
                </a:solidFill>
                <a:latin typeface="Trebuchet MS"/>
                <a:ea typeface="Trebuchet MS"/>
                <a:cs typeface="Trebuchet MS"/>
              </a:rPr>
              <a:t>ECUs and vehicle signals</a:t>
            </a:r>
          </a:p>
        </p:txBody>
      </p:sp>
      <p:sp>
        <p:nvSpPr>
          <p:cNvPr id="19" name="text-53">
            <a:extLst xmlns:a="http://schemas.openxmlformats.org/drawingml/2006/main">
              <a:ext uri="{FF2B5EF4-FFF2-40B4-BE49-F238E27FC236}">
                <a16:creationId xmlns:a16="http://schemas.microsoft.com/office/drawing/2014/main" id="{096E1722-EB90-48D3-8C13-5BA59D30A152}"/>
              </a:ext>
            </a:extLst>
          </p:cNvPr>
          <p:cNvSpPr>
            <a:spLocks xmlns:a="http://schemas.openxmlformats.org/drawingml/2006/main" noGrp="1"/>
          </p:cNvSpPr>
          <p:nvPr/>
        </p:nvSpPr>
        <p:spPr>
          <a:xfrm xmlns:a="http://schemas.openxmlformats.org/drawingml/2006/main">
            <a:off x="1143000" y="359092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33CC"/>
                </a:solidFill>
                <a:latin typeface="Trebuchet MS"/>
                <a:ea typeface="Trebuchet MS"/>
                <a:cs typeface="Trebuchet MS"/>
              </a:defRPr>
            </a:pPr>
            <a:r>
              <a:rPr sz="2550" b="1">
                <a:solidFill>
                  <a:srgbClr val="0033CC"/>
                </a:solidFill>
                <a:latin typeface="Trebuchet MS"/>
                <a:ea typeface="Trebuchet MS"/>
                <a:cs typeface="Trebuchet MS"/>
              </a:rPr>
              <a:t>V2X</a:t>
            </a:r>
          </a:p>
        </p:txBody>
      </p:sp>
      <p:sp>
        <p:nvSpPr>
          <p:cNvPr id="20" name="text-54">
            <a:extLst xmlns:a="http://schemas.openxmlformats.org/drawingml/2006/main">
              <a:ext uri="{FF2B5EF4-FFF2-40B4-BE49-F238E27FC236}">
                <a16:creationId xmlns:a16="http://schemas.microsoft.com/office/drawing/2014/main" id="{9F1E6562-2CA3-4CB5-80E4-ACDC85E9208D}"/>
              </a:ext>
            </a:extLst>
          </p:cNvPr>
          <p:cNvSpPr>
            <a:spLocks xmlns:a="http://schemas.openxmlformats.org/drawingml/2006/main" noGrp="1"/>
          </p:cNvSpPr>
          <p:nvPr/>
        </p:nvSpPr>
        <p:spPr>
          <a:xfrm xmlns:a="http://schemas.openxmlformats.org/drawingml/2006/main">
            <a:off x="1143000" y="4076700"/>
            <a:ext cx="3209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45A"/>
                </a:solidFill>
                <a:latin typeface="Trebuchet MS"/>
                <a:ea typeface="Trebuchet MS"/>
                <a:cs typeface="Trebuchet MS"/>
              </a:defRPr>
            </a:pPr>
            <a:r>
              <a:rPr sz="1950" b="0">
                <a:solidFill>
                  <a:srgbClr val="20345A"/>
                </a:solidFill>
                <a:latin typeface="Trebuchet MS"/>
                <a:ea typeface="Trebuchet MS"/>
                <a:cs typeface="Trebuchet MS"/>
              </a:rPr>
              <a:t>External cooperation</a:t>
            </a:r>
          </a:p>
          <a:p xmlns:a="http://schemas.openxmlformats.org/drawingml/2006/main">
            <a:pPr algn="l">
              <a:defRPr sz="1950" b="0">
                <a:solidFill>
                  <a:srgbClr val="20345A"/>
                </a:solidFill>
                <a:latin typeface="Trebuchet MS"/>
                <a:ea typeface="Trebuchet MS"/>
                <a:cs typeface="Trebuchet MS"/>
              </a:defRPr>
            </a:pPr>
            <a:r>
              <a:rPr sz="1950" b="0">
                <a:solidFill>
                  <a:srgbClr val="20345A"/>
                </a:solidFill>
                <a:latin typeface="Trebuchet MS"/>
                <a:ea typeface="Trebuchet MS"/>
                <a:cs typeface="Trebuchet MS"/>
              </a:rPr>
              <a:t>Vehicle and roadside messages</a:t>
            </a:r>
          </a:p>
        </p:txBody>
      </p:sp>
      <p:sp>
        <p:nvSpPr>
          <p:cNvPr id="21" name="text-55">
            <a:extLst xmlns:a="http://schemas.openxmlformats.org/drawingml/2006/main">
              <a:ext uri="{FF2B5EF4-FFF2-40B4-BE49-F238E27FC236}">
                <a16:creationId xmlns:a16="http://schemas.microsoft.com/office/drawing/2014/main" id="{96A3AAD9-6A99-46D6-AD35-4D8D1552D38E}"/>
              </a:ext>
            </a:extLst>
          </p:cNvPr>
          <p:cNvSpPr>
            <a:spLocks xmlns:a="http://schemas.openxmlformats.org/drawingml/2006/main" noGrp="1"/>
          </p:cNvSpPr>
          <p:nvPr/>
        </p:nvSpPr>
        <p:spPr>
          <a:xfrm xmlns:a="http://schemas.openxmlformats.org/drawingml/2006/main">
            <a:off x="1143000" y="5276850"/>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45A"/>
                </a:solidFill>
                <a:latin typeface="Trebuchet MS"/>
                <a:ea typeface="Trebuchet MS"/>
                <a:cs typeface="Trebuchet MS"/>
              </a:defRPr>
            </a:pPr>
            <a:r>
              <a:rPr sz="1950" b="0">
                <a:solidFill>
                  <a:srgbClr val="20345A"/>
                </a:solidFill>
                <a:latin typeface="Trebuchet MS"/>
                <a:ea typeface="Trebuchet MS"/>
                <a:cs typeface="Trebuchet MS"/>
              </a:rPr>
              <a:t>Both layers can change</a:t>
            </a:r>
          </a:p>
          <a:p xmlns:a="http://schemas.openxmlformats.org/drawingml/2006/main">
            <a:pPr algn="l">
              <a:defRPr sz="1950" b="0">
                <a:solidFill>
                  <a:srgbClr val="20345A"/>
                </a:solidFill>
                <a:latin typeface="Trebuchet MS"/>
                <a:ea typeface="Trebuchet MS"/>
                <a:cs typeface="Trebuchet MS"/>
              </a:defRPr>
            </a:pPr>
            <a:r>
              <a:rPr sz="1950" b="0">
                <a:solidFill>
                  <a:srgbClr val="20345A"/>
                </a:solidFill>
                <a:latin typeface="Trebuchet MS"/>
                <a:ea typeface="Trebuchet MS"/>
                <a:cs typeface="Trebuchet MS"/>
              </a:rPr>
              <a:t>for legitimate or adversarial reasons.</a:t>
            </a:r>
          </a:p>
        </p:txBody>
      </p:sp>
      <p:sp>
        <p:nvSpPr>
          <p:cNvPr id="22" name="text-56">
            <a:extLst xmlns:a="http://schemas.openxmlformats.org/drawingml/2006/main">
              <a:ext uri="{FF2B5EF4-FFF2-40B4-BE49-F238E27FC236}">
                <a16:creationId xmlns:a16="http://schemas.microsoft.com/office/drawing/2014/main" id="{708B37B9-513F-49B0-9B05-82CCC43A4489}"/>
              </a:ext>
            </a:extLst>
          </p:cNvPr>
          <p:cNvSpPr>
            <a:spLocks xmlns:a="http://schemas.openxmlformats.org/drawingml/2006/main" noGrp="1"/>
          </p:cNvSpPr>
          <p:nvPr/>
        </p:nvSpPr>
        <p:spPr>
          <a:xfrm xmlns:a="http://schemas.openxmlformats.org/drawingml/2006/main">
            <a:off x="8420100" y="60769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3627A"/>
                </a:solidFill>
                <a:latin typeface="Trebuchet MS"/>
                <a:ea typeface="Trebuchet MS"/>
                <a:cs typeface="Trebuchet MS"/>
              </a:defRPr>
            </a:pPr>
            <a:r>
              <a:rPr sz="1275" b="0">
                <a:solidFill>
                  <a:srgbClr val="53627A"/>
                </a:solidFill>
                <a:latin typeface="Trebuchet MS"/>
                <a:ea typeface="Trebuchet MS"/>
                <a:cs typeface="Trebuchet MS"/>
              </a:rPr>
              <a:t>Conceptual illustration</a:t>
            </a:r>
          </a:p>
        </p:txBody>
      </p:sp>
    </p:spTree>
    <p:extLst>
      <p:ext uri="{BB962C8B-B14F-4D97-AF65-F5344CB8AC3E}">
        <p14:creationId xmlns:p14="http://schemas.microsoft.com/office/powerpoint/2010/main" val="27150365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DE1DE256-78BF-9303-91B3-73AAF4694F89}"/>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850EEB4A-C33A-37D8-561C-B5D841D91C07}"/>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Background Work and Research Gap</a:t>
            </a:r>
            <a:endParaRPr sz="2400">
              <a:solidFill>
                <a:srgbClr val="FF0000"/>
              </a:solidFill>
              <a:latin typeface="Trebuchet MS"/>
              <a:ea typeface="Trebuchet MS"/>
              <a:cs typeface="Trebuchet MS"/>
            </a:endParaRPr>
          </a:p>
        </p:txBody>
      </p:sp>
      <p:sp>
        <p:nvSpPr>
          <p:cNvPr id="15" name="text-57">
            <a:extLst xmlns:a="http://schemas.openxmlformats.org/drawingml/2006/main">
              <a:ext uri="{FF2B5EF4-FFF2-40B4-BE49-F238E27FC236}">
                <a16:creationId xmlns:a16="http://schemas.microsoft.com/office/drawing/2014/main" id="{A947053D-F622-4924-9C2F-9A8C85AB09AF}"/>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06</a:t>
            </a:r>
          </a:p>
        </p:txBody>
      </p:sp>
      <p:graphicFrame>
        <p:nvGraphicFramePr>
          <p:cNvPr id="21" name=""/>
          <p:cNvGraphicFramePr/>
          <p:nvPr/>
        </p:nvGraphicFramePr>
        <p:xfrm>
          <a:off xmlns:a="http://schemas.openxmlformats.org/drawingml/2006/main" x="1143000" y="2028825"/>
          <a:ext xmlns:a="http://schemas.openxmlformats.org/drawingml/2006/main" cx="9906000" cy="3533775"/>
        </p:xfrm>
        <a:graphic xmlns:a="http://schemas.openxmlformats.org/drawingml/2006/main">
          <a:graphicData uri="http://schemas.openxmlformats.org/drawingml/2006/table">
            <a:tbl>
              <a:tblPr firstRow="1" bandRow="0"/>
              <a:tblGrid>
                <a:gridCol w="3286125"/>
                <a:gridCol w="2905125"/>
                <a:gridCol w="3714750"/>
              </a:tblGrid>
              <a:tr h="438150">
                <a:tc>
                  <a:txBody>
                    <a:bodyPr lIns="114300" tIns="76200" rIns="114300" bIns="76200">
                      <a:noAutofit/>
                    </a:bodyPr>
                    <a:lstStyle/>
                    <a:p>
                      <a:r>
                        <a:rPr sz="1575" b="1">
                          <a:solidFill>
                            <a:srgbClr val="FFFFFF"/>
                          </a:solidFill>
                          <a:latin typeface="Trebuchet MS"/>
                          <a:ea typeface="Trebuchet MS"/>
                          <a:cs typeface="Trebuchet MS"/>
                        </a:rPr>
                        <a:t>Prior work</a:t>
                      </a:r>
                    </a:p>
                  </a:txBody>
                  <a:tcPr marL="91440" marR="91440" marT="45720" marB="45720" anchor="ctr">
                    <a:solidFill>
                      <a:srgbClr val="20345A"/>
                    </a:solidFill>
                  </a:tcPr>
                </a:tc>
                <a:tc>
                  <a:txBody>
                    <a:bodyPr lIns="114300" tIns="76200" rIns="114300" bIns="76200">
                      <a:noAutofit/>
                    </a:bodyPr>
                    <a:lstStyle/>
                    <a:p>
                      <a:r>
                        <a:rPr sz="1575" b="1">
                          <a:solidFill>
                            <a:srgbClr val="FFFFFF"/>
                          </a:solidFill>
                          <a:latin typeface="Trebuchet MS"/>
                          <a:ea typeface="Trebuchet MS"/>
                          <a:cs typeface="Trebuchet MS"/>
                        </a:rPr>
                        <a:t>Established contribution</a:t>
                      </a:r>
                    </a:p>
                  </a:txBody>
                  <a:tcPr marL="91440" marR="91440" marT="45720" marB="45720" anchor="ctr">
                    <a:solidFill>
                      <a:srgbClr val="20345A"/>
                    </a:solidFill>
                  </a:tcPr>
                </a:tc>
                <a:tc>
                  <a:txBody>
                    <a:bodyPr lIns="114300" tIns="76200" rIns="114300" bIns="76200">
                      <a:noAutofit/>
                    </a:bodyPr>
                    <a:lstStyle/>
                    <a:p>
                      <a:r>
                        <a:rPr sz="1575" b="1">
                          <a:solidFill>
                            <a:srgbClr val="FFFFFF"/>
                          </a:solidFill>
                          <a:latin typeface="Trebuchet MS"/>
                          <a:ea typeface="Trebuchet MS"/>
                          <a:cs typeface="Trebuchet MS"/>
                        </a:rPr>
                        <a:t>VerdictTrace evaluation focus</a:t>
                      </a:r>
                    </a:p>
                  </a:txBody>
                  <a:tcPr marL="91440" marR="91440" marT="45720" marB="45720" anchor="ctr">
                    <a:solidFill>
                      <a:srgbClr val="20345A"/>
                    </a:solidFill>
                  </a:tcPr>
                </a:tc>
              </a:tr>
              <a:tr h="619125">
                <a:tc>
                  <a:txBody>
                    <a:bodyPr lIns="114300" tIns="76200" rIns="114300" bIns="76200">
                      <a:noAutofit/>
                    </a:bodyPr>
                    <a:lstStyle/>
                    <a:p>
                      <a:r>
                        <a:rPr sz="1575" b="0">
                          <a:solidFill>
                            <a:srgbClr val="20345A"/>
                          </a:solidFill>
                          <a:latin typeface="Trebuchet MS"/>
                          <a:ea typeface="Trebuchet MS"/>
                          <a:cs typeface="Trebuchet MS"/>
                        </a:rPr>
                        <a:t>CND-IDS [1]</a:t>
                      </a:r>
                    </a:p>
                    <a:p>
                      <a:r>
                        <a:rPr sz="1575" b="0">
                          <a:solidFill>
                            <a:srgbClr val="20345A"/>
                          </a:solidFill>
                          <a:latin typeface="Trebuchet MS"/>
                          <a:ea typeface="Trebuchet MS"/>
                          <a:cs typeface="Trebuchet MS"/>
                        </a:rPr>
                        <a:t>IEEE/ACM DAC, 2025</a:t>
                      </a:r>
                    </a:p>
                  </a:txBody>
                  <a:tcPr marL="91440" marR="91440" marT="45720" marB="45720" anchor="ctr">
                    <a:solidFill>
                      <a:srgbClr val="FFFFFF"/>
                    </a:solidFill>
                  </a:tcPr>
                </a:tc>
                <a:tc>
                  <a:txBody>
                    <a:bodyPr lIns="114300" tIns="76200" rIns="114300" bIns="76200">
                      <a:noAutofit/>
                    </a:bodyPr>
                    <a:lstStyle/>
                    <a:p>
                      <a:r>
                        <a:rPr sz="1575" b="0">
                          <a:solidFill>
                            <a:srgbClr val="20345A"/>
                          </a:solidFill>
                          <a:latin typeface="Trebuchet MS"/>
                          <a:ea typeface="Trebuchet MS"/>
                          <a:cs typeface="Trebuchet MS"/>
                        </a:rPr>
                        <a:t>Continual novelty</a:t>
                      </a:r>
                    </a:p>
                    <a:p>
                      <a:r>
                        <a:rPr sz="1575" b="0">
                          <a:solidFill>
                            <a:srgbClr val="20345A"/>
                          </a:solidFill>
                          <a:latin typeface="Trebuchet MS"/>
                          <a:ea typeface="Trebuchet MS"/>
                          <a:cs typeface="Trebuchet MS"/>
                        </a:rPr>
                        <a:t>detection</a:t>
                      </a:r>
                    </a:p>
                  </a:txBody>
                  <a:tcPr marL="91440" marR="91440" marT="45720" marB="45720" anchor="ctr">
                    <a:solidFill>
                      <a:srgbClr val="FFFFFF"/>
                    </a:solidFill>
                  </a:tcPr>
                </a:tc>
                <a:tc>
                  <a:txBody>
                    <a:bodyPr lIns="114300" tIns="76200" rIns="114300" bIns="76200">
                      <a:noAutofit/>
                    </a:bodyPr>
                    <a:lstStyle/>
                    <a:p>
                      <a:r>
                        <a:rPr sz="1575" b="0">
                          <a:solidFill>
                            <a:srgbClr val="20345A"/>
                          </a:solidFill>
                          <a:latin typeface="Trebuchet MS"/>
                          <a:ea typeface="Trebuchet MS"/>
                          <a:cs typeface="Trebuchet MS"/>
                        </a:rPr>
                        <a:t>Cause-labeled benign /</a:t>
                      </a:r>
                    </a:p>
                    <a:p>
                      <a:r>
                        <a:rPr sz="1575" b="0">
                          <a:solidFill>
                            <a:srgbClr val="20345A"/>
                          </a:solidFill>
                          <a:latin typeface="Trebuchet MS"/>
                          <a:ea typeface="Trebuchet MS"/>
                          <a:cs typeface="Trebuchet MS"/>
                        </a:rPr>
                        <a:t>suspicious drift</a:t>
                      </a:r>
                    </a:p>
                  </a:txBody>
                  <a:tcPr marL="91440" marR="91440" marT="45720" marB="45720" anchor="ctr">
                    <a:solidFill>
                      <a:srgbClr val="FFFFFF"/>
                    </a:solidFill>
                  </a:tcPr>
                </a:tc>
              </a:tr>
              <a:tr h="619125">
                <a:tc>
                  <a:txBody>
                    <a:bodyPr lIns="114300" tIns="76200" rIns="114300" bIns="76200">
                      <a:noAutofit/>
                    </a:bodyPr>
                    <a:lstStyle/>
                    <a:p>
                      <a:r>
                        <a:rPr sz="1575" b="0">
                          <a:solidFill>
                            <a:srgbClr val="20345A"/>
                          </a:solidFill>
                          <a:latin typeface="Trebuchet MS"/>
                          <a:ea typeface="Trebuchet MS"/>
                          <a:cs typeface="Trebuchet MS"/>
                        </a:rPr>
                        <a:t>Block4Forensic [2]</a:t>
                      </a:r>
                    </a:p>
                    <a:p>
                      <a:r>
                        <a:rPr sz="1575" b="0">
                          <a:solidFill>
                            <a:srgbClr val="20345A"/>
                          </a:solidFill>
                          <a:latin typeface="Trebuchet MS"/>
                          <a:ea typeface="Trebuchet MS"/>
                          <a:cs typeface="Trebuchet MS"/>
                        </a:rPr>
                        <a:t>IEEE ComMag, 2018</a:t>
                      </a:r>
                    </a:p>
                  </a:txBody>
                  <a:tcPr marL="91440" marR="91440" marT="45720" marB="45720" anchor="ctr">
                    <a:solidFill>
                      <a:srgbClr val="F4F8FC"/>
                    </a:solidFill>
                  </a:tcPr>
                </a:tc>
                <a:tc>
                  <a:txBody>
                    <a:bodyPr lIns="114300" tIns="76200" rIns="114300" bIns="76200">
                      <a:noAutofit/>
                    </a:bodyPr>
                    <a:lstStyle/>
                    <a:p>
                      <a:r>
                        <a:rPr sz="1575" b="0">
                          <a:solidFill>
                            <a:srgbClr val="20345A"/>
                          </a:solidFill>
                          <a:latin typeface="Trebuchet MS"/>
                          <a:ea typeface="Trebuchet MS"/>
                          <a:cs typeface="Trebuchet MS"/>
                        </a:rPr>
                        <a:t>Vehicular evidence</a:t>
                      </a:r>
                    </a:p>
                    <a:p>
                      <a:r>
                        <a:rPr sz="1575" b="0">
                          <a:solidFill>
                            <a:srgbClr val="20345A"/>
                          </a:solidFill>
                          <a:latin typeface="Trebuchet MS"/>
                          <a:ea typeface="Trebuchet MS"/>
                          <a:cs typeface="Trebuchet MS"/>
                        </a:rPr>
                        <a:t>provenance</a:t>
                      </a:r>
                    </a:p>
                  </a:txBody>
                  <a:tcPr marL="91440" marR="91440" marT="45720" marB="45720" anchor="ctr">
                    <a:solidFill>
                      <a:srgbClr val="F4F8FC"/>
                    </a:solidFill>
                  </a:tcPr>
                </a:tc>
                <a:tc>
                  <a:txBody>
                    <a:bodyPr lIns="114300" tIns="76200" rIns="114300" bIns="76200">
                      <a:noAutofit/>
                    </a:bodyPr>
                    <a:lstStyle/>
                    <a:p>
                      <a:r>
                        <a:rPr sz="1575" b="0">
                          <a:solidFill>
                            <a:srgbClr val="20345A"/>
                          </a:solidFill>
                          <a:latin typeface="Trebuchet MS"/>
                          <a:ea typeface="Trebuchet MS"/>
                          <a:cs typeface="Trebuchet MS"/>
                        </a:rPr>
                        <a:t>Witnessed IDS records</a:t>
                      </a:r>
                    </a:p>
                    <a:p>
                      <a:r>
                        <a:rPr sz="1575" b="0">
                          <a:solidFill>
                            <a:srgbClr val="20345A"/>
                          </a:solidFill>
                          <a:latin typeface="Trebuchet MS"/>
                          <a:ea typeface="Trebuchet MS"/>
                          <a:cs typeface="Trebuchet MS"/>
                        </a:rPr>
                        <a:t>under connectivity gaps</a:t>
                      </a:r>
                    </a:p>
                  </a:txBody>
                  <a:tcPr marL="91440" marR="91440" marT="45720" marB="45720" anchor="ctr">
                    <a:solidFill>
                      <a:srgbClr val="F4F8FC"/>
                    </a:solidFill>
                  </a:tcPr>
                </a:tc>
              </a:tr>
              <a:tr h="619125">
                <a:tc>
                  <a:txBody>
                    <a:bodyPr lIns="114300" tIns="76200" rIns="114300" bIns="76200">
                      <a:noAutofit/>
                    </a:bodyPr>
                    <a:lstStyle/>
                    <a:p>
                      <a:r>
                        <a:rPr sz="1575" b="0">
                          <a:solidFill>
                            <a:srgbClr val="20345A"/>
                          </a:solidFill>
                          <a:latin typeface="Trebuchet MS"/>
                          <a:ea typeface="Trebuchet MS"/>
                          <a:cs typeface="Trebuchet MS"/>
                        </a:rPr>
                        <a:t>Language-agent IoV IDS [3]</a:t>
                      </a:r>
                    </a:p>
                    <a:p>
                      <a:r>
                        <a:rPr sz="1575" b="0">
                          <a:solidFill>
                            <a:srgbClr val="20345A"/>
                          </a:solidFill>
                          <a:latin typeface="Trebuchet MS"/>
                          <a:ea typeface="Trebuchet MS"/>
                          <a:cs typeface="Trebuchet MS"/>
                        </a:rPr>
                        <a:t>ICTC, 2025</a:t>
                      </a:r>
                    </a:p>
                  </a:txBody>
                  <a:tcPr marL="91440" marR="91440" marT="45720" marB="45720" anchor="ctr">
                    <a:solidFill>
                      <a:srgbClr val="FFFFFF"/>
                    </a:solidFill>
                  </a:tcPr>
                </a:tc>
                <a:tc>
                  <a:txBody>
                    <a:bodyPr lIns="114300" tIns="76200" rIns="114300" bIns="76200">
                      <a:noAutofit/>
                    </a:bodyPr>
                    <a:lstStyle/>
                    <a:p>
                      <a:r>
                        <a:rPr sz="1575" b="0">
                          <a:solidFill>
                            <a:srgbClr val="20345A"/>
                          </a:solidFill>
                          <a:latin typeface="Trebuchet MS"/>
                          <a:ea typeface="Trebuchet MS"/>
                          <a:cs typeface="Trebuchet MS"/>
                        </a:rPr>
                        <a:t>Language-agent detection</a:t>
                      </a:r>
                    </a:p>
                    <a:p>
                      <a:r>
                        <a:rPr sz="1575" b="0">
                          <a:solidFill>
                            <a:srgbClr val="20345A"/>
                          </a:solidFill>
                          <a:latin typeface="Trebuchet MS"/>
                          <a:ea typeface="Trebuchet MS"/>
                          <a:cs typeface="Trebuchet MS"/>
                        </a:rPr>
                        <a:t>with blockchain logging</a:t>
                      </a:r>
                    </a:p>
                  </a:txBody>
                  <a:tcPr marL="91440" marR="91440" marT="45720" marB="45720" anchor="ctr">
                    <a:solidFill>
                      <a:srgbClr val="FFFFFF"/>
                    </a:solidFill>
                  </a:tcPr>
                </a:tc>
                <a:tc>
                  <a:txBody>
                    <a:bodyPr lIns="114300" tIns="76200" rIns="114300" bIns="76200">
                      <a:noAutofit/>
                    </a:bodyPr>
                    <a:lstStyle/>
                    <a:p>
                      <a:r>
                        <a:rPr sz="1575" b="0">
                          <a:solidFill>
                            <a:srgbClr val="20345A"/>
                          </a:solidFill>
                          <a:latin typeface="Trebuchet MS"/>
                          <a:ea typeface="Trebuchet MS"/>
                          <a:cs typeface="Trebuchet MS"/>
                        </a:rPr>
                        <a:t>AI investigation isolated</a:t>
                      </a:r>
                    </a:p>
                    <a:p>
                      <a:r>
                        <a:rPr sz="1575" b="0">
                          <a:solidFill>
                            <a:srgbClr val="20345A"/>
                          </a:solidFill>
                          <a:latin typeface="Trebuchet MS"/>
                          <a:ea typeface="Trebuchet MS"/>
                          <a:cs typeface="Trebuchet MS"/>
                        </a:rPr>
                        <a:t>from recorded verdicts</a:t>
                      </a:r>
                    </a:p>
                  </a:txBody>
                  <a:tcPr marL="91440" marR="91440" marT="45720" marB="45720" anchor="ctr">
                    <a:solidFill>
                      <a:srgbClr val="FFFFFF"/>
                    </a:solidFill>
                  </a:tcPr>
                </a:tc>
              </a:tr>
              <a:tr h="619125">
                <a:tc>
                  <a:txBody>
                    <a:bodyPr lIns="114300" tIns="76200" rIns="114300" bIns="76200">
                      <a:noAutofit/>
                    </a:bodyPr>
                    <a:lstStyle/>
                    <a:p>
                      <a:r>
                        <a:rPr sz="1575" b="0">
                          <a:solidFill>
                            <a:srgbClr val="20345A"/>
                          </a:solidFill>
                          <a:latin typeface="Trebuchet MS"/>
                          <a:ea typeface="Trebuchet MS"/>
                          <a:cs typeface="Trebuchet MS"/>
                        </a:rPr>
                        <a:t>DYNOTEARS [4]</a:t>
                      </a:r>
                    </a:p>
                    <a:p>
                      <a:r>
                        <a:rPr sz="1575" b="0">
                          <a:solidFill>
                            <a:srgbClr val="20345A"/>
                          </a:solidFill>
                          <a:latin typeface="Trebuchet MS"/>
                          <a:ea typeface="Trebuchet MS"/>
                          <a:cs typeface="Trebuchet MS"/>
                        </a:rPr>
                        <a:t>AISTATS, 2020</a:t>
                      </a:r>
                    </a:p>
                  </a:txBody>
                  <a:tcPr marL="91440" marR="91440" marT="45720" marB="45720" anchor="ctr">
                    <a:solidFill>
                      <a:srgbClr val="F4F8FC"/>
                    </a:solidFill>
                  </a:tcPr>
                </a:tc>
                <a:tc>
                  <a:txBody>
                    <a:bodyPr lIns="114300" tIns="76200" rIns="114300" bIns="76200">
                      <a:noAutofit/>
                    </a:bodyPr>
                    <a:lstStyle/>
                    <a:p>
                      <a:r>
                        <a:rPr sz="1575" b="0">
                          <a:solidFill>
                            <a:srgbClr val="20345A"/>
                          </a:solidFill>
                          <a:latin typeface="Trebuchet MS"/>
                          <a:ea typeface="Trebuchet MS"/>
                          <a:cs typeface="Trebuchet MS"/>
                        </a:rPr>
                        <a:t>Temporal structure</a:t>
                      </a:r>
                    </a:p>
                    <a:p>
                      <a:r>
                        <a:rPr sz="1575" b="0">
                          <a:solidFill>
                            <a:srgbClr val="20345A"/>
                          </a:solidFill>
                          <a:latin typeface="Trebuchet MS"/>
                          <a:ea typeface="Trebuchet MS"/>
                          <a:cs typeface="Trebuchet MS"/>
                        </a:rPr>
                        <a:t>learning</a:t>
                      </a:r>
                    </a:p>
                  </a:txBody>
                  <a:tcPr marL="91440" marR="91440" marT="45720" marB="45720" anchor="ctr">
                    <a:solidFill>
                      <a:srgbClr val="F4F8FC"/>
                    </a:solidFill>
                  </a:tcPr>
                </a:tc>
                <a:tc>
                  <a:txBody>
                    <a:bodyPr lIns="114300" tIns="76200" rIns="114300" bIns="76200">
                      <a:noAutofit/>
                    </a:bodyPr>
                    <a:lstStyle/>
                    <a:p>
                      <a:r>
                        <a:rPr sz="1575" b="0">
                          <a:solidFill>
                            <a:srgbClr val="20345A"/>
                          </a:solidFill>
                          <a:latin typeface="Trebuchet MS"/>
                          <a:ea typeface="Trebuchet MS"/>
                          <a:cs typeface="Trebuchet MS"/>
                        </a:rPr>
                        <a:t>Attribution gain and cost</a:t>
                      </a:r>
                    </a:p>
                    <a:p>
                      <a:r>
                        <a:rPr sz="1575" b="0">
                          <a:solidFill>
                            <a:srgbClr val="20345A"/>
                          </a:solidFill>
                          <a:latin typeface="Trebuchet MS"/>
                          <a:ea typeface="Trebuchet MS"/>
                          <a:cs typeface="Trebuchet MS"/>
                        </a:rPr>
                        <a:t>against timing correlation</a:t>
                      </a:r>
                    </a:p>
                  </a:txBody>
                  <a:tcPr marL="91440" marR="91440" marT="45720" marB="45720" anchor="ctr">
                    <a:solidFill>
                      <a:srgbClr val="F4F8FC"/>
                    </a:solidFill>
                  </a:tcPr>
                </a:tc>
              </a:tr>
              <a:tr h="619125">
                <a:tc>
                  <a:txBody>
                    <a:bodyPr lIns="114300" tIns="76200" rIns="114300" bIns="76200">
                      <a:noAutofit/>
                    </a:bodyPr>
                    <a:lstStyle/>
                    <a:p>
                      <a:r>
                        <a:rPr sz="1575" b="0">
                          <a:solidFill>
                            <a:srgbClr val="20345A"/>
                          </a:solidFill>
                          <a:latin typeface="Trebuchet MS"/>
                          <a:ea typeface="Trebuchet MS"/>
                          <a:cs typeface="Trebuchet MS"/>
                        </a:rPr>
                        <a:t>Forensic hash validity [5]</a:t>
                      </a:r>
                    </a:p>
                    <a:p>
                      <a:r>
                        <a:rPr sz="1575" b="0">
                          <a:solidFill>
                            <a:srgbClr val="20345A"/>
                          </a:solidFill>
                          <a:latin typeface="Trebuchet MS"/>
                          <a:ea typeface="Trebuchet MS"/>
                          <a:cs typeface="Trebuchet MS"/>
                        </a:rPr>
                        <a:t>IEEE ICCES, 2020</a:t>
                      </a:r>
                    </a:p>
                  </a:txBody>
                  <a:tcPr marL="91440" marR="91440" marT="45720" marB="45720" anchor="ctr">
                    <a:solidFill>
                      <a:srgbClr val="FFFFFF"/>
                    </a:solidFill>
                  </a:tcPr>
                </a:tc>
                <a:tc>
                  <a:txBody>
                    <a:bodyPr lIns="114300" tIns="76200" rIns="114300" bIns="76200">
                      <a:noAutofit/>
                    </a:bodyPr>
                    <a:lstStyle/>
                    <a:p>
                      <a:r>
                        <a:rPr sz="1575" b="0">
                          <a:solidFill>
                            <a:srgbClr val="20345A"/>
                          </a:solidFill>
                          <a:latin typeface="Trebuchet MS"/>
                          <a:ea typeface="Trebuchet MS"/>
                          <a:cs typeface="Trebuchet MS"/>
                        </a:rPr>
                        <a:t>Integrity background</a:t>
                      </a:r>
                    </a:p>
                    <a:p>
                      <a:r>
                        <a:rPr sz="1575" b="0">
                          <a:solidFill>
                            <a:srgbClr val="20345A"/>
                          </a:solidFill>
                          <a:latin typeface="Trebuchet MS"/>
                          <a:ea typeface="Trebuchet MS"/>
                          <a:cs typeface="Trebuchet MS"/>
                        </a:rPr>
                        <a:t>C-ISFCR-listed paper</a:t>
                      </a:r>
                    </a:p>
                  </a:txBody>
                  <a:tcPr marL="91440" marR="91440" marT="45720" marB="45720" anchor="ctr">
                    <a:solidFill>
                      <a:srgbClr val="FFFFFF"/>
                    </a:solidFill>
                  </a:tcPr>
                </a:tc>
                <a:tc>
                  <a:txBody>
                    <a:bodyPr lIns="114300" tIns="76200" rIns="114300" bIns="76200">
                      <a:noAutofit/>
                    </a:bodyPr>
                    <a:lstStyle/>
                    <a:p>
                      <a:r>
                        <a:rPr sz="1575" b="0">
                          <a:solidFill>
                            <a:srgbClr val="20345A"/>
                          </a:solidFill>
                          <a:latin typeface="Trebuchet MS"/>
                          <a:ea typeface="Trebuchet MS"/>
                          <a:cs typeface="Trebuchet MS"/>
                        </a:rPr>
                        <a:t>Signed anchors and</a:t>
                      </a:r>
                    </a:p>
                    <a:p>
                      <a:r>
                        <a:rPr sz="1575" b="0">
                          <a:solidFill>
                            <a:srgbClr val="20345A"/>
                          </a:solidFill>
                          <a:latin typeface="Trebuchet MS"/>
                          <a:ea typeface="Trebuchet MS"/>
                          <a:cs typeface="Trebuchet MS"/>
                        </a:rPr>
                        <a:t>independent receipts</a:t>
                      </a:r>
                    </a:p>
                  </a:txBody>
                  <a:tcPr marL="91440" marR="91440" marT="45720" marB="45720" anchor="ctr">
                    <a:solidFill>
                      <a:srgbClr val="FFFFFF"/>
                    </a:solidFill>
                  </a:tcPr>
                </a:tc>
              </a:tr>
            </a:tbl>
          </a:graphicData>
        </a:graphic>
      </p:graphicFrame>
      <p:sp>
        <p:nvSpPr>
          <p:cNvPr id="17" name="text-58">
            <a:extLst xmlns:a="http://schemas.openxmlformats.org/drawingml/2006/main">
              <a:ext uri="{FF2B5EF4-FFF2-40B4-BE49-F238E27FC236}">
                <a16:creationId xmlns:a16="http://schemas.microsoft.com/office/drawing/2014/main" id="{EBE2E219-390C-411A-B2D7-1CDCB6D4BC82}"/>
              </a:ext>
            </a:extLst>
          </p:cNvPr>
          <p:cNvSpPr>
            <a:spLocks xmlns:a="http://schemas.openxmlformats.org/drawingml/2006/main" noGrp="1"/>
          </p:cNvSpPr>
          <p:nvPr/>
        </p:nvSpPr>
        <p:spPr>
          <a:xfrm xmlns:a="http://schemas.openxmlformats.org/drawingml/2006/main">
            <a:off x="1143000" y="5810250"/>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33CC"/>
                </a:solidFill>
                <a:latin typeface="Trebuchet MS"/>
                <a:ea typeface="Trebuchet MS"/>
                <a:cs typeface="Trebuchet MS"/>
              </a:defRPr>
            </a:pPr>
            <a:r>
              <a:rPr sz="1950" b="1">
                <a:solidFill>
                  <a:srgbClr val="0033CC"/>
                </a:solidFill>
                <a:latin typeface="Trebuchet MS"/>
                <a:ea typeface="Trebuchet MS"/>
                <a:cs typeface="Trebuchet MS"/>
              </a:rPr>
              <a:t>Proposed contribution: uncertainty-aware attribution with witnessed</a:t>
            </a:r>
          </a:p>
          <a:p xmlns:a="http://schemas.openxmlformats.org/drawingml/2006/main">
            <a:pPr algn="l">
              <a:defRPr sz="1950" b="1">
                <a:solidFill>
                  <a:srgbClr val="0033CC"/>
                </a:solidFill>
                <a:latin typeface="Trebuchet MS"/>
                <a:ea typeface="Trebuchet MS"/>
                <a:cs typeface="Trebuchet MS"/>
              </a:defRPr>
            </a:pPr>
            <a:r>
              <a:rPr sz="1950" b="1">
                <a:solidFill>
                  <a:srgbClr val="0033CC"/>
                </a:solidFill>
                <a:latin typeface="Trebuchet MS"/>
                <a:ea typeface="Trebuchet MS"/>
                <a:cs typeface="Trebuchet MS"/>
              </a:rPr>
              <a:t>evidence and a bounded AI investigator.</a:t>
            </a:r>
          </a:p>
        </p:txBody>
      </p:sp>
    </p:spTree>
    <p:extLst>
      <p:ext uri="{BB962C8B-B14F-4D97-AF65-F5344CB8AC3E}">
        <p14:creationId xmlns:p14="http://schemas.microsoft.com/office/powerpoint/2010/main" val="271503659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8408FFD9-1202-4486-B962-67A7BFAEF0DB}"/>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AEE8DE67-D8E1-4904-BBB1-F194DDDFA803}"/>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Applications / Use Cases</a:t>
            </a:r>
            <a:endParaRPr sz="2400">
              <a:solidFill>
                <a:srgbClr val="FF0000"/>
              </a:solidFill>
              <a:latin typeface="Trebuchet MS"/>
              <a:ea typeface="Trebuchet MS"/>
              <a:cs typeface="Trebuchet MS"/>
            </a:endParaRPr>
          </a:p>
        </p:txBody>
      </p:sp>
      <p:sp>
        <p:nvSpPr>
          <p:cNvPr id="15" name="text-59">
            <a:extLst xmlns:a="http://schemas.openxmlformats.org/drawingml/2006/main">
              <a:ext uri="{FF2B5EF4-FFF2-40B4-BE49-F238E27FC236}">
                <a16:creationId xmlns:a16="http://schemas.microsoft.com/office/drawing/2014/main" id="{D39C4EFC-C93F-4AAB-A2D8-B5B4824A80D1}"/>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07</a:t>
            </a:r>
          </a:p>
        </p:txBody>
      </p:sp>
      <p:sp>
        <p:nvSpPr>
          <p:cNvPr id="16" name="text-60">
            <a:extLst xmlns:a="http://schemas.openxmlformats.org/drawingml/2006/main">
              <a:ext uri="{FF2B5EF4-FFF2-40B4-BE49-F238E27FC236}">
                <a16:creationId xmlns:a16="http://schemas.microsoft.com/office/drawing/2014/main" id="{23087571-6BD4-4F5B-9CA8-2E1DAADD3492}"/>
              </a:ext>
            </a:extLst>
          </p:cNvPr>
          <p:cNvSpPr>
            <a:spLocks xmlns:a="http://schemas.openxmlformats.org/drawingml/2006/main" noGrp="1"/>
          </p:cNvSpPr>
          <p:nvPr/>
        </p:nvSpPr>
        <p:spPr>
          <a:xfrm xmlns:a="http://schemas.openxmlformats.org/drawingml/2006/main">
            <a:off x="1143000" y="1971675"/>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45A"/>
                </a:solidFill>
                <a:latin typeface="Trebuchet MS"/>
                <a:ea typeface="Trebuchet MS"/>
                <a:cs typeface="Trebuchet MS"/>
              </a:defRPr>
            </a:pPr>
            <a:r>
              <a:rPr sz="2175" b="0">
                <a:solidFill>
                  <a:srgbClr val="20345A"/>
                </a:solidFill>
                <a:latin typeface="Trebuchet MS"/>
                <a:ea typeface="Trebuchet MS"/>
                <a:cs typeface="Trebuchet MS"/>
              </a:rPr>
              <a:t>Planned scenarios for fleet security analysts</a:t>
            </a:r>
          </a:p>
        </p:txBody>
      </p:sp>
      <p:graphicFrame>
        <p:nvGraphicFramePr>
          <p:cNvPr id="23" name=""/>
          <p:cNvGraphicFramePr/>
          <p:nvPr/>
        </p:nvGraphicFramePr>
        <p:xfrm>
          <a:off xmlns:a="http://schemas.openxmlformats.org/drawingml/2006/main" x="1143000" y="2447925"/>
          <a:ext xmlns:a="http://schemas.openxmlformats.org/drawingml/2006/main" cx="9906000" cy="3524250"/>
        </p:xfrm>
        <a:graphic xmlns:a="http://schemas.openxmlformats.org/drawingml/2006/main">
          <a:graphicData uri="http://schemas.openxmlformats.org/drawingml/2006/table">
            <a:tbl>
              <a:tblPr firstRow="1" bandRow="0"/>
              <a:tblGrid>
                <a:gridCol w="2952750"/>
                <a:gridCol w="4095750"/>
                <a:gridCol w="2857500"/>
              </a:tblGrid>
              <a:tr h="476250">
                <a:tc>
                  <a:txBody>
                    <a:bodyPr lIns="114300" tIns="76200" rIns="114300" bIns="76200">
                      <a:noAutofit/>
                    </a:bodyPr>
                    <a:lstStyle/>
                    <a:p>
                      <a:r>
                        <a:rPr sz="1725" b="1">
                          <a:solidFill>
                            <a:srgbClr val="FFFFFF"/>
                          </a:solidFill>
                          <a:latin typeface="Trebuchet MS"/>
                          <a:ea typeface="Trebuchet MS"/>
                          <a:cs typeface="Trebuchet MS"/>
                        </a:rPr>
                        <a:t>Scenario</a:t>
                      </a:r>
                    </a:p>
                  </a:txBody>
                  <a:tcPr marL="91440" marR="91440" marT="45720" marB="45720" anchor="ctr">
                    <a:solidFill>
                      <a:srgbClr val="20345A"/>
                    </a:solidFill>
                  </a:tcPr>
                </a:tc>
                <a:tc>
                  <a:txBody>
                    <a:bodyPr lIns="114300" tIns="76200" rIns="114300" bIns="76200">
                      <a:noAutofit/>
                    </a:bodyPr>
                    <a:lstStyle/>
                    <a:p>
                      <a:r>
                        <a:rPr sz="1725" b="1">
                          <a:solidFill>
                            <a:srgbClr val="FFFFFF"/>
                          </a:solidFill>
                          <a:latin typeface="Trebuchet MS"/>
                          <a:ea typeface="Trebuchet MS"/>
                          <a:cs typeface="Trebuchet MS"/>
                        </a:rPr>
                        <a:t>Expected assessment to test</a:t>
                      </a:r>
                    </a:p>
                  </a:txBody>
                  <a:tcPr marL="91440" marR="91440" marT="45720" marB="45720" anchor="ctr">
                    <a:solidFill>
                      <a:srgbClr val="20345A"/>
                    </a:solidFill>
                  </a:tcPr>
                </a:tc>
                <a:tc>
                  <a:txBody>
                    <a:bodyPr lIns="114300" tIns="76200" rIns="114300" bIns="76200">
                      <a:noAutofit/>
                    </a:bodyPr>
                    <a:lstStyle/>
                    <a:p>
                      <a:r>
                        <a:rPr sz="1725" b="1">
                          <a:solidFill>
                            <a:srgbClr val="FFFFFF"/>
                          </a:solidFill>
                          <a:latin typeface="Trebuchet MS"/>
                          <a:ea typeface="Trebuchet MS"/>
                          <a:cs typeface="Trebuchet MS"/>
                        </a:rPr>
                        <a:t>Analyst value</a:t>
                      </a:r>
                    </a:p>
                  </a:txBody>
                  <a:tcPr marL="91440" marR="91440" marT="45720" marB="45720" anchor="ctr">
                    <a:solidFill>
                      <a:srgbClr val="20345A"/>
                    </a:solidFill>
                  </a:tcPr>
                </a:tc>
              </a:tr>
              <a:tr h="762000">
                <a:tc>
                  <a:txBody>
                    <a:bodyPr lIns="114300" tIns="76200" rIns="114300" bIns="76200">
                      <a:noAutofit/>
                    </a:bodyPr>
                    <a:lstStyle/>
                    <a:p>
                      <a:r>
                        <a:rPr sz="1725" b="0">
                          <a:solidFill>
                            <a:srgbClr val="20345A"/>
                          </a:solidFill>
                          <a:latin typeface="Trebuchet MS"/>
                          <a:ea typeface="Trebuchet MS"/>
                          <a:cs typeface="Trebuchet MS"/>
                        </a:rPr>
                        <a:t>Legitimate update</a:t>
                      </a:r>
                    </a:p>
                  </a:txBody>
                  <a:tcPr marL="91440" marR="91440" marT="45720" marB="45720" anchor="ctr">
                    <a:solidFill>
                      <a:srgbClr val="FFFFFF"/>
                    </a:solidFill>
                  </a:tcPr>
                </a:tc>
                <a:tc>
                  <a:txBody>
                    <a:bodyPr lIns="114300" tIns="76200" rIns="114300" bIns="76200">
                      <a:noAutofit/>
                    </a:bodyPr>
                    <a:lstStyle/>
                    <a:p>
                      <a:r>
                        <a:rPr sz="1725" b="0">
                          <a:solidFill>
                            <a:srgbClr val="20345A"/>
                          </a:solidFill>
                          <a:latin typeface="Trebuchet MS"/>
                          <a:ea typeface="Trebuchet MS"/>
                          <a:cs typeface="Trebuchet MS"/>
                        </a:rPr>
                        <a:t>Benign change supported</a:t>
                      </a:r>
                    </a:p>
                    <a:p>
                      <a:r>
                        <a:rPr sz="1725" b="0">
                          <a:solidFill>
                            <a:srgbClr val="20345A"/>
                          </a:solidFill>
                          <a:latin typeface="Trebuchet MS"/>
                          <a:ea typeface="Trebuchet MS"/>
                          <a:cs typeface="Trebuchet MS"/>
                        </a:rPr>
                        <a:t>by context and evidence</a:t>
                      </a:r>
                    </a:p>
                  </a:txBody>
                  <a:tcPr marL="91440" marR="91440" marT="45720" marB="45720" anchor="ctr">
                    <a:solidFill>
                      <a:srgbClr val="FFFFFF"/>
                    </a:solidFill>
                  </a:tcPr>
                </a:tc>
                <a:tc>
                  <a:txBody>
                    <a:bodyPr lIns="114300" tIns="76200" rIns="114300" bIns="76200">
                      <a:noAutofit/>
                    </a:bodyPr>
                    <a:lstStyle/>
                    <a:p>
                      <a:r>
                        <a:rPr sz="1725" b="0">
                          <a:solidFill>
                            <a:srgbClr val="20345A"/>
                          </a:solidFill>
                          <a:latin typeface="Trebuchet MS"/>
                          <a:ea typeface="Trebuchet MS"/>
                          <a:cs typeface="Trebuchet MS"/>
                        </a:rPr>
                        <a:t>Fewer nuisance alerts</a:t>
                      </a:r>
                    </a:p>
                  </a:txBody>
                  <a:tcPr marL="91440" marR="91440" marT="45720" marB="45720" anchor="ctr">
                    <a:solidFill>
                      <a:srgbClr val="FFFFFF"/>
                    </a:solidFill>
                  </a:tcPr>
                </a:tc>
              </a:tr>
              <a:tr h="762000">
                <a:tc>
                  <a:txBody>
                    <a:bodyPr lIns="114300" tIns="76200" rIns="114300" bIns="76200">
                      <a:noAutofit/>
                    </a:bodyPr>
                    <a:lstStyle/>
                    <a:p>
                      <a:r>
                        <a:rPr sz="1725" b="0">
                          <a:solidFill>
                            <a:srgbClr val="20345A"/>
                          </a:solidFill>
                          <a:latin typeface="Trebuchet MS"/>
                          <a:ea typeface="Trebuchet MS"/>
                          <a:cs typeface="Trebuchet MS"/>
                        </a:rPr>
                        <a:t>CAN-only injection</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Suspicious CAN behavior</a:t>
                      </a:r>
                    </a:p>
                    <a:p>
                      <a:r>
                        <a:rPr sz="1725" b="0">
                          <a:solidFill>
                            <a:srgbClr val="20345A"/>
                          </a:solidFill>
                          <a:latin typeface="Trebuchet MS"/>
                          <a:ea typeface="Trebuchet MS"/>
                          <a:cs typeface="Trebuchet MS"/>
                        </a:rPr>
                        <a:t>without a V2X veto</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Retain local attack evidence</a:t>
                      </a:r>
                    </a:p>
                  </a:txBody>
                  <a:tcPr marL="91440" marR="91440" marT="45720" marB="45720" anchor="ctr">
                    <a:solidFill>
                      <a:srgbClr val="F4F8FC"/>
                    </a:solidFill>
                  </a:tcPr>
                </a:tc>
              </a:tr>
              <a:tr h="762000">
                <a:tc>
                  <a:txBody>
                    <a:bodyPr lIns="114300" tIns="76200" rIns="114300" bIns="76200">
                      <a:noAutofit/>
                    </a:bodyPr>
                    <a:lstStyle/>
                    <a:p>
                      <a:r>
                        <a:rPr sz="1725" b="0">
                          <a:solidFill>
                            <a:srgbClr val="20345A"/>
                          </a:solidFill>
                          <a:latin typeface="Trebuchet MS"/>
                          <a:ea typeface="Trebuchet MS"/>
                          <a:cs typeface="Trebuchet MS"/>
                        </a:rPr>
                        <a:t>Falsified V2X message</a:t>
                      </a:r>
                    </a:p>
                  </a:txBody>
                  <a:tcPr marL="91440" marR="91440" marT="45720" marB="45720" anchor="ctr">
                    <a:solidFill>
                      <a:srgbClr val="FFFFFF"/>
                    </a:solidFill>
                  </a:tcPr>
                </a:tc>
                <a:tc>
                  <a:txBody>
                    <a:bodyPr lIns="114300" tIns="76200" rIns="114300" bIns="76200">
                      <a:noAutofit/>
                    </a:bodyPr>
                    <a:lstStyle/>
                    <a:p>
                      <a:r>
                        <a:rPr sz="1725" b="0">
                          <a:solidFill>
                            <a:srgbClr val="20345A"/>
                          </a:solidFill>
                          <a:latin typeface="Trebuchet MS"/>
                          <a:ea typeface="Trebuchet MS"/>
                          <a:cs typeface="Trebuchet MS"/>
                        </a:rPr>
                        <a:t>Suspicious V2X behavior</a:t>
                      </a:r>
                    </a:p>
                    <a:p>
                      <a:r>
                        <a:rPr sz="1725" b="0">
                          <a:solidFill>
                            <a:srgbClr val="20345A"/>
                          </a:solidFill>
                          <a:latin typeface="Trebuchet MS"/>
                          <a:ea typeface="Trebuchet MS"/>
                          <a:cs typeface="Trebuchet MS"/>
                        </a:rPr>
                        <a:t>checked against vehicle context</a:t>
                      </a:r>
                    </a:p>
                  </a:txBody>
                  <a:tcPr marL="91440" marR="91440" marT="45720" marB="45720" anchor="ctr">
                    <a:solidFill>
                      <a:srgbClr val="FFFFFF"/>
                    </a:solidFill>
                  </a:tcPr>
                </a:tc>
                <a:tc>
                  <a:txBody>
                    <a:bodyPr lIns="114300" tIns="76200" rIns="114300" bIns="76200">
                      <a:noAutofit/>
                    </a:bodyPr>
                    <a:lstStyle/>
                    <a:p>
                      <a:r>
                        <a:rPr sz="1725" b="0">
                          <a:solidFill>
                            <a:srgbClr val="20345A"/>
                          </a:solidFill>
                          <a:latin typeface="Trebuchet MS"/>
                          <a:ea typeface="Trebuchet MS"/>
                          <a:cs typeface="Trebuchet MS"/>
                        </a:rPr>
                        <a:t>Prioritize fleet investigation</a:t>
                      </a:r>
                    </a:p>
                  </a:txBody>
                  <a:tcPr marL="91440" marR="91440" marT="45720" marB="45720" anchor="ctr">
                    <a:solidFill>
                      <a:srgbClr val="FFFFFF"/>
                    </a:solidFill>
                  </a:tcPr>
                </a:tc>
              </a:tr>
              <a:tr h="762000">
                <a:tc>
                  <a:txBody>
                    <a:bodyPr lIns="114300" tIns="76200" rIns="114300" bIns="76200">
                      <a:noAutofit/>
                    </a:bodyPr>
                    <a:lstStyle/>
                    <a:p>
                      <a:r>
                        <a:rPr sz="1725" b="0">
                          <a:solidFill>
                            <a:srgbClr val="20345A"/>
                          </a:solidFill>
                          <a:latin typeface="Trebuchet MS"/>
                          <a:ea typeface="Trebuchet MS"/>
                          <a:cs typeface="Trebuchet MS"/>
                        </a:rPr>
                        <a:t>Log deletion + outage</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Integrity conflict or</a:t>
                      </a:r>
                    </a:p>
                    <a:p>
                      <a:r>
                        <a:rPr sz="1725" b="0">
                          <a:solidFill>
                            <a:srgbClr val="20345A"/>
                          </a:solidFill>
                          <a:latin typeface="Trebuchet MS"/>
                          <a:ea typeface="Trebuchet MS"/>
                          <a:cs typeface="Trebuchet MS"/>
                        </a:rPr>
                        <a:t>insufficient evidence</a:t>
                      </a:r>
                    </a:p>
                  </a:txBody>
                  <a:tcPr marL="91440" marR="91440" marT="45720" marB="45720" anchor="ctr">
                    <a:solidFill>
                      <a:srgbClr val="F4F8FC"/>
                    </a:solidFill>
                  </a:tcPr>
                </a:tc>
                <a:tc>
                  <a:txBody>
                    <a:bodyPr lIns="114300" tIns="76200" rIns="114300" bIns="76200">
                      <a:noAutofit/>
                    </a:bodyPr>
                    <a:lstStyle/>
                    <a:p>
                      <a:r>
                        <a:rPr sz="1725" b="0">
                          <a:solidFill>
                            <a:srgbClr val="20345A"/>
                          </a:solidFill>
                          <a:latin typeface="Trebuchet MS"/>
                          <a:ea typeface="Trebuchet MS"/>
                          <a:cs typeface="Trebuchet MS"/>
                        </a:rPr>
                        <a:t>Separate contradiction</a:t>
                      </a:r>
                    </a:p>
                    <a:p>
                      <a:r>
                        <a:rPr sz="1725" b="0">
                          <a:solidFill>
                            <a:srgbClr val="20345A"/>
                          </a:solidFill>
                          <a:latin typeface="Trebuchet MS"/>
                          <a:ea typeface="Trebuchet MS"/>
                          <a:cs typeface="Trebuchet MS"/>
                        </a:rPr>
                        <a:t>from missing records</a:t>
                      </a:r>
                    </a:p>
                  </a:txBody>
                  <a:tcPr marL="91440" marR="91440" marT="45720" marB="45720" anchor="ctr">
                    <a:solidFill>
                      <a:srgbClr val="F4F8FC"/>
                    </a:solidFill>
                  </a:tcPr>
                </a:tc>
              </a:tr>
            </a:tbl>
          </a:graphicData>
        </a:graphic>
      </p:graphicFrame>
      <p:sp>
        <p:nvSpPr>
          <p:cNvPr id="18" name="text-61">
            <a:extLst xmlns:a="http://schemas.openxmlformats.org/drawingml/2006/main">
              <a:ext uri="{FF2B5EF4-FFF2-40B4-BE49-F238E27FC236}">
                <a16:creationId xmlns:a16="http://schemas.microsoft.com/office/drawing/2014/main" id="{EC60850C-CA56-435D-968F-F471E05D26AC}"/>
              </a:ext>
            </a:extLst>
          </p:cNvPr>
          <p:cNvSpPr>
            <a:spLocks xmlns:a="http://schemas.openxmlformats.org/drawingml/2006/main" noGrp="1"/>
          </p:cNvSpPr>
          <p:nvPr/>
        </p:nvSpPr>
        <p:spPr>
          <a:xfrm xmlns:a="http://schemas.openxmlformats.org/drawingml/2006/main">
            <a:off x="1143000" y="616267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0033CC"/>
                </a:solidFill>
                <a:latin typeface="Trebuchet MS"/>
                <a:ea typeface="Trebuchet MS"/>
                <a:cs typeface="Trebuchet MS"/>
              </a:defRPr>
            </a:pPr>
            <a:r>
              <a:rPr sz="1800" b="0">
                <a:solidFill>
                  <a:srgbClr val="0033CC"/>
                </a:solidFill>
                <a:latin typeface="Trebuchet MS"/>
                <a:ea typeface="Trebuchet MS"/>
                <a:cs typeface="Trebuchet MS"/>
              </a:rPr>
              <a:t>Applications: fleet SOC monitoring, incident reconstruction and IDS research.</a:t>
            </a:r>
          </a:p>
        </p:txBody>
      </p:sp>
    </p:spTree>
    <p:extLst>
      <p:ext uri="{BB962C8B-B14F-4D97-AF65-F5344CB8AC3E}">
        <p14:creationId xmlns:p14="http://schemas.microsoft.com/office/powerpoint/2010/main" val="42053692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7E787BD7-BA7E-4723-80E3-E809FFC3518A}"/>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89174E92-0094-4187-ACDF-7F1BBC868F96}"/>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Proposed Architecture</a:t>
            </a:r>
            <a:endParaRPr sz="2400">
              <a:solidFill>
                <a:srgbClr val="FF0000"/>
              </a:solidFill>
              <a:latin typeface="Trebuchet MS"/>
              <a:ea typeface="Trebuchet MS"/>
              <a:cs typeface="Trebuchet MS"/>
            </a:endParaRPr>
          </a:p>
        </p:txBody>
      </p:sp>
      <p:sp>
        <p:nvSpPr>
          <p:cNvPr id="15" name="text-62">
            <a:extLst xmlns:a="http://schemas.openxmlformats.org/drawingml/2006/main">
              <a:ext uri="{FF2B5EF4-FFF2-40B4-BE49-F238E27FC236}">
                <a16:creationId xmlns:a16="http://schemas.microsoft.com/office/drawing/2014/main" id="{E629FECA-2B4E-427F-B12C-7235025E0F84}"/>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08</a:t>
            </a:r>
          </a:p>
        </p:txBody>
      </p:sp>
      <p:sp>
        <p:nvSpPr>
          <p:cNvPr id="16" name="diagram-63">
            <a:extLst xmlns:a="http://schemas.openxmlformats.org/drawingml/2006/main">
              <a:ext uri="{FF2B5EF4-FFF2-40B4-BE49-F238E27FC236}">
                <a16:creationId xmlns:a16="http://schemas.microsoft.com/office/drawing/2014/main" id="{60EF6F15-7675-44C7-AED7-02A2AE003AA3}"/>
              </a:ext>
            </a:extLst>
          </p:cNvPr>
          <p:cNvSpPr>
            <a:spLocks xmlns:a="http://schemas.openxmlformats.org/drawingml/2006/main" noGrp="1"/>
          </p:cNvSpPr>
          <p:nvPr/>
        </p:nvSpPr>
        <p:spPr>
          <a:xfrm xmlns:a="http://schemas.openxmlformats.org/drawingml/2006/main">
            <a:off x="1143000" y="2333625"/>
            <a:ext cx="2095500" cy="86677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CAN detector</a:t>
            </a:r>
          </a:p>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Local evidence</a:t>
            </a:r>
          </a:p>
        </p:txBody>
      </p:sp>
      <p:sp>
        <p:nvSpPr>
          <p:cNvPr id="17" name="diagram-64">
            <a:extLst xmlns:a="http://schemas.openxmlformats.org/drawingml/2006/main">
              <a:ext uri="{FF2B5EF4-FFF2-40B4-BE49-F238E27FC236}">
                <a16:creationId xmlns:a16="http://schemas.microsoft.com/office/drawing/2014/main" id="{1A937B66-CF0A-46EF-BFC7-0AADCD77E5B1}"/>
              </a:ext>
            </a:extLst>
          </p:cNvPr>
          <p:cNvSpPr>
            <a:spLocks xmlns:a="http://schemas.openxmlformats.org/drawingml/2006/main" noGrp="1"/>
          </p:cNvSpPr>
          <p:nvPr/>
        </p:nvSpPr>
        <p:spPr>
          <a:xfrm xmlns:a="http://schemas.openxmlformats.org/drawingml/2006/main">
            <a:off x="1143000" y="3724275"/>
            <a:ext cx="2095500" cy="86677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V2X detector</a:t>
            </a:r>
          </a:p>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Local evidence</a:t>
            </a:r>
          </a:p>
        </p:txBody>
      </p:sp>
      <p:sp>
        <p:nvSpPr>
          <p:cNvPr id="18" name="diagram-65">
            <a:extLst xmlns:a="http://schemas.openxmlformats.org/drawingml/2006/main">
              <a:ext uri="{FF2B5EF4-FFF2-40B4-BE49-F238E27FC236}">
                <a16:creationId xmlns:a16="http://schemas.microsoft.com/office/drawing/2014/main" id="{4518B231-E4E9-408B-A0B1-50FF179E3602}"/>
              </a:ext>
            </a:extLst>
          </p:cNvPr>
          <p:cNvSpPr>
            <a:spLocks xmlns:a="http://schemas.openxmlformats.org/drawingml/2006/main" noGrp="1"/>
          </p:cNvSpPr>
          <p:nvPr/>
        </p:nvSpPr>
        <p:spPr>
          <a:xfrm xmlns:a="http://schemas.openxmlformats.org/drawingml/2006/main">
            <a:off x="4038600" y="2876550"/>
            <a:ext cx="2381250" cy="1276350"/>
          </a:xfrm>
          <a:prstGeom xmlns:a="http://schemas.openxmlformats.org/drawingml/2006/main" prst="rect">
            <a:avLst/>
          </a:prstGeom>
          <a:solidFill xmlns:a="http://schemas.openxmlformats.org/drawingml/2006/main">
            <a:srgbClr val="FFFFFF"/>
          </a:solidFill>
          <a:ln xmlns:a="http://schemas.openxmlformats.org/drawingml/2006/main" w="14288">
            <a:solidFill>
              <a:srgbClr val="0033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Local attribution</a:t>
            </a:r>
          </a:p>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Layer + hypothesis</a:t>
            </a:r>
          </a:p>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 confidence</a:t>
            </a:r>
          </a:p>
        </p:txBody>
      </p:sp>
      <p:sp>
        <p:nvSpPr>
          <p:cNvPr id="19" name="diagram-66">
            <a:extLst xmlns:a="http://schemas.openxmlformats.org/drawingml/2006/main">
              <a:ext uri="{FF2B5EF4-FFF2-40B4-BE49-F238E27FC236}">
                <a16:creationId xmlns:a16="http://schemas.microsoft.com/office/drawing/2014/main" id="{A98EA951-5CF3-49B0-85DD-133C16DA25D4}"/>
              </a:ext>
            </a:extLst>
          </p:cNvPr>
          <p:cNvSpPr>
            <a:spLocks xmlns:a="http://schemas.openxmlformats.org/drawingml/2006/main" noGrp="1"/>
          </p:cNvSpPr>
          <p:nvPr/>
        </p:nvSpPr>
        <p:spPr>
          <a:xfrm xmlns:a="http://schemas.openxmlformats.org/drawingml/2006/main">
            <a:off x="3771900" y="5219700"/>
            <a:ext cx="2914650" cy="79057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Timing / DYNOTEARS</a:t>
            </a:r>
          </a:p>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Confidence modifier</a:t>
            </a:r>
          </a:p>
        </p:txBody>
      </p:sp>
      <p:sp>
        <p:nvSpPr>
          <p:cNvPr id="20" name="diagram-67">
            <a:extLst xmlns:a="http://schemas.openxmlformats.org/drawingml/2006/main">
              <a:ext uri="{FF2B5EF4-FFF2-40B4-BE49-F238E27FC236}">
                <a16:creationId xmlns:a16="http://schemas.microsoft.com/office/drawing/2014/main" id="{D3F7E297-F67A-4292-BACC-4FDBAD769EF1}"/>
              </a:ext>
            </a:extLst>
          </p:cNvPr>
          <p:cNvSpPr>
            <a:spLocks xmlns:a="http://schemas.openxmlformats.org/drawingml/2006/main" noGrp="1"/>
          </p:cNvSpPr>
          <p:nvPr/>
        </p:nvSpPr>
        <p:spPr>
          <a:xfrm xmlns:a="http://schemas.openxmlformats.org/drawingml/2006/main">
            <a:off x="7858125" y="2333625"/>
            <a:ext cx="3143250" cy="86677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Fleet corroboration</a:t>
            </a:r>
          </a:p>
          <a:p xmlns:a="http://schemas.openxmlformats.org/drawingml/2006/main">
            <a:pPr algn="ctr">
              <a:defRPr sz="1950" b="0">
                <a:solidFill>
                  <a:srgbClr val="0033CC"/>
                </a:solidFill>
                <a:latin typeface="Trebuchet MS"/>
                <a:ea typeface="Trebuchet MS"/>
                <a:cs typeface="Trebuchet MS"/>
              </a:defRPr>
            </a:pPr>
            <a:r>
              <a:rPr sz="1950" b="0">
                <a:solidFill>
                  <a:srgbClr val="0033CC"/>
                </a:solidFill>
                <a:latin typeface="Trebuchet MS"/>
                <a:ea typeface="Trebuchet MS"/>
                <a:cs typeface="Trebuchet MS"/>
              </a:rPr>
              <a:t>Signed verdict + score</a:t>
            </a:r>
          </a:p>
        </p:txBody>
      </p:sp>
      <p:sp>
        <p:nvSpPr>
          <p:cNvPr id="21" name="diagram-68">
            <a:extLst xmlns:a="http://schemas.openxmlformats.org/drawingml/2006/main">
              <a:ext uri="{FF2B5EF4-FFF2-40B4-BE49-F238E27FC236}">
                <a16:creationId xmlns:a16="http://schemas.microsoft.com/office/drawing/2014/main" id="{234C7E8E-DFB1-4513-8F0D-369C5F20D562}"/>
              </a:ext>
            </a:extLst>
          </p:cNvPr>
          <p:cNvSpPr>
            <a:spLocks xmlns:a="http://schemas.openxmlformats.org/drawingml/2006/main" noGrp="1"/>
          </p:cNvSpPr>
          <p:nvPr/>
        </p:nvSpPr>
        <p:spPr>
          <a:xfrm xmlns:a="http://schemas.openxmlformats.org/drawingml/2006/main">
            <a:off x="7858125" y="3714750"/>
            <a:ext cx="3143250" cy="866775"/>
          </a:xfrm>
          <a:prstGeom xmlns:a="http://schemas.openxmlformats.org/drawingml/2006/main" prst="rect">
            <a:avLst/>
          </a:prstGeom>
          <a:solidFill xmlns:a="http://schemas.openxmlformats.org/drawingml/2006/main">
            <a:srgbClr val="FFF6DB"/>
          </a:solidFill>
          <a:ln xmlns:a="http://schemas.openxmlformats.org/drawingml/2006/main" w="14288">
            <a:solidFill>
              <a:srgbClr val="8C6100"/>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8C6100"/>
                </a:solidFill>
                <a:latin typeface="Trebuchet MS"/>
                <a:ea typeface="Trebuchet MS"/>
                <a:cs typeface="Trebuchet MS"/>
              </a:defRPr>
            </a:pPr>
            <a:r>
              <a:rPr sz="1950" b="0">
                <a:solidFill>
                  <a:srgbClr val="8C6100"/>
                </a:solidFill>
                <a:latin typeface="Trebuchet MS"/>
                <a:ea typeface="Trebuchet MS"/>
                <a:cs typeface="Trebuchet MS"/>
              </a:rPr>
              <a:t>Local-only assessment</a:t>
            </a:r>
          </a:p>
          <a:p xmlns:a="http://schemas.openxmlformats.org/drawingml/2006/main">
            <a:pPr algn="ctr">
              <a:defRPr sz="1950" b="0">
                <a:solidFill>
                  <a:srgbClr val="8C6100"/>
                </a:solidFill>
                <a:latin typeface="Trebuchet MS"/>
                <a:ea typeface="Trebuchet MS"/>
                <a:cs typeface="Trebuchet MS"/>
              </a:defRPr>
            </a:pPr>
            <a:r>
              <a:rPr sz="1950" b="0">
                <a:solidFill>
                  <a:srgbClr val="8C6100"/>
                </a:solidFill>
                <a:latin typeface="Trebuchet MS"/>
                <a:ea typeface="Trebuchet MS"/>
                <a:cs typeface="Trebuchet MS"/>
              </a:rPr>
              <a:t>Fleet support unavailable</a:t>
            </a:r>
          </a:p>
        </p:txBody>
      </p:sp>
      <p:sp>
        <p:nvSpPr>
          <p:cNvPr id="22" name="diagram-69">
            <a:extLst xmlns:a="http://schemas.openxmlformats.org/drawingml/2006/main">
              <a:ext uri="{FF2B5EF4-FFF2-40B4-BE49-F238E27FC236}">
                <a16:creationId xmlns:a16="http://schemas.microsoft.com/office/drawing/2014/main" id="{3AACC893-37B0-44BA-8C7E-BA8D1C3678E8}"/>
              </a:ext>
            </a:extLst>
          </p:cNvPr>
          <p:cNvSpPr>
            <a:spLocks xmlns:a="http://schemas.openxmlformats.org/drawingml/2006/main" noGrp="1"/>
          </p:cNvSpPr>
          <p:nvPr/>
        </p:nvSpPr>
        <p:spPr>
          <a:xfrm xmlns:a="http://schemas.openxmlformats.org/drawingml/2006/main">
            <a:off x="7858125" y="5229225"/>
            <a:ext cx="3143250" cy="819150"/>
          </a:xfrm>
          <a:prstGeom xmlns:a="http://schemas.openxmlformats.org/drawingml/2006/main" prst="rect">
            <a:avLst/>
          </a:prstGeom>
          <a:solidFill xmlns:a="http://schemas.openxmlformats.org/drawingml/2006/main">
            <a:srgbClr val="EAF6EF"/>
          </a:solidFill>
          <a:ln xmlns:a="http://schemas.openxmlformats.org/drawingml/2006/main" w="14288">
            <a:solidFill>
              <a:srgbClr val="187D5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00" b="0">
                <a:solidFill>
                  <a:srgbClr val="187D5E"/>
                </a:solidFill>
                <a:latin typeface="Trebuchet MS"/>
                <a:ea typeface="Trebuchet MS"/>
                <a:cs typeface="Trebuchet MS"/>
              </a:defRPr>
            </a:pPr>
            <a:r>
              <a:rPr sz="1800" b="0">
                <a:solidFill>
                  <a:srgbClr val="187D5E"/>
                </a:solidFill>
                <a:latin typeface="Trebuchet MS"/>
                <a:ea typeface="Trebuchet MS"/>
                <a:cs typeface="Trebuchet MS"/>
              </a:rPr>
              <a:t>GhostTrace</a:t>
            </a:r>
          </a:p>
          <a:p xmlns:a="http://schemas.openxmlformats.org/drawingml/2006/main">
            <a:pPr algn="ctr">
              <a:defRPr sz="1800" b="0">
                <a:solidFill>
                  <a:srgbClr val="187D5E"/>
                </a:solidFill>
                <a:latin typeface="Trebuchet MS"/>
                <a:ea typeface="Trebuchet MS"/>
                <a:cs typeface="Trebuchet MS"/>
              </a:defRPr>
            </a:pPr>
            <a:r>
              <a:rPr sz="1800" b="0">
                <a:solidFill>
                  <a:srgbClr val="187D5E"/>
                </a:solidFill>
                <a:latin typeface="Trebuchet MS"/>
                <a:ea typeface="Trebuchet MS"/>
                <a:cs typeface="Trebuchet MS"/>
              </a:rPr>
              <a:t>Verdict + evidence status</a:t>
            </a:r>
          </a:p>
        </p:txBody>
      </p:sp>
      <p:cxnSp>
        <p:nvCxnSpPr>
          <p:cNvPr id="45" name=""/>
          <p:cNvCxnSpPr>
            <a:stCxn xmlns:a="http://schemas.openxmlformats.org/drawingml/2006/main" id="16" idx="3"/>
            <a:endCxn xmlns:a="http://schemas.openxmlformats.org/drawingml/2006/main" id="18" idx="1"/>
          </p:cNvCxnSpPr>
          <p:nvPr/>
        </p:nvCxnSpPr>
        <p:spPr>
          <a:xfrm xmlns:a="http://schemas.openxmlformats.org/drawingml/2006/main">
            <a:off x="3238500" y="2767013"/>
            <a:ext cx="800100" cy="747713"/>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46" name=""/>
          <p:cNvCxnSpPr>
            <a:stCxn xmlns:a="http://schemas.openxmlformats.org/drawingml/2006/main" id="17" idx="3"/>
            <a:endCxn xmlns:a="http://schemas.openxmlformats.org/drawingml/2006/main" id="18" idx="1"/>
          </p:cNvCxnSpPr>
          <p:nvPr/>
        </p:nvCxnSpPr>
        <p:spPr>
          <a:xfrm xmlns:a="http://schemas.openxmlformats.org/drawingml/2006/main" flipV="1">
            <a:off x="3238500" y="3514725"/>
            <a:ext cx="800100" cy="642938"/>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47" name=""/>
          <p:cNvCxnSpPr>
            <a:stCxn xmlns:a="http://schemas.openxmlformats.org/drawingml/2006/main" id="19" idx="0"/>
            <a:endCxn xmlns:a="http://schemas.openxmlformats.org/drawingml/2006/main" id="18" idx="2"/>
          </p:cNvCxnSpPr>
          <p:nvPr/>
        </p:nvCxnSpPr>
        <p:spPr>
          <a:xfrm xmlns:a="http://schemas.openxmlformats.org/drawingml/2006/main" flipV="1">
            <a:off x="5229225" y="4152900"/>
            <a:ext cx="0" cy="1066800"/>
          </a:xfrm>
          <a:prstGeom xmlns:a="http://schemas.openxmlformats.org/drawingml/2006/main" prst="straightConnector1">
            <a:avLst/>
          </a:prstGeom>
          <a:ln xmlns:a="http://schemas.openxmlformats.org/drawingml/2006/main" w="19050">
            <a:solidFill>
              <a:srgbClr val="087E8B"/>
            </a:solidFill>
            <a:prstDash val="dash"/>
            <a:tailEnd type="triangle" w="sm" len="sm"/>
          </a:ln>
        </p:spPr>
      </p:cxnSp>
      <p:cxnSp>
        <p:nvCxnSpPr>
          <p:cNvPr id="48" name=""/>
          <p:cNvCxnSpPr>
            <a:stCxn xmlns:a="http://schemas.openxmlformats.org/drawingml/2006/main" id="18" idx="3"/>
            <a:endCxn xmlns:a="http://schemas.openxmlformats.org/drawingml/2006/main" id="20" idx="1"/>
          </p:cNvCxnSpPr>
          <p:nvPr/>
        </p:nvCxnSpPr>
        <p:spPr>
          <a:xfrm xmlns:a="http://schemas.openxmlformats.org/drawingml/2006/main" flipV="1">
            <a:off x="6419850" y="2767013"/>
            <a:ext cx="1438275" cy="747713"/>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49" name=""/>
          <p:cNvCxnSpPr>
            <a:stCxn xmlns:a="http://schemas.openxmlformats.org/drawingml/2006/main" id="18" idx="3"/>
            <a:endCxn xmlns:a="http://schemas.openxmlformats.org/drawingml/2006/main" id="21" idx="1"/>
          </p:cNvCxnSpPr>
          <p:nvPr/>
        </p:nvCxnSpPr>
        <p:spPr>
          <a:xfrm xmlns:a="http://schemas.openxmlformats.org/drawingml/2006/main">
            <a:off x="6419850" y="3514725"/>
            <a:ext cx="1438275" cy="633413"/>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50" name=""/>
          <p:cNvCxnSpPr>
            <a:stCxn xmlns:a="http://schemas.openxmlformats.org/drawingml/2006/main" id="21" idx="2"/>
            <a:endCxn xmlns:a="http://schemas.openxmlformats.org/drawingml/2006/main" id="22" idx="0"/>
          </p:cNvCxnSpPr>
          <p:nvPr/>
        </p:nvCxnSpPr>
        <p:spPr>
          <a:xfrm xmlns:a="http://schemas.openxmlformats.org/drawingml/2006/main">
            <a:off x="9429750" y="4581525"/>
            <a:ext cx="0" cy="647700"/>
          </a:xfrm>
          <a:prstGeom xmlns:a="http://schemas.openxmlformats.org/drawingml/2006/main" prst="straightConnector1">
            <a:avLst/>
          </a:prstGeom>
          <a:ln xmlns:a="http://schemas.openxmlformats.org/drawingml/2006/main" w="19050">
            <a:solidFill>
              <a:srgbClr val="087E8B"/>
            </a:solidFill>
            <a:prstDash val="solid"/>
            <a:tailEnd type="triangle" w="sm" len="sm"/>
          </a:ln>
        </p:spPr>
      </p:cxnSp>
      <p:sp>
        <p:nvSpPr>
          <p:cNvPr id="29" name="diagram-70">
            <a:extLst xmlns:a="http://schemas.openxmlformats.org/drawingml/2006/main">
              <a:ext uri="{FF2B5EF4-FFF2-40B4-BE49-F238E27FC236}">
                <a16:creationId xmlns:a16="http://schemas.microsoft.com/office/drawing/2014/main" id="{3E10F1E3-FD34-4966-A0D7-DEAD118768DC}"/>
              </a:ext>
            </a:extLst>
          </p:cNvPr>
          <p:cNvSpPr>
            <a:spLocks xmlns:a="http://schemas.openxmlformats.org/drawingml/2006/main" noGrp="1"/>
          </p:cNvSpPr>
          <p:nvPr/>
        </p:nvSpPr>
        <p:spPr>
          <a:xfrm xmlns:a="http://schemas.openxmlformats.org/drawingml/2006/main">
            <a:off x="11306175" y="5219700"/>
            <a:ext cx="9525"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cxnSp>
        <p:nvCxnSpPr>
          <p:cNvPr id="52" name=""/>
          <p:cNvCxnSpPr>
            <a:stCxn xmlns:a="http://schemas.openxmlformats.org/drawingml/2006/main" id="20" idx="3"/>
            <a:endCxn xmlns:a="http://schemas.openxmlformats.org/drawingml/2006/main" id="29" idx="0"/>
          </p:cNvCxnSpPr>
          <p:nvPr/>
        </p:nvCxnSpPr>
        <p:spPr>
          <a:xfrm xmlns:a="http://schemas.openxmlformats.org/drawingml/2006/main">
            <a:off x="11001375" y="2767013"/>
            <a:ext cx="309563" cy="2452688"/>
          </a:xfrm>
          <a:prstGeom xmlns:a="http://schemas.openxmlformats.org/drawingml/2006/main" prst="bentConnector2">
            <a:avLst/>
          </a:prstGeom>
          <a:ln xmlns:a="http://schemas.openxmlformats.org/drawingml/2006/main" w="19050">
            <a:solidFill>
              <a:srgbClr val="087E8B"/>
            </a:solidFill>
            <a:prstDash val="solid"/>
          </a:ln>
        </p:spPr>
      </p:cxnSp>
      <p:cxnSp>
        <p:nvCxnSpPr>
          <p:cNvPr id="53" name=""/>
          <p:cNvCxnSpPr>
            <a:stCxn xmlns:a="http://schemas.openxmlformats.org/drawingml/2006/main" id="29" idx="1"/>
            <a:endCxn xmlns:a="http://schemas.openxmlformats.org/drawingml/2006/main" id="22" idx="3"/>
          </p:cNvCxnSpPr>
          <p:nvPr/>
        </p:nvCxnSpPr>
        <p:spPr>
          <a:xfrm xmlns:a="http://schemas.openxmlformats.org/drawingml/2006/main" flipH="1">
            <a:off x="11001375" y="5224463"/>
            <a:ext cx="304800" cy="414338"/>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sp>
        <p:nvSpPr>
          <p:cNvPr id="32" name="text-71">
            <a:extLst xmlns:a="http://schemas.openxmlformats.org/drawingml/2006/main">
              <a:ext uri="{FF2B5EF4-FFF2-40B4-BE49-F238E27FC236}">
                <a16:creationId xmlns:a16="http://schemas.microsoft.com/office/drawing/2014/main" id="{57ABEC70-2B9D-4245-AB98-A904FBF954A8}"/>
              </a:ext>
            </a:extLst>
          </p:cNvPr>
          <p:cNvSpPr>
            <a:spLocks xmlns:a="http://schemas.openxmlformats.org/drawingml/2006/main" noGrp="1"/>
          </p:cNvSpPr>
          <p:nvPr/>
        </p:nvSpPr>
        <p:spPr>
          <a:xfrm xmlns:a="http://schemas.openxmlformats.org/drawingml/2006/main">
            <a:off x="6629400" y="2381250"/>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87E8B"/>
                </a:solidFill>
                <a:latin typeface="Trebuchet MS"/>
                <a:ea typeface="Trebuchet MS"/>
                <a:cs typeface="Trebuchet MS"/>
              </a:defRPr>
            </a:pPr>
            <a:r>
              <a:rPr sz="1500" b="0">
                <a:solidFill>
                  <a:srgbClr val="087E8B"/>
                </a:solidFill>
                <a:latin typeface="Trebuchet MS"/>
                <a:ea typeface="Trebuchet MS"/>
                <a:cs typeface="Trebuchet MS"/>
              </a:rPr>
              <a:t>Quorum met</a:t>
            </a:r>
          </a:p>
        </p:txBody>
      </p:sp>
      <p:sp>
        <p:nvSpPr>
          <p:cNvPr id="33" name="text-72">
            <a:extLst xmlns:a="http://schemas.openxmlformats.org/drawingml/2006/main">
              <a:ext uri="{FF2B5EF4-FFF2-40B4-BE49-F238E27FC236}">
                <a16:creationId xmlns:a16="http://schemas.microsoft.com/office/drawing/2014/main" id="{AD1A61A9-9A4E-4781-87A5-AAACE5A6CB6A}"/>
              </a:ext>
            </a:extLst>
          </p:cNvPr>
          <p:cNvSpPr>
            <a:spLocks xmlns:a="http://schemas.openxmlformats.org/drawingml/2006/main" noGrp="1"/>
          </p:cNvSpPr>
          <p:nvPr/>
        </p:nvSpPr>
        <p:spPr>
          <a:xfrm xmlns:a="http://schemas.openxmlformats.org/drawingml/2006/main">
            <a:off x="6600825" y="4257675"/>
            <a:ext cx="1190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8C6100"/>
                </a:solidFill>
                <a:latin typeface="Trebuchet MS"/>
                <a:ea typeface="Trebuchet MS"/>
                <a:cs typeface="Trebuchet MS"/>
              </a:defRPr>
            </a:pPr>
            <a:r>
              <a:rPr sz="1350" b="0">
                <a:solidFill>
                  <a:srgbClr val="8C6100"/>
                </a:solidFill>
                <a:latin typeface="Trebuchet MS"/>
                <a:ea typeface="Trebuchet MS"/>
                <a:cs typeface="Trebuchet MS"/>
              </a:rPr>
              <a:t>Below quorum</a:t>
            </a:r>
          </a:p>
          <a:p xmlns:a="http://schemas.openxmlformats.org/drawingml/2006/main">
            <a:pPr algn="l">
              <a:defRPr sz="1350" b="0">
                <a:solidFill>
                  <a:srgbClr val="8C6100"/>
                </a:solidFill>
                <a:latin typeface="Trebuchet MS"/>
                <a:ea typeface="Trebuchet MS"/>
                <a:cs typeface="Trebuchet MS"/>
              </a:defRPr>
            </a:pPr>
            <a:r>
              <a:rPr sz="1350" b="0">
                <a:solidFill>
                  <a:srgbClr val="8C6100"/>
                </a:solidFill>
                <a:latin typeface="Trebuchet MS"/>
                <a:ea typeface="Trebuchet MS"/>
                <a:cs typeface="Trebuchet MS"/>
              </a:rPr>
              <a:t>or conflicting</a:t>
            </a:r>
          </a:p>
          <a:p xmlns:a="http://schemas.openxmlformats.org/drawingml/2006/main">
            <a:pPr algn="l">
              <a:defRPr sz="1350" b="0">
                <a:solidFill>
                  <a:srgbClr val="8C6100"/>
                </a:solidFill>
                <a:latin typeface="Trebuchet MS"/>
                <a:ea typeface="Trebuchet MS"/>
                <a:cs typeface="Trebuchet MS"/>
              </a:defRPr>
            </a:pPr>
            <a:r>
              <a:rPr sz="1350" b="0">
                <a:solidFill>
                  <a:srgbClr val="8C6100"/>
                </a:solidFill>
                <a:latin typeface="Trebuchet MS"/>
                <a:ea typeface="Trebuchet MS"/>
                <a:cs typeface="Trebuchet MS"/>
              </a:rPr>
              <a:t>votes</a:t>
            </a:r>
          </a:p>
        </p:txBody>
      </p:sp>
      <p:sp>
        <p:nvSpPr>
          <p:cNvPr id="34" name="text-73">
            <a:extLst xmlns:a="http://schemas.openxmlformats.org/drawingml/2006/main">
              <a:ext uri="{FF2B5EF4-FFF2-40B4-BE49-F238E27FC236}">
                <a16:creationId xmlns:a16="http://schemas.microsoft.com/office/drawing/2014/main" id="{679BF449-F8F7-4366-A308-A714E08BF24A}"/>
              </a:ext>
            </a:extLst>
          </p:cNvPr>
          <p:cNvSpPr>
            <a:spLocks xmlns:a="http://schemas.openxmlformats.org/drawingml/2006/main" noGrp="1"/>
          </p:cNvSpPr>
          <p:nvPr/>
        </p:nvSpPr>
        <p:spPr>
          <a:xfrm xmlns:a="http://schemas.openxmlformats.org/drawingml/2006/main">
            <a:off x="1143000" y="629602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27A"/>
                </a:solidFill>
                <a:latin typeface="Trebuchet MS"/>
                <a:ea typeface="Trebuchet MS"/>
                <a:cs typeface="Trebuchet MS"/>
              </a:defRPr>
            </a:pPr>
            <a:r>
              <a:rPr sz="1350" b="0">
                <a:solidFill>
                  <a:srgbClr val="53627A"/>
                </a:solidFill>
                <a:latin typeface="Trebuchet MS"/>
                <a:ea typeface="Trebuchet MS"/>
                <a:cs typeface="Trebuchet MS"/>
              </a:rPr>
              <a:t>Proposed test: 4 registered clients, at most 1 faulty; require 3 matching signed votes. Weights stay local.</a:t>
            </a:r>
          </a:p>
        </p:txBody>
      </p:sp>
    </p:spTree>
    <p:extLst>
      <p:ext uri="{BB962C8B-B14F-4D97-AF65-F5344CB8AC3E}">
        <p14:creationId xmlns:p14="http://schemas.microsoft.com/office/powerpoint/2010/main" val="381103013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28F3008E-ED13-4B4E-829A-D26A716899E9}"/>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13" name="Text Box 34">
            <a:extLst xmlns:a="http://schemas.openxmlformats.org/drawingml/2006/main">
              <a:ext uri="{FF2B5EF4-FFF2-40B4-BE49-F238E27FC236}">
                <a16:creationId xmlns:a16="http://schemas.microsoft.com/office/drawing/2014/main" id="{37B12BD7-3BC2-4E04-BA4A-9FB8A4E82438}"/>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900" indent="-342900" algn="r">
              <a:spcBef>
                <a:spcPts val="0"/>
              </a:spcBef>
              <a:spcAft>
                <a:spcPts val="0"/>
              </a:spcAft>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Expected Deliverables</a:t>
            </a:r>
            <a:endParaRPr sz="2400"/>
          </a:p>
        </p:txBody>
      </p:sp>
      <p:sp>
        <p:nvSpPr>
          <p:cNvPr id="14" name="text-74">
            <a:extLst xmlns:a="http://schemas.openxmlformats.org/drawingml/2006/main">
              <a:ext uri="{FF2B5EF4-FFF2-40B4-BE49-F238E27FC236}">
                <a16:creationId xmlns:a16="http://schemas.microsoft.com/office/drawing/2014/main" id="{D1A51D58-7B5E-43EA-BA9B-157F82878EE4}"/>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09</a:t>
            </a:r>
          </a:p>
        </p:txBody>
      </p:sp>
      <p:sp>
        <p:nvSpPr>
          <p:cNvPr id="15" name="text-75">
            <a:extLst xmlns:a="http://schemas.openxmlformats.org/drawingml/2006/main">
              <a:ext uri="{FF2B5EF4-FFF2-40B4-BE49-F238E27FC236}">
                <a16:creationId xmlns:a16="http://schemas.microsoft.com/office/drawing/2014/main" id="{C875B980-F0B2-49C2-A46D-7FBFA43FFA55}"/>
              </a:ext>
            </a:extLst>
          </p:cNvPr>
          <p:cNvSpPr>
            <a:spLocks xmlns:a="http://schemas.openxmlformats.org/drawingml/2006/main" noGrp="1"/>
          </p:cNvSpPr>
          <p:nvPr/>
        </p:nvSpPr>
        <p:spPr>
          <a:xfrm xmlns:a="http://schemas.openxmlformats.org/drawingml/2006/main">
            <a:off x="1143000" y="2143125"/>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33CC"/>
                </a:solidFill>
                <a:latin typeface="Trebuchet MS"/>
                <a:ea typeface="Trebuchet MS"/>
                <a:cs typeface="Trebuchet MS"/>
              </a:defRPr>
            </a:pPr>
            <a:r>
              <a:rPr sz="2550" b="1">
                <a:solidFill>
                  <a:srgbClr val="0033CC"/>
                </a:solidFill>
                <a:latin typeface="Trebuchet MS"/>
                <a:ea typeface="Trebuchet MS"/>
                <a:cs typeface="Trebuchet MS"/>
              </a:rPr>
              <a:t>Phase I</a:t>
            </a:r>
          </a:p>
        </p:txBody>
      </p:sp>
      <p:sp>
        <p:nvSpPr>
          <p:cNvPr id="16" name="text-76">
            <a:extLst xmlns:a="http://schemas.openxmlformats.org/drawingml/2006/main">
              <a:ext uri="{FF2B5EF4-FFF2-40B4-BE49-F238E27FC236}">
                <a16:creationId xmlns:a16="http://schemas.microsoft.com/office/drawing/2014/main" id="{A4A3D951-55D0-4A23-9E7F-146368135885}"/>
              </a:ext>
            </a:extLst>
          </p:cNvPr>
          <p:cNvSpPr>
            <a:spLocks xmlns:a="http://schemas.openxmlformats.org/drawingml/2006/main" noGrp="1"/>
          </p:cNvSpPr>
          <p:nvPr/>
        </p:nvSpPr>
        <p:spPr>
          <a:xfrm xmlns:a="http://schemas.openxmlformats.org/drawingml/2006/main">
            <a:off x="1143000" y="269557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345A"/>
                </a:solidFill>
                <a:latin typeface="Trebuchet MS"/>
                <a:ea typeface="Trebuchet MS"/>
                <a:cs typeface="Trebuchet MS"/>
              </a:defRPr>
            </a:pPr>
            <a:r>
              <a:rPr sz="2025" b="1">
                <a:solidFill>
                  <a:srgbClr val="20345A"/>
                </a:solidFill>
                <a:latin typeface="Trebuchet MS"/>
                <a:ea typeface="Trebuchet MS"/>
                <a:cs typeface="Trebuchet MS"/>
              </a:rPr>
              <a:t>Design and baseline</a:t>
            </a:r>
          </a:p>
        </p:txBody>
      </p:sp>
      <p:sp>
        <p:nvSpPr>
          <p:cNvPr id="17" name="text-77">
            <a:extLst xmlns:a="http://schemas.openxmlformats.org/drawingml/2006/main">
              <a:ext uri="{FF2B5EF4-FFF2-40B4-BE49-F238E27FC236}">
                <a16:creationId xmlns:a16="http://schemas.microsoft.com/office/drawing/2014/main" id="{B4A41DE0-ED80-4CE6-84C0-909049364CFB}"/>
              </a:ext>
            </a:extLst>
          </p:cNvPr>
          <p:cNvSpPr>
            <a:spLocks xmlns:a="http://schemas.openxmlformats.org/drawingml/2006/main" noGrp="1"/>
          </p:cNvSpPr>
          <p:nvPr/>
        </p:nvSpPr>
        <p:spPr>
          <a:xfrm xmlns:a="http://schemas.openxmlformats.org/drawingml/2006/main">
            <a:off x="1143000" y="3286125"/>
            <a:ext cx="30003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Threat model and protocol</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CAN / V2X scenario labels</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Independent baselines</a:t>
            </a:r>
          </a:p>
        </p:txBody>
      </p:sp>
      <p:sp>
        <p:nvSpPr>
          <p:cNvPr id="18" name="text-78">
            <a:extLst xmlns:a="http://schemas.openxmlformats.org/drawingml/2006/main">
              <a:ext uri="{FF2B5EF4-FFF2-40B4-BE49-F238E27FC236}">
                <a16:creationId xmlns:a16="http://schemas.microsoft.com/office/drawing/2014/main" id="{BAD6617E-BF87-49B3-B4A6-5F2C75B760A1}"/>
              </a:ext>
            </a:extLst>
          </p:cNvPr>
          <p:cNvSpPr>
            <a:spLocks xmlns:a="http://schemas.openxmlformats.org/drawingml/2006/main" noGrp="1"/>
          </p:cNvSpPr>
          <p:nvPr/>
        </p:nvSpPr>
        <p:spPr>
          <a:xfrm xmlns:a="http://schemas.openxmlformats.org/drawingml/2006/main">
            <a:off x="4610100" y="2143125"/>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33CC"/>
                </a:solidFill>
                <a:latin typeface="Trebuchet MS"/>
                <a:ea typeface="Trebuchet MS"/>
                <a:cs typeface="Trebuchet MS"/>
              </a:defRPr>
            </a:pPr>
            <a:r>
              <a:rPr sz="2550" b="1">
                <a:solidFill>
                  <a:srgbClr val="0033CC"/>
                </a:solidFill>
                <a:latin typeface="Trebuchet MS"/>
                <a:ea typeface="Trebuchet MS"/>
                <a:cs typeface="Trebuchet MS"/>
              </a:rPr>
              <a:t>Phase II</a:t>
            </a:r>
          </a:p>
        </p:txBody>
      </p:sp>
      <p:sp>
        <p:nvSpPr>
          <p:cNvPr id="19" name="text-79">
            <a:extLst xmlns:a="http://schemas.openxmlformats.org/drawingml/2006/main">
              <a:ext uri="{FF2B5EF4-FFF2-40B4-BE49-F238E27FC236}">
                <a16:creationId xmlns:a16="http://schemas.microsoft.com/office/drawing/2014/main" id="{7349200D-81CC-4E12-BD3F-FF6A0B81D7E3}"/>
              </a:ext>
            </a:extLst>
          </p:cNvPr>
          <p:cNvSpPr>
            <a:spLocks xmlns:a="http://schemas.openxmlformats.org/drawingml/2006/main" noGrp="1"/>
          </p:cNvSpPr>
          <p:nvPr/>
        </p:nvSpPr>
        <p:spPr>
          <a:xfrm xmlns:a="http://schemas.openxmlformats.org/drawingml/2006/main">
            <a:off x="4610100" y="269557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345A"/>
                </a:solidFill>
                <a:latin typeface="Trebuchet MS"/>
                <a:ea typeface="Trebuchet MS"/>
                <a:cs typeface="Trebuchet MS"/>
              </a:defRPr>
            </a:pPr>
            <a:r>
              <a:rPr sz="2025" b="1">
                <a:solidFill>
                  <a:srgbClr val="20345A"/>
                </a:solidFill>
                <a:latin typeface="Trebuchet MS"/>
                <a:ea typeface="Trebuchet MS"/>
                <a:cs typeface="Trebuchet MS"/>
              </a:rPr>
              <a:t>Integrated prototype</a:t>
            </a:r>
          </a:p>
        </p:txBody>
      </p:sp>
      <p:sp>
        <p:nvSpPr>
          <p:cNvPr id="20" name="text-80">
            <a:extLst xmlns:a="http://schemas.openxmlformats.org/drawingml/2006/main">
              <a:ext uri="{FF2B5EF4-FFF2-40B4-BE49-F238E27FC236}">
                <a16:creationId xmlns:a16="http://schemas.microsoft.com/office/drawing/2014/main" id="{D5105ADF-56A8-4D95-ABFE-7AD5F18694E3}"/>
              </a:ext>
            </a:extLst>
          </p:cNvPr>
          <p:cNvSpPr>
            <a:spLocks xmlns:a="http://schemas.openxmlformats.org/drawingml/2006/main" noGrp="1"/>
          </p:cNvSpPr>
          <p:nvPr/>
        </p:nvSpPr>
        <p:spPr>
          <a:xfrm xmlns:a="http://schemas.openxmlformats.org/drawingml/2006/main">
            <a:off x="4610100" y="3286125"/>
            <a:ext cx="30003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DYNOTEARS and voting</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Witnesses and memory tests</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AI investigator and SOC</a:t>
            </a:r>
          </a:p>
        </p:txBody>
      </p:sp>
      <p:sp>
        <p:nvSpPr>
          <p:cNvPr id="21" name="text-81">
            <a:extLst xmlns:a="http://schemas.openxmlformats.org/drawingml/2006/main">
              <a:ext uri="{FF2B5EF4-FFF2-40B4-BE49-F238E27FC236}">
                <a16:creationId xmlns:a16="http://schemas.microsoft.com/office/drawing/2014/main" id="{487B7917-CEB9-40FD-93F7-C3095CECADC0}"/>
              </a:ext>
            </a:extLst>
          </p:cNvPr>
          <p:cNvSpPr>
            <a:spLocks xmlns:a="http://schemas.openxmlformats.org/drawingml/2006/main" noGrp="1"/>
          </p:cNvSpPr>
          <p:nvPr/>
        </p:nvSpPr>
        <p:spPr>
          <a:xfrm xmlns:a="http://schemas.openxmlformats.org/drawingml/2006/main">
            <a:off x="8077200" y="2143125"/>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33CC"/>
                </a:solidFill>
                <a:latin typeface="Trebuchet MS"/>
                <a:ea typeface="Trebuchet MS"/>
                <a:cs typeface="Trebuchet MS"/>
              </a:defRPr>
            </a:pPr>
            <a:r>
              <a:rPr sz="2550" b="1">
                <a:solidFill>
                  <a:srgbClr val="0033CC"/>
                </a:solidFill>
                <a:latin typeface="Trebuchet MS"/>
                <a:ea typeface="Trebuchet MS"/>
                <a:cs typeface="Trebuchet MS"/>
              </a:rPr>
              <a:t>Phase III</a:t>
            </a:r>
          </a:p>
        </p:txBody>
      </p:sp>
      <p:sp>
        <p:nvSpPr>
          <p:cNvPr id="22" name="text-82">
            <a:extLst xmlns:a="http://schemas.openxmlformats.org/drawingml/2006/main">
              <a:ext uri="{FF2B5EF4-FFF2-40B4-BE49-F238E27FC236}">
                <a16:creationId xmlns:a16="http://schemas.microsoft.com/office/drawing/2014/main" id="{0273FC4C-FFFD-4C13-9449-B1D14455AAC2}"/>
              </a:ext>
            </a:extLst>
          </p:cNvPr>
          <p:cNvSpPr>
            <a:spLocks xmlns:a="http://schemas.openxmlformats.org/drawingml/2006/main" noGrp="1"/>
          </p:cNvSpPr>
          <p:nvPr/>
        </p:nvSpPr>
        <p:spPr>
          <a:xfrm xmlns:a="http://schemas.openxmlformats.org/drawingml/2006/main">
            <a:off x="8077200" y="269557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345A"/>
                </a:solidFill>
                <a:latin typeface="Trebuchet MS"/>
                <a:ea typeface="Trebuchet MS"/>
                <a:cs typeface="Trebuchet MS"/>
              </a:defRPr>
            </a:pPr>
            <a:r>
              <a:rPr sz="2025" b="1">
                <a:solidFill>
                  <a:srgbClr val="20345A"/>
                </a:solidFill>
                <a:latin typeface="Trebuchet MS"/>
                <a:ea typeface="Trebuchet MS"/>
                <a:cs typeface="Trebuchet MS"/>
              </a:rPr>
              <a:t>Evaluation and release</a:t>
            </a:r>
          </a:p>
        </p:txBody>
      </p:sp>
      <p:sp>
        <p:nvSpPr>
          <p:cNvPr id="23" name="text-83">
            <a:extLst xmlns:a="http://schemas.openxmlformats.org/drawingml/2006/main">
              <a:ext uri="{FF2B5EF4-FFF2-40B4-BE49-F238E27FC236}">
                <a16:creationId xmlns:a16="http://schemas.microsoft.com/office/drawing/2014/main" id="{7655516F-0C28-4771-86A3-903D209D4D62}"/>
              </a:ext>
            </a:extLst>
          </p:cNvPr>
          <p:cNvSpPr>
            <a:spLocks xmlns:a="http://schemas.openxmlformats.org/drawingml/2006/main" noGrp="1"/>
          </p:cNvSpPr>
          <p:nvPr/>
        </p:nvSpPr>
        <p:spPr>
          <a:xfrm xmlns:a="http://schemas.openxmlformats.org/drawingml/2006/main">
            <a:off x="8077200" y="3286125"/>
            <a:ext cx="30003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CAN + V2X drift dataset</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Audit-tampering dataset</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Code and manuscript</a:t>
            </a:r>
          </a:p>
        </p:txBody>
      </p:sp>
      <p:sp>
        <p:nvSpPr>
          <p:cNvPr id="24" name="line-84">
            <a:extLst xmlns:a="http://schemas.openxmlformats.org/drawingml/2006/main">
              <a:ext uri="{FF2B5EF4-FFF2-40B4-BE49-F238E27FC236}">
                <a16:creationId xmlns:a16="http://schemas.microsoft.com/office/drawing/2014/main" id="{AAD9694B-24C3-4FC8-BA0E-651B900886E3}"/>
              </a:ext>
            </a:extLst>
          </p:cNvPr>
          <p:cNvSpPr>
            <a:spLocks xmlns:a="http://schemas.openxmlformats.org/drawingml/2006/main" noGrp="1"/>
          </p:cNvSpPr>
          <p:nvPr/>
        </p:nvSpPr>
        <p:spPr>
          <a:xfrm xmlns:a="http://schemas.openxmlformats.org/drawingml/2006/main">
            <a:off x="1143000" y="4905375"/>
            <a:ext cx="9906000" cy="0"/>
          </a:xfrm>
          <a:prstGeom xmlns:a="http://schemas.openxmlformats.org/drawingml/2006/main" prst="line">
            <a:avLst/>
          </a:prstGeom>
          <a:noFill xmlns:a="http://schemas.openxmlformats.org/drawingml/2006/main"/>
          <a:ln xmlns:a="http://schemas.openxmlformats.org/drawingml/2006/main" w="19050">
            <a:solidFill>
              <a:srgbClr val="33CCCC"/>
            </a:solidFill>
            <a:prstDash val="solid"/>
          </a:ln>
        </p:spPr>
      </p:sp>
      <p:sp>
        <p:nvSpPr>
          <p:cNvPr id="25" name="text-85">
            <a:extLst xmlns:a="http://schemas.openxmlformats.org/drawingml/2006/main">
              <a:ext uri="{FF2B5EF4-FFF2-40B4-BE49-F238E27FC236}">
                <a16:creationId xmlns:a16="http://schemas.microsoft.com/office/drawing/2014/main" id="{3809DED8-71EA-4DCB-A734-1AF8CC117D3D}"/>
              </a:ext>
            </a:extLst>
          </p:cNvPr>
          <p:cNvSpPr>
            <a:spLocks xmlns:a="http://schemas.openxmlformats.org/drawingml/2006/main" noGrp="1"/>
          </p:cNvSpPr>
          <p:nvPr/>
        </p:nvSpPr>
        <p:spPr>
          <a:xfrm xmlns:a="http://schemas.openxmlformats.org/drawingml/2006/main">
            <a:off x="1143000" y="51244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33CC"/>
                </a:solidFill>
                <a:latin typeface="Trebuchet MS"/>
                <a:ea typeface="Trebuchet MS"/>
                <a:cs typeface="Trebuchet MS"/>
              </a:defRPr>
            </a:pPr>
            <a:r>
              <a:rPr sz="2100" b="1">
                <a:solidFill>
                  <a:srgbClr val="0033CC"/>
                </a:solidFill>
                <a:latin typeface="Trebuchet MS"/>
                <a:ea typeface="Trebuchet MS"/>
                <a:cs typeface="Trebuchet MS"/>
              </a:rPr>
              <a:t>Evaluation evidence</a:t>
            </a:r>
          </a:p>
        </p:txBody>
      </p:sp>
      <p:sp>
        <p:nvSpPr>
          <p:cNvPr id="26" name="text-86">
            <a:extLst xmlns:a="http://schemas.openxmlformats.org/drawingml/2006/main">
              <a:ext uri="{FF2B5EF4-FFF2-40B4-BE49-F238E27FC236}">
                <a16:creationId xmlns:a16="http://schemas.microsoft.com/office/drawing/2014/main" id="{01BEA153-368F-4197-B12F-14BF682D0A8F}"/>
              </a:ext>
            </a:extLst>
          </p:cNvPr>
          <p:cNvSpPr>
            <a:spLocks xmlns:a="http://schemas.openxmlformats.org/drawingml/2006/main" noGrp="1"/>
          </p:cNvSpPr>
          <p:nvPr/>
        </p:nvSpPr>
        <p:spPr>
          <a:xfrm xmlns:a="http://schemas.openxmlformats.org/drawingml/2006/main">
            <a:off x="1143000" y="5581650"/>
            <a:ext cx="300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Attribution</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F1, false alarms, delay</a:t>
            </a:r>
          </a:p>
        </p:txBody>
      </p:sp>
      <p:sp>
        <p:nvSpPr>
          <p:cNvPr id="27" name="text-87">
            <a:extLst xmlns:a="http://schemas.openxmlformats.org/drawingml/2006/main">
              <a:ext uri="{FF2B5EF4-FFF2-40B4-BE49-F238E27FC236}">
                <a16:creationId xmlns:a16="http://schemas.microsoft.com/office/drawing/2014/main" id="{F6A78236-0634-4AF0-ABC9-E1C8682FF898}"/>
              </a:ext>
            </a:extLst>
          </p:cNvPr>
          <p:cNvSpPr>
            <a:spLocks xmlns:a="http://schemas.openxmlformats.org/drawingml/2006/main" noGrp="1"/>
          </p:cNvSpPr>
          <p:nvPr/>
        </p:nvSpPr>
        <p:spPr>
          <a:xfrm xmlns:a="http://schemas.openxmlformats.org/drawingml/2006/main">
            <a:off x="4610100" y="5581650"/>
            <a:ext cx="300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Integrity</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Tamper recall, gap errors</a:t>
            </a:r>
          </a:p>
        </p:txBody>
      </p:sp>
      <p:sp>
        <p:nvSpPr>
          <p:cNvPr id="28" name="text-88">
            <a:extLst xmlns:a="http://schemas.openxmlformats.org/drawingml/2006/main">
              <a:ext uri="{FF2B5EF4-FFF2-40B4-BE49-F238E27FC236}">
                <a16:creationId xmlns:a16="http://schemas.microsoft.com/office/drawing/2014/main" id="{A09E4717-50FA-41AC-BCEA-8B5DB9D3E2C2}"/>
              </a:ext>
            </a:extLst>
          </p:cNvPr>
          <p:cNvSpPr>
            <a:spLocks xmlns:a="http://schemas.openxmlformats.org/drawingml/2006/main" noGrp="1"/>
          </p:cNvSpPr>
          <p:nvPr/>
        </p:nvSpPr>
        <p:spPr>
          <a:xfrm xmlns:a="http://schemas.openxmlformats.org/drawingml/2006/main">
            <a:off x="8077200" y="5581650"/>
            <a:ext cx="300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Agent and edge</a:t>
            </a:r>
          </a:p>
          <a:p xmlns:a="http://schemas.openxmlformats.org/drawingml/2006/main">
            <a:pPr algn="l">
              <a:defRPr sz="1800" b="0">
                <a:solidFill>
                  <a:srgbClr val="20345A"/>
                </a:solidFill>
                <a:latin typeface="Trebuchet MS"/>
                <a:ea typeface="Trebuchet MS"/>
                <a:cs typeface="Trebuchet MS"/>
              </a:defRPr>
            </a:pPr>
            <a:r>
              <a:rPr sz="1800" b="0">
                <a:solidFill>
                  <a:srgbClr val="20345A"/>
                </a:solidFill>
                <a:latin typeface="Trebuchet MS"/>
                <a:ea typeface="Trebuchet MS"/>
                <a:cs typeface="Trebuchet MS"/>
              </a:rPr>
              <a:t>Grounding, latency, RAM</a:t>
            </a:r>
          </a:p>
        </p:txBody>
      </p:sp>
    </p:spTree>
    <p:extLst>
      <p:ext uri="{BB962C8B-B14F-4D97-AF65-F5344CB8AC3E}">
        <p14:creationId xmlns:p14="http://schemas.microsoft.com/office/powerpoint/2010/main" val="20061177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9A7D1BC-4262-4D7B-854E-E1FE23F63711}"/>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3" name="Text Box 34">
            <a:extLst xmlns:a="http://schemas.openxmlformats.org/drawingml/2006/main">
              <a:ext uri="{FF2B5EF4-FFF2-40B4-BE49-F238E27FC236}">
                <a16:creationId xmlns:a16="http://schemas.microsoft.com/office/drawing/2014/main" id="{6001BF8D-8364-4A75-9EED-67E2A787B206}"/>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900" indent="-342900" algn="r">
              <a:spcBef>
                <a:spcPts val="0"/>
              </a:spcBef>
              <a:spcAft>
                <a:spcPts val="0"/>
              </a:spcAft>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Project Timeline: Phases I, II and III</a:t>
            </a:r>
            <a:endParaRPr sz="2400">
              <a:solidFill>
                <a:srgbClr val="FF0000"/>
              </a:solidFill>
              <a:latin typeface="Trebuchet MS"/>
              <a:ea typeface="Trebuchet MS"/>
              <a:cs typeface="Trebuchet MS"/>
            </a:endParaRPr>
          </a:p>
        </p:txBody>
      </p:sp>
      <p:sp>
        <p:nvSpPr>
          <p:cNvPr id="4" name="text-89">
            <a:extLst xmlns:a="http://schemas.openxmlformats.org/drawingml/2006/main">
              <a:ext uri="{FF2B5EF4-FFF2-40B4-BE49-F238E27FC236}">
                <a16:creationId xmlns:a16="http://schemas.microsoft.com/office/drawing/2014/main" id="{46F39919-ACE4-4433-AE9C-06F636E6639E}"/>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10</a:t>
            </a:r>
          </a:p>
        </p:txBody>
      </p:sp>
      <p:sp>
        <p:nvSpPr>
          <p:cNvPr id="5" name="text-90">
            <a:extLst xmlns:a="http://schemas.openxmlformats.org/drawingml/2006/main">
              <a:ext uri="{FF2B5EF4-FFF2-40B4-BE49-F238E27FC236}">
                <a16:creationId xmlns:a16="http://schemas.microsoft.com/office/drawing/2014/main" id="{4E2D172B-77AD-4C4C-ACCD-E96D996426F8}"/>
              </a:ext>
            </a:extLst>
          </p:cNvPr>
          <p:cNvSpPr>
            <a:spLocks xmlns:a="http://schemas.openxmlformats.org/drawingml/2006/main" noGrp="1"/>
          </p:cNvSpPr>
          <p:nvPr/>
        </p:nvSpPr>
        <p:spPr>
          <a:xfrm xmlns:a="http://schemas.openxmlformats.org/drawingml/2006/main">
            <a:off x="4648200" y="2114550"/>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0033CC"/>
                </a:solidFill>
                <a:latin typeface="Trebuchet MS"/>
                <a:ea typeface="Trebuchet MS"/>
                <a:cs typeface="Trebuchet MS"/>
              </a:defRPr>
            </a:pPr>
            <a:r>
              <a:rPr sz="2175" b="1">
                <a:solidFill>
                  <a:srgbClr val="0033CC"/>
                </a:solidFill>
                <a:latin typeface="Trebuchet MS"/>
                <a:ea typeface="Trebuchet MS"/>
                <a:cs typeface="Trebuchet MS"/>
              </a:rPr>
              <a:t>Phase I</a:t>
            </a:r>
          </a:p>
        </p:txBody>
      </p:sp>
      <p:sp>
        <p:nvSpPr>
          <p:cNvPr id="6" name="text-91">
            <a:extLst xmlns:a="http://schemas.openxmlformats.org/drawingml/2006/main">
              <a:ext uri="{FF2B5EF4-FFF2-40B4-BE49-F238E27FC236}">
                <a16:creationId xmlns:a16="http://schemas.microsoft.com/office/drawing/2014/main" id="{68AE0ADB-F25A-48DE-9EC3-F4F7FBDEDE51}"/>
              </a:ext>
            </a:extLst>
          </p:cNvPr>
          <p:cNvSpPr>
            <a:spLocks xmlns:a="http://schemas.openxmlformats.org/drawingml/2006/main" noGrp="1"/>
          </p:cNvSpPr>
          <p:nvPr/>
        </p:nvSpPr>
        <p:spPr>
          <a:xfrm xmlns:a="http://schemas.openxmlformats.org/drawingml/2006/main">
            <a:off x="6696075" y="2114550"/>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0033CC"/>
                </a:solidFill>
                <a:latin typeface="Trebuchet MS"/>
                <a:ea typeface="Trebuchet MS"/>
                <a:cs typeface="Trebuchet MS"/>
              </a:defRPr>
            </a:pPr>
            <a:r>
              <a:rPr sz="2175" b="1">
                <a:solidFill>
                  <a:srgbClr val="0033CC"/>
                </a:solidFill>
                <a:latin typeface="Trebuchet MS"/>
                <a:ea typeface="Trebuchet MS"/>
                <a:cs typeface="Trebuchet MS"/>
              </a:rPr>
              <a:t>Phase II</a:t>
            </a:r>
          </a:p>
        </p:txBody>
      </p:sp>
      <p:sp>
        <p:nvSpPr>
          <p:cNvPr id="7" name="text-92">
            <a:extLst xmlns:a="http://schemas.openxmlformats.org/drawingml/2006/main">
              <a:ext uri="{FF2B5EF4-FFF2-40B4-BE49-F238E27FC236}">
                <a16:creationId xmlns:a16="http://schemas.microsoft.com/office/drawing/2014/main" id="{4AC13127-EBAD-4BDE-93FE-829D575F87AD}"/>
              </a:ext>
            </a:extLst>
          </p:cNvPr>
          <p:cNvSpPr>
            <a:spLocks xmlns:a="http://schemas.openxmlformats.org/drawingml/2006/main" noGrp="1"/>
          </p:cNvSpPr>
          <p:nvPr/>
        </p:nvSpPr>
        <p:spPr>
          <a:xfrm xmlns:a="http://schemas.openxmlformats.org/drawingml/2006/main">
            <a:off x="8743950" y="2114550"/>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0033CC"/>
                </a:solidFill>
                <a:latin typeface="Trebuchet MS"/>
                <a:ea typeface="Trebuchet MS"/>
                <a:cs typeface="Trebuchet MS"/>
              </a:defRPr>
            </a:pPr>
            <a:r>
              <a:rPr sz="2175" b="1">
                <a:solidFill>
                  <a:srgbClr val="0033CC"/>
                </a:solidFill>
                <a:latin typeface="Trebuchet MS"/>
                <a:ea typeface="Trebuchet MS"/>
                <a:cs typeface="Trebuchet MS"/>
              </a:rPr>
              <a:t>Phase III</a:t>
            </a:r>
          </a:p>
        </p:txBody>
      </p:sp>
      <p:sp>
        <p:nvSpPr>
          <p:cNvPr id="8" name="text-93">
            <a:extLst xmlns:a="http://schemas.openxmlformats.org/drawingml/2006/main">
              <a:ext uri="{FF2B5EF4-FFF2-40B4-BE49-F238E27FC236}">
                <a16:creationId xmlns:a16="http://schemas.microsoft.com/office/drawing/2014/main" id="{240317B7-B684-45AB-B3C4-6CA905ED6F23}"/>
              </a:ext>
            </a:extLst>
          </p:cNvPr>
          <p:cNvSpPr>
            <a:spLocks xmlns:a="http://schemas.openxmlformats.org/drawingml/2006/main" noGrp="1"/>
          </p:cNvSpPr>
          <p:nvPr/>
        </p:nvSpPr>
        <p:spPr>
          <a:xfrm xmlns:a="http://schemas.openxmlformats.org/drawingml/2006/main">
            <a:off x="114300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0345A"/>
                </a:solidFill>
                <a:latin typeface="Trebuchet MS"/>
                <a:ea typeface="Trebuchet MS"/>
                <a:cs typeface="Trebuchet MS"/>
              </a:defRPr>
            </a:pPr>
            <a:r>
              <a:rPr sz="1725" b="0">
                <a:solidFill>
                  <a:srgbClr val="20345A"/>
                </a:solidFill>
                <a:latin typeface="Trebuchet MS"/>
                <a:ea typeface="Trebuchet MS"/>
                <a:cs typeface="Trebuchet MS"/>
              </a:rPr>
              <a:t>Literature and threat model</a:t>
            </a:r>
          </a:p>
        </p:txBody>
      </p:sp>
      <p:sp>
        <p:nvSpPr>
          <p:cNvPr id="9" name="line-94">
            <a:extLst xmlns:a="http://schemas.openxmlformats.org/drawingml/2006/main">
              <a:ext uri="{FF2B5EF4-FFF2-40B4-BE49-F238E27FC236}">
                <a16:creationId xmlns:a16="http://schemas.microsoft.com/office/drawing/2014/main" id="{9D0BC749-3BE6-43A4-A923-BE2AE7B96A6B}"/>
              </a:ext>
            </a:extLst>
          </p:cNvPr>
          <p:cNvSpPr>
            <a:spLocks xmlns:a="http://schemas.openxmlformats.org/drawingml/2006/main" noGrp="1"/>
          </p:cNvSpPr>
          <p:nvPr/>
        </p:nvSpPr>
        <p:spPr>
          <a:xfrm xmlns:a="http://schemas.openxmlformats.org/drawingml/2006/main">
            <a:off x="4648200" y="3276600"/>
            <a:ext cx="6143625" cy="0"/>
          </a:xfrm>
          <a:prstGeom xmlns:a="http://schemas.openxmlformats.org/drawingml/2006/main" prst="line">
            <a:avLst/>
          </a:prstGeom>
          <a:noFill xmlns:a="http://schemas.openxmlformats.org/drawingml/2006/main"/>
          <a:ln xmlns:a="http://schemas.openxmlformats.org/drawingml/2006/main" w="9525">
            <a:solidFill>
              <a:srgbClr val="E4EAF2"/>
            </a:solidFill>
            <a:prstDash val="solid"/>
          </a:ln>
        </p:spPr>
      </p:sp>
      <p:sp>
        <p:nvSpPr>
          <p:cNvPr id="10" name="text-95">
            <a:extLst xmlns:a="http://schemas.openxmlformats.org/drawingml/2006/main">
              <a:ext uri="{FF2B5EF4-FFF2-40B4-BE49-F238E27FC236}">
                <a16:creationId xmlns:a16="http://schemas.microsoft.com/office/drawing/2014/main" id="{50B3EF42-834A-45C7-8DB9-67353EE61AA1}"/>
              </a:ext>
            </a:extLst>
          </p:cNvPr>
          <p:cNvSpPr>
            <a:spLocks xmlns:a="http://schemas.openxmlformats.org/drawingml/2006/main" noGrp="1"/>
          </p:cNvSpPr>
          <p:nvPr/>
        </p:nvSpPr>
        <p:spPr>
          <a:xfrm xmlns:a="http://schemas.openxmlformats.org/drawingml/2006/main">
            <a:off x="1143000" y="34004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0345A"/>
                </a:solidFill>
                <a:latin typeface="Trebuchet MS"/>
                <a:ea typeface="Trebuchet MS"/>
                <a:cs typeface="Trebuchet MS"/>
              </a:defRPr>
            </a:pPr>
            <a:r>
              <a:rPr sz="1725" b="0">
                <a:solidFill>
                  <a:srgbClr val="20345A"/>
                </a:solidFill>
                <a:latin typeface="Trebuchet MS"/>
                <a:ea typeface="Trebuchet MS"/>
                <a:cs typeface="Trebuchet MS"/>
              </a:rPr>
              <a:t>Scenario and dataset pipeline</a:t>
            </a:r>
          </a:p>
        </p:txBody>
      </p:sp>
      <p:sp>
        <p:nvSpPr>
          <p:cNvPr id="11" name="line-96">
            <a:extLst xmlns:a="http://schemas.openxmlformats.org/drawingml/2006/main">
              <a:ext uri="{FF2B5EF4-FFF2-40B4-BE49-F238E27FC236}">
                <a16:creationId xmlns:a16="http://schemas.microsoft.com/office/drawing/2014/main" id="{AB03E47B-CB5B-4A48-A454-7BB25AC0C3C9}"/>
              </a:ext>
            </a:extLst>
          </p:cNvPr>
          <p:cNvSpPr>
            <a:spLocks xmlns:a="http://schemas.openxmlformats.org/drawingml/2006/main" noGrp="1"/>
          </p:cNvSpPr>
          <p:nvPr/>
        </p:nvSpPr>
        <p:spPr>
          <a:xfrm xmlns:a="http://schemas.openxmlformats.org/drawingml/2006/main">
            <a:off x="4648200" y="3762375"/>
            <a:ext cx="6143625" cy="0"/>
          </a:xfrm>
          <a:prstGeom xmlns:a="http://schemas.openxmlformats.org/drawingml/2006/main" prst="line">
            <a:avLst/>
          </a:prstGeom>
          <a:noFill xmlns:a="http://schemas.openxmlformats.org/drawingml/2006/main"/>
          <a:ln xmlns:a="http://schemas.openxmlformats.org/drawingml/2006/main" w="9525">
            <a:solidFill>
              <a:srgbClr val="E4EAF2"/>
            </a:solidFill>
            <a:prstDash val="solid"/>
          </a:ln>
        </p:spPr>
      </p:sp>
      <p:sp>
        <p:nvSpPr>
          <p:cNvPr id="12" name="text-97">
            <a:extLst xmlns:a="http://schemas.openxmlformats.org/drawingml/2006/main">
              <a:ext uri="{FF2B5EF4-FFF2-40B4-BE49-F238E27FC236}">
                <a16:creationId xmlns:a16="http://schemas.microsoft.com/office/drawing/2014/main" id="{BECAF006-4F39-433B-9352-6DD51FC14406}"/>
              </a:ext>
            </a:extLst>
          </p:cNvPr>
          <p:cNvSpPr>
            <a:spLocks xmlns:a="http://schemas.openxmlformats.org/drawingml/2006/main" noGrp="1"/>
          </p:cNvSpPr>
          <p:nvPr/>
        </p:nvSpPr>
        <p:spPr>
          <a:xfrm xmlns:a="http://schemas.openxmlformats.org/drawingml/2006/main">
            <a:off x="1143000" y="38862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0345A"/>
                </a:solidFill>
                <a:latin typeface="Trebuchet MS"/>
                <a:ea typeface="Trebuchet MS"/>
                <a:cs typeface="Trebuchet MS"/>
              </a:defRPr>
            </a:pPr>
            <a:r>
              <a:rPr sz="1725" b="0">
                <a:solidFill>
                  <a:srgbClr val="20345A"/>
                </a:solidFill>
                <a:latin typeface="Trebuchet MS"/>
                <a:ea typeface="Trebuchet MS"/>
                <a:cs typeface="Trebuchet MS"/>
              </a:rPr>
              <a:t>Per-layer detection + DYNOTEARS</a:t>
            </a:r>
          </a:p>
        </p:txBody>
      </p:sp>
      <p:sp>
        <p:nvSpPr>
          <p:cNvPr id="13" name="line-98">
            <a:extLst xmlns:a="http://schemas.openxmlformats.org/drawingml/2006/main">
              <a:ext uri="{FF2B5EF4-FFF2-40B4-BE49-F238E27FC236}">
                <a16:creationId xmlns:a16="http://schemas.microsoft.com/office/drawing/2014/main" id="{46FEDBDC-17E8-43C1-A4B1-38422ABC48D7}"/>
              </a:ext>
            </a:extLst>
          </p:cNvPr>
          <p:cNvSpPr>
            <a:spLocks xmlns:a="http://schemas.openxmlformats.org/drawingml/2006/main" noGrp="1"/>
          </p:cNvSpPr>
          <p:nvPr/>
        </p:nvSpPr>
        <p:spPr>
          <a:xfrm xmlns:a="http://schemas.openxmlformats.org/drawingml/2006/main">
            <a:off x="4648200" y="4248150"/>
            <a:ext cx="6143625" cy="0"/>
          </a:xfrm>
          <a:prstGeom xmlns:a="http://schemas.openxmlformats.org/drawingml/2006/main" prst="line">
            <a:avLst/>
          </a:prstGeom>
          <a:noFill xmlns:a="http://schemas.openxmlformats.org/drawingml/2006/main"/>
          <a:ln xmlns:a="http://schemas.openxmlformats.org/drawingml/2006/main" w="9525">
            <a:solidFill>
              <a:srgbClr val="E4EAF2"/>
            </a:solidFill>
            <a:prstDash val="solid"/>
          </a:ln>
        </p:spPr>
      </p:sp>
      <p:sp>
        <p:nvSpPr>
          <p:cNvPr id="14" name="text-99">
            <a:extLst xmlns:a="http://schemas.openxmlformats.org/drawingml/2006/main">
              <a:ext uri="{FF2B5EF4-FFF2-40B4-BE49-F238E27FC236}">
                <a16:creationId xmlns:a16="http://schemas.microsoft.com/office/drawing/2014/main" id="{979F5107-95BE-4D59-B6C9-29B1C75B9DCB}"/>
              </a:ext>
            </a:extLst>
          </p:cNvPr>
          <p:cNvSpPr>
            <a:spLocks xmlns:a="http://schemas.openxmlformats.org/drawingml/2006/main" noGrp="1"/>
          </p:cNvSpPr>
          <p:nvPr/>
        </p:nvSpPr>
        <p:spPr>
          <a:xfrm xmlns:a="http://schemas.openxmlformats.org/drawingml/2006/main">
            <a:off x="1143000" y="4371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0345A"/>
                </a:solidFill>
                <a:latin typeface="Trebuchet MS"/>
                <a:ea typeface="Trebuchet MS"/>
                <a:cs typeface="Trebuchet MS"/>
              </a:defRPr>
            </a:pPr>
            <a:r>
              <a:rPr sz="1725" b="0">
                <a:solidFill>
                  <a:srgbClr val="20345A"/>
                </a:solidFill>
                <a:latin typeface="Trebuchet MS"/>
                <a:ea typeface="Trebuchet MS"/>
                <a:cs typeface="Trebuchet MS"/>
              </a:rPr>
              <a:t>Verdict sharing + GhostTrace</a:t>
            </a:r>
          </a:p>
        </p:txBody>
      </p:sp>
      <p:sp>
        <p:nvSpPr>
          <p:cNvPr id="15" name="line-100">
            <a:extLst xmlns:a="http://schemas.openxmlformats.org/drawingml/2006/main">
              <a:ext uri="{FF2B5EF4-FFF2-40B4-BE49-F238E27FC236}">
                <a16:creationId xmlns:a16="http://schemas.microsoft.com/office/drawing/2014/main" id="{4973F521-ECCC-46D8-8FBC-643705E523B4}"/>
              </a:ext>
            </a:extLst>
          </p:cNvPr>
          <p:cNvSpPr>
            <a:spLocks xmlns:a="http://schemas.openxmlformats.org/drawingml/2006/main" noGrp="1"/>
          </p:cNvSpPr>
          <p:nvPr/>
        </p:nvSpPr>
        <p:spPr>
          <a:xfrm xmlns:a="http://schemas.openxmlformats.org/drawingml/2006/main">
            <a:off x="4648200" y="4733925"/>
            <a:ext cx="6143625" cy="0"/>
          </a:xfrm>
          <a:prstGeom xmlns:a="http://schemas.openxmlformats.org/drawingml/2006/main" prst="line">
            <a:avLst/>
          </a:prstGeom>
          <a:noFill xmlns:a="http://schemas.openxmlformats.org/drawingml/2006/main"/>
          <a:ln xmlns:a="http://schemas.openxmlformats.org/drawingml/2006/main" w="9525">
            <a:solidFill>
              <a:srgbClr val="E4EAF2"/>
            </a:solidFill>
            <a:prstDash val="solid"/>
          </a:ln>
        </p:spPr>
      </p:sp>
      <p:sp>
        <p:nvSpPr>
          <p:cNvPr id="16" name="text-101">
            <a:extLst xmlns:a="http://schemas.openxmlformats.org/drawingml/2006/main">
              <a:ext uri="{FF2B5EF4-FFF2-40B4-BE49-F238E27FC236}">
                <a16:creationId xmlns:a16="http://schemas.microsoft.com/office/drawing/2014/main" id="{F494524B-5DE2-4363-89BB-21E53AF98635}"/>
              </a:ext>
            </a:extLst>
          </p:cNvPr>
          <p:cNvSpPr>
            <a:spLocks xmlns:a="http://schemas.openxmlformats.org/drawingml/2006/main" noGrp="1"/>
          </p:cNvSpPr>
          <p:nvPr/>
        </p:nvSpPr>
        <p:spPr>
          <a:xfrm xmlns:a="http://schemas.openxmlformats.org/drawingml/2006/main">
            <a:off x="1143000" y="48577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0345A"/>
                </a:solidFill>
                <a:latin typeface="Trebuchet MS"/>
                <a:ea typeface="Trebuchet MS"/>
                <a:cs typeface="Trebuchet MS"/>
              </a:defRPr>
            </a:pPr>
            <a:r>
              <a:rPr sz="1725" b="0">
                <a:solidFill>
                  <a:srgbClr val="20345A"/>
                </a:solidFill>
                <a:latin typeface="Trebuchet MS"/>
                <a:ea typeface="Trebuchet MS"/>
                <a:cs typeface="Trebuchet MS"/>
              </a:rPr>
              <a:t>Agentic investigation + SOC</a:t>
            </a:r>
          </a:p>
        </p:txBody>
      </p:sp>
      <p:sp>
        <p:nvSpPr>
          <p:cNvPr id="17" name="line-102">
            <a:extLst xmlns:a="http://schemas.openxmlformats.org/drawingml/2006/main">
              <a:ext uri="{FF2B5EF4-FFF2-40B4-BE49-F238E27FC236}">
                <a16:creationId xmlns:a16="http://schemas.microsoft.com/office/drawing/2014/main" id="{15C4CD02-C983-4F59-9CF0-C0C3ACE5AE28}"/>
              </a:ext>
            </a:extLst>
          </p:cNvPr>
          <p:cNvSpPr>
            <a:spLocks xmlns:a="http://schemas.openxmlformats.org/drawingml/2006/main" noGrp="1"/>
          </p:cNvSpPr>
          <p:nvPr/>
        </p:nvSpPr>
        <p:spPr>
          <a:xfrm xmlns:a="http://schemas.openxmlformats.org/drawingml/2006/main">
            <a:off x="4648200" y="5219700"/>
            <a:ext cx="6143625" cy="0"/>
          </a:xfrm>
          <a:prstGeom xmlns:a="http://schemas.openxmlformats.org/drawingml/2006/main" prst="line">
            <a:avLst/>
          </a:prstGeom>
          <a:noFill xmlns:a="http://schemas.openxmlformats.org/drawingml/2006/main"/>
          <a:ln xmlns:a="http://schemas.openxmlformats.org/drawingml/2006/main" w="9525">
            <a:solidFill>
              <a:srgbClr val="E4EAF2"/>
            </a:solidFill>
            <a:prstDash val="solid"/>
          </a:ln>
        </p:spPr>
      </p:sp>
      <p:sp>
        <p:nvSpPr>
          <p:cNvPr id="18" name="text-103">
            <a:extLst xmlns:a="http://schemas.openxmlformats.org/drawingml/2006/main">
              <a:ext uri="{FF2B5EF4-FFF2-40B4-BE49-F238E27FC236}">
                <a16:creationId xmlns:a16="http://schemas.microsoft.com/office/drawing/2014/main" id="{5D4EDEF2-44AF-48EB-B828-AB8234EF3A69}"/>
              </a:ext>
            </a:extLst>
          </p:cNvPr>
          <p:cNvSpPr>
            <a:spLocks xmlns:a="http://schemas.openxmlformats.org/drawingml/2006/main" noGrp="1"/>
          </p:cNvSpPr>
          <p:nvPr/>
        </p:nvSpPr>
        <p:spPr>
          <a:xfrm xmlns:a="http://schemas.openxmlformats.org/drawingml/2006/main">
            <a:off x="1143000" y="53435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0345A"/>
                </a:solidFill>
                <a:latin typeface="Trebuchet MS"/>
                <a:ea typeface="Trebuchet MS"/>
                <a:cs typeface="Trebuchet MS"/>
              </a:defRPr>
            </a:pPr>
            <a:r>
              <a:rPr sz="1725" b="0">
                <a:solidFill>
                  <a:srgbClr val="20345A"/>
                </a:solidFill>
                <a:latin typeface="Trebuchet MS"/>
                <a:ea typeface="Trebuchet MS"/>
                <a:cs typeface="Trebuchet MS"/>
              </a:rPr>
              <a:t>Evaluation, release and paper</a:t>
            </a:r>
          </a:p>
        </p:txBody>
      </p:sp>
      <p:sp>
        <p:nvSpPr>
          <p:cNvPr id="19" name="line-104">
            <a:extLst xmlns:a="http://schemas.openxmlformats.org/drawingml/2006/main">
              <a:ext uri="{FF2B5EF4-FFF2-40B4-BE49-F238E27FC236}">
                <a16:creationId xmlns:a16="http://schemas.microsoft.com/office/drawing/2014/main" id="{8F97C33C-A6BB-48C6-8A53-603E5DFF3AE0}"/>
              </a:ext>
            </a:extLst>
          </p:cNvPr>
          <p:cNvSpPr>
            <a:spLocks xmlns:a="http://schemas.openxmlformats.org/drawingml/2006/main" noGrp="1"/>
          </p:cNvSpPr>
          <p:nvPr/>
        </p:nvSpPr>
        <p:spPr>
          <a:xfrm xmlns:a="http://schemas.openxmlformats.org/drawingml/2006/main">
            <a:off x="4648200" y="5705475"/>
            <a:ext cx="6143625" cy="0"/>
          </a:xfrm>
          <a:prstGeom xmlns:a="http://schemas.openxmlformats.org/drawingml/2006/main" prst="line">
            <a:avLst/>
          </a:prstGeom>
          <a:noFill xmlns:a="http://schemas.openxmlformats.org/drawingml/2006/main"/>
          <a:ln xmlns:a="http://schemas.openxmlformats.org/drawingml/2006/main" w="9525">
            <a:solidFill>
              <a:srgbClr val="E4EAF2"/>
            </a:solidFill>
            <a:prstDash val="solid"/>
          </a:ln>
        </p:spPr>
      </p:sp>
      <p:sp>
        <p:nvSpPr>
          <p:cNvPr id="20" name="line-105">
            <a:extLst xmlns:a="http://schemas.openxmlformats.org/drawingml/2006/main">
              <a:ext uri="{FF2B5EF4-FFF2-40B4-BE49-F238E27FC236}">
                <a16:creationId xmlns:a16="http://schemas.microsoft.com/office/drawing/2014/main" id="{B0B810AE-B494-4DA7-98CC-F286247BA4C9}"/>
              </a:ext>
            </a:extLst>
          </p:cNvPr>
          <p:cNvSpPr>
            <a:spLocks xmlns:a="http://schemas.openxmlformats.org/drawingml/2006/main" noGrp="1"/>
          </p:cNvSpPr>
          <p:nvPr/>
        </p:nvSpPr>
        <p:spPr>
          <a:xfrm xmlns:a="http://schemas.openxmlformats.org/drawingml/2006/main">
            <a:off x="4648200" y="2647950"/>
            <a:ext cx="0" cy="3200400"/>
          </a:xfrm>
          <a:prstGeom xmlns:a="http://schemas.openxmlformats.org/drawingml/2006/main" prst="line">
            <a:avLst/>
          </a:prstGeom>
          <a:noFill xmlns:a="http://schemas.openxmlformats.org/drawingml/2006/main"/>
          <a:ln xmlns:a="http://schemas.openxmlformats.org/drawingml/2006/main" w="9525">
            <a:solidFill>
              <a:srgbClr val="CDD8E5"/>
            </a:solidFill>
            <a:prstDash val="solid"/>
          </a:ln>
        </p:spPr>
      </p:sp>
      <p:sp>
        <p:nvSpPr>
          <p:cNvPr id="21" name="line-106">
            <a:extLst xmlns:a="http://schemas.openxmlformats.org/drawingml/2006/main">
              <a:ext uri="{FF2B5EF4-FFF2-40B4-BE49-F238E27FC236}">
                <a16:creationId xmlns:a16="http://schemas.microsoft.com/office/drawing/2014/main" id="{E7C04149-5F71-4648-A8C8-C215144FED65}"/>
              </a:ext>
            </a:extLst>
          </p:cNvPr>
          <p:cNvSpPr>
            <a:spLocks xmlns:a="http://schemas.openxmlformats.org/drawingml/2006/main" noGrp="1"/>
          </p:cNvSpPr>
          <p:nvPr/>
        </p:nvSpPr>
        <p:spPr>
          <a:xfrm xmlns:a="http://schemas.openxmlformats.org/drawingml/2006/main">
            <a:off x="6696075" y="2647950"/>
            <a:ext cx="0" cy="3200400"/>
          </a:xfrm>
          <a:prstGeom xmlns:a="http://schemas.openxmlformats.org/drawingml/2006/main" prst="line">
            <a:avLst/>
          </a:prstGeom>
          <a:noFill xmlns:a="http://schemas.openxmlformats.org/drawingml/2006/main"/>
          <a:ln xmlns:a="http://schemas.openxmlformats.org/drawingml/2006/main" w="9525">
            <a:solidFill>
              <a:srgbClr val="CDD8E5"/>
            </a:solidFill>
            <a:prstDash val="solid"/>
          </a:ln>
        </p:spPr>
      </p:sp>
      <p:sp>
        <p:nvSpPr>
          <p:cNvPr id="22" name="line-107">
            <a:extLst xmlns:a="http://schemas.openxmlformats.org/drawingml/2006/main">
              <a:ext uri="{FF2B5EF4-FFF2-40B4-BE49-F238E27FC236}">
                <a16:creationId xmlns:a16="http://schemas.microsoft.com/office/drawing/2014/main" id="{E8833480-2347-44E6-8FE9-A4A51D0B7436}"/>
              </a:ext>
            </a:extLst>
          </p:cNvPr>
          <p:cNvSpPr>
            <a:spLocks xmlns:a="http://schemas.openxmlformats.org/drawingml/2006/main" noGrp="1"/>
          </p:cNvSpPr>
          <p:nvPr/>
        </p:nvSpPr>
        <p:spPr>
          <a:xfrm xmlns:a="http://schemas.openxmlformats.org/drawingml/2006/main">
            <a:off x="8743950" y="2647950"/>
            <a:ext cx="0" cy="3200400"/>
          </a:xfrm>
          <a:prstGeom xmlns:a="http://schemas.openxmlformats.org/drawingml/2006/main" prst="line">
            <a:avLst/>
          </a:prstGeom>
          <a:noFill xmlns:a="http://schemas.openxmlformats.org/drawingml/2006/main"/>
          <a:ln xmlns:a="http://schemas.openxmlformats.org/drawingml/2006/main" w="9525">
            <a:solidFill>
              <a:srgbClr val="CDD8E5"/>
            </a:solidFill>
            <a:prstDash val="solid"/>
          </a:ln>
        </p:spPr>
      </p:sp>
      <p:sp>
        <p:nvSpPr>
          <p:cNvPr id="23" name="line-108">
            <a:extLst xmlns:a="http://schemas.openxmlformats.org/drawingml/2006/main">
              <a:ext uri="{FF2B5EF4-FFF2-40B4-BE49-F238E27FC236}">
                <a16:creationId xmlns:a16="http://schemas.microsoft.com/office/drawing/2014/main" id="{A213E668-66CB-4245-9998-A93CD6155324}"/>
              </a:ext>
            </a:extLst>
          </p:cNvPr>
          <p:cNvSpPr>
            <a:spLocks xmlns:a="http://schemas.openxmlformats.org/drawingml/2006/main" noGrp="1"/>
          </p:cNvSpPr>
          <p:nvPr/>
        </p:nvSpPr>
        <p:spPr>
          <a:xfrm xmlns:a="http://schemas.openxmlformats.org/drawingml/2006/main">
            <a:off x="10791825" y="2647950"/>
            <a:ext cx="0" cy="3200400"/>
          </a:xfrm>
          <a:prstGeom xmlns:a="http://schemas.openxmlformats.org/drawingml/2006/main" prst="line">
            <a:avLst/>
          </a:prstGeom>
          <a:noFill xmlns:a="http://schemas.openxmlformats.org/drawingml/2006/main"/>
          <a:ln xmlns:a="http://schemas.openxmlformats.org/drawingml/2006/main" w="9525">
            <a:solidFill>
              <a:srgbClr val="CDD8E5"/>
            </a:solidFill>
            <a:prstDash val="solid"/>
          </a:ln>
        </p:spPr>
      </p:sp>
      <p:sp>
        <p:nvSpPr>
          <p:cNvPr id="24" name="diagram-109">
            <a:extLst xmlns:a="http://schemas.openxmlformats.org/drawingml/2006/main">
              <a:ext uri="{FF2B5EF4-FFF2-40B4-BE49-F238E27FC236}">
                <a16:creationId xmlns:a16="http://schemas.microsoft.com/office/drawing/2014/main" id="{4BE31768-9FDF-4788-94BB-587766B9077F}"/>
              </a:ext>
            </a:extLst>
          </p:cNvPr>
          <p:cNvSpPr>
            <a:spLocks xmlns:a="http://schemas.openxmlformats.org/drawingml/2006/main" noGrp="1"/>
          </p:cNvSpPr>
          <p:nvPr/>
        </p:nvSpPr>
        <p:spPr>
          <a:xfrm xmlns:a="http://schemas.openxmlformats.org/drawingml/2006/main">
            <a:off x="4724400" y="2895600"/>
            <a:ext cx="1895475" cy="314325"/>
          </a:xfrm>
          <a:prstGeom xmlns:a="http://schemas.openxmlformats.org/drawingml/2006/main" prst="rect">
            <a:avLst/>
          </a:prstGeom>
          <a:solidFill xmlns:a="http://schemas.openxmlformats.org/drawingml/2006/main">
            <a:srgbClr val="0033CC"/>
          </a:solidFill>
          <a:ln xmlns:a="http://schemas.openxmlformats.org/drawingml/2006/main" w="0">
            <a:solidFill>
              <a:srgbClr val="0033CC"/>
            </a:solidFill>
          </a:ln>
        </p:spPr>
      </p:sp>
      <p:sp>
        <p:nvSpPr>
          <p:cNvPr id="25" name="text-110">
            <a:extLst xmlns:a="http://schemas.openxmlformats.org/drawingml/2006/main">
              <a:ext uri="{FF2B5EF4-FFF2-40B4-BE49-F238E27FC236}">
                <a16:creationId xmlns:a16="http://schemas.microsoft.com/office/drawing/2014/main" id="{51833561-5B86-47F0-8F0C-59EEF034467C}"/>
              </a:ext>
            </a:extLst>
          </p:cNvPr>
          <p:cNvSpPr>
            <a:spLocks xmlns:a="http://schemas.openxmlformats.org/drawingml/2006/main" noGrp="1"/>
          </p:cNvSpPr>
          <p:nvPr/>
        </p:nvSpPr>
        <p:spPr>
          <a:xfrm xmlns:a="http://schemas.openxmlformats.org/drawingml/2006/main">
            <a:off x="4791075" y="2933700"/>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Trebuchet MS"/>
                <a:ea typeface="Trebuchet MS"/>
                <a:cs typeface="Trebuchet MS"/>
              </a:defRPr>
            </a:pPr>
            <a:r>
              <a:rPr sz="1425" b="0">
                <a:solidFill>
                  <a:srgbClr val="FFFFFF"/>
                </a:solidFill>
                <a:latin typeface="Trebuchet MS"/>
                <a:ea typeface="Trebuchet MS"/>
                <a:cs typeface="Trebuchet MS"/>
              </a:rPr>
              <a:t>Protocol</a:t>
            </a:r>
          </a:p>
        </p:txBody>
      </p:sp>
      <p:sp>
        <p:nvSpPr>
          <p:cNvPr id="26" name="diagram-111">
            <a:extLst xmlns:a="http://schemas.openxmlformats.org/drawingml/2006/main">
              <a:ext uri="{FF2B5EF4-FFF2-40B4-BE49-F238E27FC236}">
                <a16:creationId xmlns:a16="http://schemas.microsoft.com/office/drawing/2014/main" id="{C534957B-5A68-44A9-B6E0-D55D78C3D251}"/>
              </a:ext>
            </a:extLst>
          </p:cNvPr>
          <p:cNvSpPr>
            <a:spLocks xmlns:a="http://schemas.openxmlformats.org/drawingml/2006/main" noGrp="1"/>
          </p:cNvSpPr>
          <p:nvPr/>
        </p:nvSpPr>
        <p:spPr>
          <a:xfrm xmlns:a="http://schemas.openxmlformats.org/drawingml/2006/main">
            <a:off x="5338763" y="3381375"/>
            <a:ext cx="3328988" cy="314325"/>
          </a:xfrm>
          <a:prstGeom xmlns:a="http://schemas.openxmlformats.org/drawingml/2006/main" prst="rect">
            <a:avLst/>
          </a:prstGeom>
          <a:solidFill xmlns:a="http://schemas.openxmlformats.org/drawingml/2006/main">
            <a:srgbClr val="087E8B"/>
          </a:solidFill>
          <a:ln xmlns:a="http://schemas.openxmlformats.org/drawingml/2006/main" w="0">
            <a:solidFill>
              <a:srgbClr val="087E8B"/>
            </a:solidFill>
          </a:ln>
        </p:spPr>
      </p:sp>
      <p:sp>
        <p:nvSpPr>
          <p:cNvPr id="27" name="text-112">
            <a:extLst xmlns:a="http://schemas.openxmlformats.org/drawingml/2006/main">
              <a:ext uri="{FF2B5EF4-FFF2-40B4-BE49-F238E27FC236}">
                <a16:creationId xmlns:a16="http://schemas.microsoft.com/office/drawing/2014/main" id="{F32727CB-1516-466B-BE0A-78722AA30BB7}"/>
              </a:ext>
            </a:extLst>
          </p:cNvPr>
          <p:cNvSpPr>
            <a:spLocks xmlns:a="http://schemas.openxmlformats.org/drawingml/2006/main" noGrp="1"/>
          </p:cNvSpPr>
          <p:nvPr/>
        </p:nvSpPr>
        <p:spPr>
          <a:xfrm xmlns:a="http://schemas.openxmlformats.org/drawingml/2006/main">
            <a:off x="5405438" y="3419475"/>
            <a:ext cx="319563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Trebuchet MS"/>
                <a:ea typeface="Trebuchet MS"/>
                <a:cs typeface="Trebuchet MS"/>
              </a:defRPr>
            </a:pPr>
            <a:r>
              <a:rPr sz="1425" b="0">
                <a:solidFill>
                  <a:srgbClr val="FFFFFF"/>
                </a:solidFill>
                <a:latin typeface="Trebuchet MS"/>
                <a:ea typeface="Trebuchet MS"/>
                <a:cs typeface="Trebuchet MS"/>
              </a:rPr>
              <a:t>Build and label</a:t>
            </a:r>
          </a:p>
        </p:txBody>
      </p:sp>
      <p:sp>
        <p:nvSpPr>
          <p:cNvPr id="28" name="diagram-113">
            <a:extLst xmlns:a="http://schemas.openxmlformats.org/drawingml/2006/main">
              <a:ext uri="{FF2B5EF4-FFF2-40B4-BE49-F238E27FC236}">
                <a16:creationId xmlns:a16="http://schemas.microsoft.com/office/drawing/2014/main" id="{3A3BB8DD-3091-4701-A6D4-472C02EFE364}"/>
              </a:ext>
            </a:extLst>
          </p:cNvPr>
          <p:cNvSpPr>
            <a:spLocks xmlns:a="http://schemas.openxmlformats.org/drawingml/2006/main" noGrp="1"/>
          </p:cNvSpPr>
          <p:nvPr/>
        </p:nvSpPr>
        <p:spPr>
          <a:xfrm xmlns:a="http://schemas.openxmlformats.org/drawingml/2006/main">
            <a:off x="5748338" y="3867150"/>
            <a:ext cx="2919413" cy="314325"/>
          </a:xfrm>
          <a:prstGeom xmlns:a="http://schemas.openxmlformats.org/drawingml/2006/main" prst="rect">
            <a:avLst/>
          </a:prstGeom>
          <a:solidFill xmlns:a="http://schemas.openxmlformats.org/drawingml/2006/main">
            <a:srgbClr val="0033CC"/>
          </a:solidFill>
          <a:ln xmlns:a="http://schemas.openxmlformats.org/drawingml/2006/main" w="0">
            <a:solidFill>
              <a:srgbClr val="0033CC"/>
            </a:solidFill>
          </a:ln>
        </p:spPr>
      </p:sp>
      <p:sp>
        <p:nvSpPr>
          <p:cNvPr id="29" name="text-114">
            <a:extLst xmlns:a="http://schemas.openxmlformats.org/drawingml/2006/main">
              <a:ext uri="{FF2B5EF4-FFF2-40B4-BE49-F238E27FC236}">
                <a16:creationId xmlns:a16="http://schemas.microsoft.com/office/drawing/2014/main" id="{232C57B5-DF46-4674-AAC1-781E8084D509}"/>
              </a:ext>
            </a:extLst>
          </p:cNvPr>
          <p:cNvSpPr>
            <a:spLocks xmlns:a="http://schemas.openxmlformats.org/drawingml/2006/main" noGrp="1"/>
          </p:cNvSpPr>
          <p:nvPr/>
        </p:nvSpPr>
        <p:spPr>
          <a:xfrm xmlns:a="http://schemas.openxmlformats.org/drawingml/2006/main">
            <a:off x="5815013" y="3905250"/>
            <a:ext cx="278606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Trebuchet MS"/>
                <a:ea typeface="Trebuchet MS"/>
                <a:cs typeface="Trebuchet MS"/>
              </a:defRPr>
            </a:pPr>
            <a:r>
              <a:rPr sz="1425" b="0">
                <a:solidFill>
                  <a:srgbClr val="FFFFFF"/>
                </a:solidFill>
                <a:latin typeface="Trebuchet MS"/>
                <a:ea typeface="Trebuchet MS"/>
                <a:cs typeface="Trebuchet MS"/>
              </a:rPr>
              <a:t>Baseline and integrate</a:t>
            </a:r>
          </a:p>
        </p:txBody>
      </p:sp>
      <p:sp>
        <p:nvSpPr>
          <p:cNvPr id="30" name="diagram-115">
            <a:extLst xmlns:a="http://schemas.openxmlformats.org/drawingml/2006/main">
              <a:ext uri="{FF2B5EF4-FFF2-40B4-BE49-F238E27FC236}">
                <a16:creationId xmlns:a16="http://schemas.microsoft.com/office/drawing/2014/main" id="{9C6FA03D-022F-4D3D-BA1E-6340AF7BA48F}"/>
              </a:ext>
            </a:extLst>
          </p:cNvPr>
          <p:cNvSpPr>
            <a:spLocks xmlns:a="http://schemas.openxmlformats.org/drawingml/2006/main" noGrp="1"/>
          </p:cNvSpPr>
          <p:nvPr/>
        </p:nvSpPr>
        <p:spPr>
          <a:xfrm xmlns:a="http://schemas.openxmlformats.org/drawingml/2006/main">
            <a:off x="6772275" y="4352925"/>
            <a:ext cx="1895475" cy="314325"/>
          </a:xfrm>
          <a:prstGeom xmlns:a="http://schemas.openxmlformats.org/drawingml/2006/main" prst="rect">
            <a:avLst/>
          </a:prstGeom>
          <a:solidFill xmlns:a="http://schemas.openxmlformats.org/drawingml/2006/main">
            <a:srgbClr val="0033CC"/>
          </a:solidFill>
          <a:ln xmlns:a="http://schemas.openxmlformats.org/drawingml/2006/main" w="0">
            <a:solidFill>
              <a:srgbClr val="0033CC"/>
            </a:solidFill>
          </a:ln>
        </p:spPr>
      </p:sp>
      <p:sp>
        <p:nvSpPr>
          <p:cNvPr id="31" name="text-116">
            <a:extLst xmlns:a="http://schemas.openxmlformats.org/drawingml/2006/main">
              <a:ext uri="{FF2B5EF4-FFF2-40B4-BE49-F238E27FC236}">
                <a16:creationId xmlns:a16="http://schemas.microsoft.com/office/drawing/2014/main" id="{C67A0291-1623-4FE7-BD65-A33E28F4D669}"/>
              </a:ext>
            </a:extLst>
          </p:cNvPr>
          <p:cNvSpPr>
            <a:spLocks xmlns:a="http://schemas.openxmlformats.org/drawingml/2006/main" noGrp="1"/>
          </p:cNvSpPr>
          <p:nvPr/>
        </p:nvSpPr>
        <p:spPr>
          <a:xfrm xmlns:a="http://schemas.openxmlformats.org/drawingml/2006/main">
            <a:off x="6838950" y="4391025"/>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Trebuchet MS"/>
                <a:ea typeface="Trebuchet MS"/>
                <a:cs typeface="Trebuchet MS"/>
              </a:defRPr>
            </a:pPr>
            <a:r>
              <a:rPr sz="1425" b="0">
                <a:solidFill>
                  <a:srgbClr val="FFFFFF"/>
                </a:solidFill>
                <a:latin typeface="Trebuchet MS"/>
                <a:ea typeface="Trebuchet MS"/>
                <a:cs typeface="Trebuchet MS"/>
              </a:rPr>
              <a:t>Implement</a:t>
            </a:r>
          </a:p>
        </p:txBody>
      </p:sp>
      <p:sp>
        <p:nvSpPr>
          <p:cNvPr id="32" name="diagram-117">
            <a:extLst xmlns:a="http://schemas.openxmlformats.org/drawingml/2006/main">
              <a:ext uri="{FF2B5EF4-FFF2-40B4-BE49-F238E27FC236}">
                <a16:creationId xmlns:a16="http://schemas.microsoft.com/office/drawing/2014/main" id="{F47AE68B-8EB6-43E4-8D9F-1210FCF2650B}"/>
              </a:ext>
            </a:extLst>
          </p:cNvPr>
          <p:cNvSpPr>
            <a:spLocks xmlns:a="http://schemas.openxmlformats.org/drawingml/2006/main" noGrp="1"/>
          </p:cNvSpPr>
          <p:nvPr/>
        </p:nvSpPr>
        <p:spPr>
          <a:xfrm xmlns:a="http://schemas.openxmlformats.org/drawingml/2006/main">
            <a:off x="7181850" y="4838700"/>
            <a:ext cx="2509838" cy="314325"/>
          </a:xfrm>
          <a:prstGeom xmlns:a="http://schemas.openxmlformats.org/drawingml/2006/main" prst="rect">
            <a:avLst/>
          </a:prstGeom>
          <a:solidFill xmlns:a="http://schemas.openxmlformats.org/drawingml/2006/main">
            <a:srgbClr val="087E8B"/>
          </a:solidFill>
          <a:ln xmlns:a="http://schemas.openxmlformats.org/drawingml/2006/main" w="0">
            <a:solidFill>
              <a:srgbClr val="087E8B"/>
            </a:solidFill>
          </a:ln>
        </p:spPr>
      </p:sp>
      <p:sp>
        <p:nvSpPr>
          <p:cNvPr id="33" name="text-118">
            <a:extLst xmlns:a="http://schemas.openxmlformats.org/drawingml/2006/main">
              <a:ext uri="{FF2B5EF4-FFF2-40B4-BE49-F238E27FC236}">
                <a16:creationId xmlns:a16="http://schemas.microsoft.com/office/drawing/2014/main" id="{4BB86825-F454-41F3-8312-659CE1007887}"/>
              </a:ext>
            </a:extLst>
          </p:cNvPr>
          <p:cNvSpPr>
            <a:spLocks xmlns:a="http://schemas.openxmlformats.org/drawingml/2006/main" noGrp="1"/>
          </p:cNvSpPr>
          <p:nvPr/>
        </p:nvSpPr>
        <p:spPr>
          <a:xfrm xmlns:a="http://schemas.openxmlformats.org/drawingml/2006/main">
            <a:off x="7248525" y="4876800"/>
            <a:ext cx="237648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Trebuchet MS"/>
                <a:ea typeface="Trebuchet MS"/>
                <a:cs typeface="Trebuchet MS"/>
              </a:defRPr>
            </a:pPr>
            <a:r>
              <a:rPr sz="1425" b="0">
                <a:solidFill>
                  <a:srgbClr val="FFFFFF"/>
                </a:solidFill>
                <a:latin typeface="Trebuchet MS"/>
                <a:ea typeface="Trebuchet MS"/>
                <a:cs typeface="Trebuchet MS"/>
              </a:rPr>
              <a:t>Integrate and test</a:t>
            </a:r>
          </a:p>
        </p:txBody>
      </p:sp>
      <p:sp>
        <p:nvSpPr>
          <p:cNvPr id="34" name="diagram-119">
            <a:extLst xmlns:a="http://schemas.openxmlformats.org/drawingml/2006/main">
              <a:ext uri="{FF2B5EF4-FFF2-40B4-BE49-F238E27FC236}">
                <a16:creationId xmlns:a16="http://schemas.microsoft.com/office/drawing/2014/main" id="{B820AAA3-E21A-4961-A91F-BC8271703641}"/>
              </a:ext>
            </a:extLst>
          </p:cNvPr>
          <p:cNvSpPr>
            <a:spLocks xmlns:a="http://schemas.openxmlformats.org/drawingml/2006/main" noGrp="1"/>
          </p:cNvSpPr>
          <p:nvPr/>
        </p:nvSpPr>
        <p:spPr>
          <a:xfrm xmlns:a="http://schemas.openxmlformats.org/drawingml/2006/main">
            <a:off x="8820150" y="5324475"/>
            <a:ext cx="1895475" cy="314325"/>
          </a:xfrm>
          <a:prstGeom xmlns:a="http://schemas.openxmlformats.org/drawingml/2006/main" prst="rect">
            <a:avLst/>
          </a:prstGeom>
          <a:solidFill xmlns:a="http://schemas.openxmlformats.org/drawingml/2006/main">
            <a:srgbClr val="0033CC"/>
          </a:solidFill>
          <a:ln xmlns:a="http://schemas.openxmlformats.org/drawingml/2006/main" w="0">
            <a:solidFill>
              <a:srgbClr val="0033CC"/>
            </a:solidFill>
          </a:ln>
        </p:spPr>
      </p:sp>
      <p:sp>
        <p:nvSpPr>
          <p:cNvPr id="35" name="text-120">
            <a:extLst xmlns:a="http://schemas.openxmlformats.org/drawingml/2006/main">
              <a:ext uri="{FF2B5EF4-FFF2-40B4-BE49-F238E27FC236}">
                <a16:creationId xmlns:a16="http://schemas.microsoft.com/office/drawing/2014/main" id="{2617BAB5-0E8D-4ECB-9C4E-571E9FB4F852}"/>
              </a:ext>
            </a:extLst>
          </p:cNvPr>
          <p:cNvSpPr>
            <a:spLocks xmlns:a="http://schemas.openxmlformats.org/drawingml/2006/main" noGrp="1"/>
          </p:cNvSpPr>
          <p:nvPr/>
        </p:nvSpPr>
        <p:spPr>
          <a:xfrm xmlns:a="http://schemas.openxmlformats.org/drawingml/2006/main">
            <a:off x="8886825" y="5362575"/>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Trebuchet MS"/>
                <a:ea typeface="Trebuchet MS"/>
                <a:cs typeface="Trebuchet MS"/>
              </a:defRPr>
            </a:pPr>
            <a:r>
              <a:rPr sz="1425" b="0">
                <a:solidFill>
                  <a:srgbClr val="FFFFFF"/>
                </a:solidFill>
                <a:latin typeface="Trebuchet MS"/>
                <a:ea typeface="Trebuchet MS"/>
                <a:cs typeface="Trebuchet MS"/>
              </a:rPr>
              <a:t>Validate and release</a:t>
            </a:r>
          </a:p>
        </p:txBody>
      </p:sp>
      <p:sp>
        <p:nvSpPr>
          <p:cNvPr id="36" name="text-121">
            <a:extLst xmlns:a="http://schemas.openxmlformats.org/drawingml/2006/main">
              <a:ext uri="{FF2B5EF4-FFF2-40B4-BE49-F238E27FC236}">
                <a16:creationId xmlns:a16="http://schemas.microsoft.com/office/drawing/2014/main" id="{B7A263BF-7B2D-4797-8CAA-20543142ED66}"/>
              </a:ext>
            </a:extLst>
          </p:cNvPr>
          <p:cNvSpPr>
            <a:spLocks xmlns:a="http://schemas.openxmlformats.org/drawingml/2006/main" noGrp="1"/>
          </p:cNvSpPr>
          <p:nvPr/>
        </p:nvSpPr>
        <p:spPr>
          <a:xfrm xmlns:a="http://schemas.openxmlformats.org/drawingml/2006/main">
            <a:off x="1143000" y="614362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27A"/>
                </a:solidFill>
                <a:latin typeface="Trebuchet MS"/>
                <a:ea typeface="Trebuchet MS"/>
                <a:cs typeface="Trebuchet MS"/>
              </a:defRPr>
            </a:pPr>
            <a:r>
              <a:rPr sz="1575" b="0">
                <a:solidFill>
                  <a:srgbClr val="53627A"/>
                </a:solidFill>
                <a:latin typeface="Trebuchet MS"/>
                <a:ea typeface="Trebuchet MS"/>
                <a:cs typeface="Trebuchet MS"/>
              </a:rPr>
              <a:t>Proposed phase sequence; bar lengths are schematic, not calendar durations.</a:t>
            </a:r>
          </a:p>
        </p:txBody>
      </p:sp>
    </p:spTree>
    <p:extLst>
      <p:ext uri="{BB962C8B-B14F-4D97-AF65-F5344CB8AC3E}">
        <p14:creationId xmlns:p14="http://schemas.microsoft.com/office/powerpoint/2010/main" val="9198103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FDF20F4-46DC-4A05-A6E1-252F9EEFC440}"/>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endParaRPr/>
          </a:p>
        </p:txBody>
      </p:sp>
      <p:sp>
        <p:nvSpPr>
          <p:cNvPr id="3" name="Text Box 34">
            <a:extLst xmlns:a="http://schemas.openxmlformats.org/drawingml/2006/main">
              <a:ext uri="{FF2B5EF4-FFF2-40B4-BE49-F238E27FC236}">
                <a16:creationId xmlns:a16="http://schemas.microsoft.com/office/drawing/2014/main" id="{63567059-997F-4E66-84B6-6316A6FA0C23}"/>
              </a:ext>
            </a:extLst>
          </p:cNvPr>
          <p:cNvSpPr>
            <a:spLocks xmlns:a="http://schemas.openxmlformats.org/drawingml/2006/main" noGrp="1"/>
          </p:cNvSpPr>
          <p:nvPr/>
        </p:nvSpPr>
        <p:spPr>
          <a:xfrm xmlns:a="http://schemas.openxmlformats.org/drawingml/2006/main">
            <a:off x="2000250" y="1123950"/>
            <a:ext cx="866775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oAutofit/>
          </a:bodyPr>
          <a:lstStyle xmlns:a="http://schemas.openxmlformats.org/drawingml/2006/main"/>
          <a:p xmlns:a="http://schemas.openxmlformats.org/drawingml/2006/main">
            <a:pPr marL="342891" indent="-342891" algn="r">
              <a:buNone/>
              <a:defRPr sz="2400" b="0">
                <a:solidFill>
                  <a:srgbClr val="FF0000"/>
                </a:solidFill>
                <a:latin typeface="Trebuchet MS"/>
                <a:ea typeface="Trebuchet MS"/>
                <a:cs typeface="Trebuchet MS"/>
              </a:defRPr>
            </a:pPr>
            <a:r>
              <a:rPr sz="2400" b="0">
                <a:solidFill>
                  <a:srgbClr val="FF0000"/>
                </a:solidFill>
                <a:latin typeface="Trebuchet MS"/>
                <a:ea typeface="Trebuchet MS"/>
                <a:cs typeface="Trebuchet MS"/>
              </a:rPr>
              <a:t>GhostTrace and Agentic Investigation</a:t>
            </a:r>
          </a:p>
        </p:txBody>
      </p:sp>
      <p:sp>
        <p:nvSpPr>
          <p:cNvPr id="4" name="text-122">
            <a:extLst xmlns:a="http://schemas.openxmlformats.org/drawingml/2006/main">
              <a:ext uri="{FF2B5EF4-FFF2-40B4-BE49-F238E27FC236}">
                <a16:creationId xmlns:a16="http://schemas.microsoft.com/office/drawing/2014/main" id="{EDA1FCDA-890F-4E80-AF1A-83E65A38F345}"/>
              </a:ext>
            </a:extLst>
          </p:cNvPr>
          <p:cNvSpPr>
            <a:spLocks xmlns:a="http://schemas.openxmlformats.org/drawingml/2006/main" noGrp="1"/>
          </p:cNvSpPr>
          <p:nvPr/>
        </p:nvSpPr>
        <p:spPr>
          <a:xfrm xmlns:a="http://schemas.openxmlformats.org/drawingml/2006/main">
            <a:off x="10572750" y="640080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11</a:t>
            </a:r>
          </a:p>
        </p:txBody>
      </p:sp>
      <p:sp>
        <p:nvSpPr>
          <p:cNvPr id="5" name="text-123">
            <a:extLst xmlns:a="http://schemas.openxmlformats.org/drawingml/2006/main">
              <a:ext uri="{FF2B5EF4-FFF2-40B4-BE49-F238E27FC236}">
                <a16:creationId xmlns:a16="http://schemas.microsoft.com/office/drawing/2014/main" id="{6EA469B8-5A8C-4045-8496-E95CB3A28603}"/>
              </a:ext>
            </a:extLst>
          </p:cNvPr>
          <p:cNvSpPr>
            <a:spLocks xmlns:a="http://schemas.openxmlformats.org/drawingml/2006/main" noGrp="1"/>
          </p:cNvSpPr>
          <p:nvPr/>
        </p:nvSpPr>
        <p:spPr>
          <a:xfrm xmlns:a="http://schemas.openxmlformats.org/drawingml/2006/main">
            <a:off x="1143000" y="1971675"/>
            <a:ext cx="6238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345A"/>
                </a:solidFill>
                <a:latin typeface="Trebuchet MS"/>
                <a:ea typeface="Trebuchet MS"/>
                <a:cs typeface="Trebuchet MS"/>
              </a:defRPr>
            </a:pPr>
            <a:r>
              <a:rPr sz="2100" b="1">
                <a:solidFill>
                  <a:srgbClr val="20345A"/>
                </a:solidFill>
                <a:latin typeface="Trebuchet MS"/>
                <a:ea typeface="Trebuchet MS"/>
                <a:cs typeface="Trebuchet MS"/>
              </a:rPr>
              <a:t>Deterministic evidence checks</a:t>
            </a:r>
          </a:p>
        </p:txBody>
      </p:sp>
      <p:sp>
        <p:nvSpPr>
          <p:cNvPr id="6" name="text-124">
            <a:extLst xmlns:a="http://schemas.openxmlformats.org/drawingml/2006/main">
              <a:ext uri="{FF2B5EF4-FFF2-40B4-BE49-F238E27FC236}">
                <a16:creationId xmlns:a16="http://schemas.microsoft.com/office/drawing/2014/main" id="{A3A2E88B-03F3-448F-843D-C757B7DE149F}"/>
              </a:ext>
            </a:extLst>
          </p:cNvPr>
          <p:cNvSpPr>
            <a:spLocks xmlns:a="http://schemas.openxmlformats.org/drawingml/2006/main" noGrp="1"/>
          </p:cNvSpPr>
          <p:nvPr/>
        </p:nvSpPr>
        <p:spPr>
          <a:xfrm xmlns:a="http://schemas.openxmlformats.org/drawingml/2006/main">
            <a:off x="8143875" y="1971675"/>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345A"/>
                </a:solidFill>
                <a:latin typeface="Trebuchet MS"/>
                <a:ea typeface="Trebuchet MS"/>
                <a:cs typeface="Trebuchet MS"/>
              </a:defRPr>
            </a:pPr>
            <a:r>
              <a:rPr sz="2100" b="1">
                <a:solidFill>
                  <a:srgbClr val="20345A"/>
                </a:solidFill>
                <a:latin typeface="Trebuchet MS"/>
                <a:ea typeface="Trebuchet MS"/>
                <a:cs typeface="Trebuchet MS"/>
              </a:rPr>
              <a:t>Bounded AI workflow</a:t>
            </a:r>
          </a:p>
        </p:txBody>
      </p:sp>
      <p:sp>
        <p:nvSpPr>
          <p:cNvPr id="7" name="diagram-125">
            <a:extLst xmlns:a="http://schemas.openxmlformats.org/drawingml/2006/main">
              <a:ext uri="{FF2B5EF4-FFF2-40B4-BE49-F238E27FC236}">
                <a16:creationId xmlns:a16="http://schemas.microsoft.com/office/drawing/2014/main" id="{0DACE6DF-A58C-490D-B0C1-BA9741D79541}"/>
              </a:ext>
            </a:extLst>
          </p:cNvPr>
          <p:cNvSpPr>
            <a:spLocks xmlns:a="http://schemas.openxmlformats.org/drawingml/2006/main" noGrp="1"/>
          </p:cNvSpPr>
          <p:nvPr/>
        </p:nvSpPr>
        <p:spPr>
          <a:xfrm xmlns:a="http://schemas.openxmlformats.org/drawingml/2006/main">
            <a:off x="1143000" y="2571750"/>
            <a:ext cx="2286000" cy="82867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Hash-chained</a:t>
            </a:r>
          </a:p>
          <a:p xmlns:a="http://schemas.openxmlformats.org/drawingml/2006/main">
            <a:pPr algn="ctr">
              <a:defRPr sz="2025" b="0">
                <a:solidFill>
                  <a:srgbClr val="0033CC"/>
                </a:solidFill>
                <a:latin typeface="Trebuchet MS"/>
                <a:ea typeface="Trebuchet MS"/>
                <a:cs typeface="Trebuchet MS"/>
              </a:defRPr>
            </a:pPr>
            <a:r>
              <a:rPr sz="2025" b="0">
                <a:solidFill>
                  <a:srgbClr val="0033CC"/>
                </a:solidFill>
                <a:latin typeface="Trebuchet MS"/>
                <a:ea typeface="Trebuchet MS"/>
                <a:cs typeface="Trebuchet MS"/>
              </a:rPr>
              <a:t>local records</a:t>
            </a:r>
          </a:p>
        </p:txBody>
      </p:sp>
      <p:sp>
        <p:nvSpPr>
          <p:cNvPr id="8" name="diagram-126">
            <a:extLst xmlns:a="http://schemas.openxmlformats.org/drawingml/2006/main">
              <a:ext uri="{FF2B5EF4-FFF2-40B4-BE49-F238E27FC236}">
                <a16:creationId xmlns:a16="http://schemas.microsoft.com/office/drawing/2014/main" id="{0C2F606A-70A3-4FA9-A9AE-10DAEB32AC6A}"/>
              </a:ext>
            </a:extLst>
          </p:cNvPr>
          <p:cNvSpPr>
            <a:spLocks xmlns:a="http://schemas.openxmlformats.org/drawingml/2006/main" noGrp="1"/>
          </p:cNvSpPr>
          <p:nvPr/>
        </p:nvSpPr>
        <p:spPr>
          <a:xfrm xmlns:a="http://schemas.openxmlformats.org/drawingml/2006/main">
            <a:off x="1143000" y="3971925"/>
            <a:ext cx="2286000" cy="88582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Witness receipts</a:t>
            </a:r>
          </a:p>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Delayed sync</a:t>
            </a:r>
          </a:p>
        </p:txBody>
      </p:sp>
      <p:sp>
        <p:nvSpPr>
          <p:cNvPr id="9" name="diagram-127">
            <a:extLst xmlns:a="http://schemas.openxmlformats.org/drawingml/2006/main">
              <a:ext uri="{FF2B5EF4-FFF2-40B4-BE49-F238E27FC236}">
                <a16:creationId xmlns:a16="http://schemas.microsoft.com/office/drawing/2014/main" id="{633E34B2-2139-42D6-95BE-3D1608547781}"/>
              </a:ext>
            </a:extLst>
          </p:cNvPr>
          <p:cNvSpPr>
            <a:spLocks xmlns:a="http://schemas.openxmlformats.org/drawingml/2006/main" noGrp="1"/>
          </p:cNvSpPr>
          <p:nvPr/>
        </p:nvSpPr>
        <p:spPr>
          <a:xfrm xmlns:a="http://schemas.openxmlformats.org/drawingml/2006/main">
            <a:off x="4181475" y="2857500"/>
            <a:ext cx="3028950"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0033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Verify signatures,</a:t>
            </a:r>
          </a:p>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anchors and consistency</a:t>
            </a:r>
          </a:p>
        </p:txBody>
      </p:sp>
      <p:cxnSp>
        <p:nvCxnSpPr>
          <p:cNvPr id="35" name=""/>
          <p:cNvCxnSpPr>
            <a:stCxn xmlns:a="http://schemas.openxmlformats.org/drawingml/2006/main" id="7" idx="3"/>
            <a:endCxn xmlns:a="http://schemas.openxmlformats.org/drawingml/2006/main" id="9" idx="1"/>
          </p:cNvCxnSpPr>
          <p:nvPr/>
        </p:nvCxnSpPr>
        <p:spPr>
          <a:xfrm xmlns:a="http://schemas.openxmlformats.org/drawingml/2006/main">
            <a:off x="3429000" y="2986088"/>
            <a:ext cx="752475" cy="323850"/>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cxnSp>
        <p:nvCxnSpPr>
          <p:cNvPr id="36" name=""/>
          <p:cNvCxnSpPr>
            <a:stCxn xmlns:a="http://schemas.openxmlformats.org/drawingml/2006/main" id="8" idx="3"/>
            <a:endCxn xmlns:a="http://schemas.openxmlformats.org/drawingml/2006/main" id="9" idx="1"/>
          </p:cNvCxnSpPr>
          <p:nvPr/>
        </p:nvCxnSpPr>
        <p:spPr>
          <a:xfrm xmlns:a="http://schemas.openxmlformats.org/drawingml/2006/main" flipV="1">
            <a:off x="3429000" y="3309938"/>
            <a:ext cx="752475" cy="1104900"/>
          </a:xfrm>
          <a:prstGeom xmlns:a="http://schemas.openxmlformats.org/drawingml/2006/main" prst="bentConnector3">
            <a:avLst>
              <a:gd name="adj1" fmla="val 50000"/>
            </a:avLst>
          </a:prstGeom>
          <a:ln xmlns:a="http://schemas.openxmlformats.org/drawingml/2006/main" w="19050">
            <a:solidFill>
              <a:srgbClr val="087E8B"/>
            </a:solidFill>
            <a:prstDash val="solid"/>
            <a:tailEnd type="triangle" w="sm" len="sm"/>
          </a:ln>
        </p:spPr>
      </p:cxnSp>
      <p:sp>
        <p:nvSpPr>
          <p:cNvPr id="12" name="text-128">
            <a:extLst xmlns:a="http://schemas.openxmlformats.org/drawingml/2006/main">
              <a:ext uri="{FF2B5EF4-FFF2-40B4-BE49-F238E27FC236}">
                <a16:creationId xmlns:a16="http://schemas.microsoft.com/office/drawing/2014/main" id="{48611CA0-CFD7-4117-A866-308C6BCDCAE4}"/>
              </a:ext>
            </a:extLst>
          </p:cNvPr>
          <p:cNvSpPr>
            <a:spLocks xmlns:a="http://schemas.openxmlformats.org/drawingml/2006/main" noGrp="1"/>
          </p:cNvSpPr>
          <p:nvPr/>
        </p:nvSpPr>
        <p:spPr>
          <a:xfrm xmlns:a="http://schemas.openxmlformats.org/drawingml/2006/main">
            <a:off x="4181475" y="4057650"/>
            <a:ext cx="3028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0345A"/>
                </a:solidFill>
                <a:latin typeface="Trebuchet MS"/>
                <a:ea typeface="Trebuchet MS"/>
                <a:cs typeface="Trebuchet MS"/>
              </a:defRPr>
            </a:pPr>
            <a:r>
              <a:rPr sz="1800" b="1">
                <a:solidFill>
                  <a:srgbClr val="20345A"/>
                </a:solidFill>
                <a:latin typeface="Trebuchet MS"/>
                <a:ea typeface="Trebuchet MS"/>
                <a:cs typeface="Trebuchet MS"/>
              </a:rPr>
              <a:t>Integrity outcomes</a:t>
            </a:r>
          </a:p>
        </p:txBody>
      </p:sp>
      <p:sp>
        <p:nvSpPr>
          <p:cNvPr id="13" name="text-129">
            <a:extLst xmlns:a="http://schemas.openxmlformats.org/drawingml/2006/main">
              <a:ext uri="{FF2B5EF4-FFF2-40B4-BE49-F238E27FC236}">
                <a16:creationId xmlns:a16="http://schemas.microsoft.com/office/drawing/2014/main" id="{430F101F-506C-4FE9-AFEE-6D83D9AF5587}"/>
              </a:ext>
            </a:extLst>
          </p:cNvPr>
          <p:cNvSpPr>
            <a:spLocks xmlns:a="http://schemas.openxmlformats.org/drawingml/2006/main" noGrp="1"/>
          </p:cNvSpPr>
          <p:nvPr/>
        </p:nvSpPr>
        <p:spPr>
          <a:xfrm xmlns:a="http://schemas.openxmlformats.org/drawingml/2006/main">
            <a:off x="4181475" y="4448175"/>
            <a:ext cx="3124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7D5E"/>
                </a:solidFill>
                <a:latin typeface="Trebuchet MS"/>
                <a:ea typeface="Trebuchet MS"/>
                <a:cs typeface="Trebuchet MS"/>
              </a:defRPr>
            </a:pPr>
            <a:r>
              <a:rPr sz="1725" b="0">
                <a:solidFill>
                  <a:srgbClr val="187D5E"/>
                </a:solidFill>
                <a:latin typeface="Trebuchet MS"/>
                <a:ea typeface="Trebuchet MS"/>
                <a:cs typeface="Trebuchet MS"/>
              </a:rPr>
              <a:t>Consistent with commitments</a:t>
            </a:r>
          </a:p>
        </p:txBody>
      </p:sp>
      <p:sp>
        <p:nvSpPr>
          <p:cNvPr id="14" name="text-130">
            <a:extLst xmlns:a="http://schemas.openxmlformats.org/drawingml/2006/main">
              <a:ext uri="{FF2B5EF4-FFF2-40B4-BE49-F238E27FC236}">
                <a16:creationId xmlns:a16="http://schemas.microsoft.com/office/drawing/2014/main" id="{9836FE98-46B9-4D91-AF2F-37A292288465}"/>
              </a:ext>
            </a:extLst>
          </p:cNvPr>
          <p:cNvSpPr>
            <a:spLocks xmlns:a="http://schemas.openxmlformats.org/drawingml/2006/main" noGrp="1"/>
          </p:cNvSpPr>
          <p:nvPr/>
        </p:nvSpPr>
        <p:spPr>
          <a:xfrm xmlns:a="http://schemas.openxmlformats.org/drawingml/2006/main">
            <a:off x="4181475" y="4857750"/>
            <a:ext cx="3124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0000"/>
                </a:solidFill>
                <a:latin typeface="Trebuchet MS"/>
                <a:ea typeface="Trebuchet MS"/>
                <a:cs typeface="Trebuchet MS"/>
              </a:defRPr>
            </a:pPr>
            <a:r>
              <a:rPr sz="1725" b="0">
                <a:solidFill>
                  <a:srgbClr val="FF0000"/>
                </a:solidFill>
                <a:latin typeface="Trebuchet MS"/>
                <a:ea typeface="Trebuchet MS"/>
                <a:cs typeface="Trebuchet MS"/>
              </a:rPr>
              <a:t>Verified integrity conflict</a:t>
            </a:r>
          </a:p>
        </p:txBody>
      </p:sp>
      <p:sp>
        <p:nvSpPr>
          <p:cNvPr id="15" name="text-131">
            <a:extLst xmlns:a="http://schemas.openxmlformats.org/drawingml/2006/main">
              <a:ext uri="{FF2B5EF4-FFF2-40B4-BE49-F238E27FC236}">
                <a16:creationId xmlns:a16="http://schemas.microsoft.com/office/drawing/2014/main" id="{E8C5403B-555D-427B-9BDF-732304D96F1B}"/>
              </a:ext>
            </a:extLst>
          </p:cNvPr>
          <p:cNvSpPr>
            <a:spLocks xmlns:a="http://schemas.openxmlformats.org/drawingml/2006/main" noGrp="1"/>
          </p:cNvSpPr>
          <p:nvPr/>
        </p:nvSpPr>
        <p:spPr>
          <a:xfrm xmlns:a="http://schemas.openxmlformats.org/drawingml/2006/main">
            <a:off x="4181475" y="5267325"/>
            <a:ext cx="3124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8C6100"/>
                </a:solidFill>
                <a:latin typeface="Trebuchet MS"/>
                <a:ea typeface="Trebuchet MS"/>
                <a:cs typeface="Trebuchet MS"/>
              </a:defRPr>
            </a:pPr>
            <a:r>
              <a:rPr sz="1725" b="0">
                <a:solidFill>
                  <a:srgbClr val="8C6100"/>
                </a:solidFill>
                <a:latin typeface="Trebuchet MS"/>
                <a:ea typeface="Trebuchet MS"/>
                <a:cs typeface="Trebuchet MS"/>
              </a:rPr>
              <a:t>Gap / insufficient evidence</a:t>
            </a:r>
          </a:p>
        </p:txBody>
      </p:sp>
      <p:sp>
        <p:nvSpPr>
          <p:cNvPr id="16" name="line-132">
            <a:extLst xmlns:a="http://schemas.openxmlformats.org/drawingml/2006/main">
              <a:ext uri="{FF2B5EF4-FFF2-40B4-BE49-F238E27FC236}">
                <a16:creationId xmlns:a16="http://schemas.microsoft.com/office/drawing/2014/main" id="{95F35D40-9D16-4FD1-9D09-C3E60EC31F70}"/>
              </a:ext>
            </a:extLst>
          </p:cNvPr>
          <p:cNvSpPr>
            <a:spLocks xmlns:a="http://schemas.openxmlformats.org/drawingml/2006/main" noGrp="1"/>
          </p:cNvSpPr>
          <p:nvPr/>
        </p:nvSpPr>
        <p:spPr>
          <a:xfrm xmlns:a="http://schemas.openxmlformats.org/drawingml/2006/main">
            <a:off x="7734300" y="2419350"/>
            <a:ext cx="0" cy="3619500"/>
          </a:xfrm>
          <a:prstGeom xmlns:a="http://schemas.openxmlformats.org/drawingml/2006/main" prst="line">
            <a:avLst/>
          </a:prstGeom>
          <a:noFill xmlns:a="http://schemas.openxmlformats.org/drawingml/2006/main"/>
          <a:ln xmlns:a="http://schemas.openxmlformats.org/drawingml/2006/main" w="19050">
            <a:solidFill>
              <a:srgbClr val="CDD8E5"/>
            </a:solidFill>
            <a:prstDash val="dash"/>
          </a:ln>
        </p:spPr>
      </p:sp>
      <p:sp>
        <p:nvSpPr>
          <p:cNvPr id="17" name="diagram-133">
            <a:extLst xmlns:a="http://schemas.openxmlformats.org/drawingml/2006/main">
              <a:ext uri="{FF2B5EF4-FFF2-40B4-BE49-F238E27FC236}">
                <a16:creationId xmlns:a16="http://schemas.microsoft.com/office/drawing/2014/main" id="{B3B659B1-BCE9-4444-8AAC-17D87F029F6E}"/>
              </a:ext>
            </a:extLst>
          </p:cNvPr>
          <p:cNvSpPr>
            <a:spLocks xmlns:a="http://schemas.openxmlformats.org/drawingml/2006/main" noGrp="1"/>
          </p:cNvSpPr>
          <p:nvPr/>
        </p:nvSpPr>
        <p:spPr>
          <a:xfrm xmlns:a="http://schemas.openxmlformats.org/drawingml/2006/main">
            <a:off x="8210550" y="2533650"/>
            <a:ext cx="2771775" cy="61912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Plan evidence queries</a:t>
            </a:r>
          </a:p>
        </p:txBody>
      </p:sp>
      <p:sp>
        <p:nvSpPr>
          <p:cNvPr id="18" name="diagram-134">
            <a:extLst xmlns:a="http://schemas.openxmlformats.org/drawingml/2006/main">
              <a:ext uri="{FF2B5EF4-FFF2-40B4-BE49-F238E27FC236}">
                <a16:creationId xmlns:a16="http://schemas.microsoft.com/office/drawing/2014/main" id="{3331D439-A0DA-4F04-9211-0813BFE321B9}"/>
              </a:ext>
            </a:extLst>
          </p:cNvPr>
          <p:cNvSpPr>
            <a:spLocks xmlns:a="http://schemas.openxmlformats.org/drawingml/2006/main" noGrp="1"/>
          </p:cNvSpPr>
          <p:nvPr/>
        </p:nvSpPr>
        <p:spPr>
          <a:xfrm xmlns:a="http://schemas.openxmlformats.org/drawingml/2006/main">
            <a:off x="8210550" y="3486150"/>
            <a:ext cx="2771775" cy="61912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0">
                <a:solidFill>
                  <a:srgbClr val="0033CC"/>
                </a:solidFill>
                <a:latin typeface="Trebuchet MS"/>
                <a:ea typeface="Trebuchet MS"/>
                <a:cs typeface="Trebuchet MS"/>
              </a:defRPr>
            </a:pPr>
            <a:r>
              <a:rPr sz="1875" b="0">
                <a:solidFill>
                  <a:srgbClr val="0033CC"/>
                </a:solidFill>
                <a:latin typeface="Trebuchet MS"/>
                <a:ea typeface="Trebuchet MS"/>
                <a:cs typeface="Trebuchet MS"/>
              </a:rPr>
              <a:t>Retrieve and reconcile</a:t>
            </a:r>
          </a:p>
        </p:txBody>
      </p:sp>
      <p:sp>
        <p:nvSpPr>
          <p:cNvPr id="19" name="diagram-135">
            <a:extLst xmlns:a="http://schemas.openxmlformats.org/drawingml/2006/main">
              <a:ext uri="{FF2B5EF4-FFF2-40B4-BE49-F238E27FC236}">
                <a16:creationId xmlns:a16="http://schemas.microsoft.com/office/drawing/2014/main" id="{5767B776-FF66-4992-B033-F8D61202DB74}"/>
              </a:ext>
            </a:extLst>
          </p:cNvPr>
          <p:cNvSpPr>
            <a:spLocks xmlns:a="http://schemas.openxmlformats.org/drawingml/2006/main" noGrp="1"/>
          </p:cNvSpPr>
          <p:nvPr/>
        </p:nvSpPr>
        <p:spPr>
          <a:xfrm xmlns:a="http://schemas.openxmlformats.org/drawingml/2006/main">
            <a:off x="8210550" y="4438650"/>
            <a:ext cx="2771775" cy="714375"/>
          </a:xfrm>
          <a:prstGeom xmlns:a="http://schemas.openxmlformats.org/drawingml/2006/main" prst="rect">
            <a:avLst/>
          </a:prstGeom>
          <a:solidFill xmlns:a="http://schemas.openxmlformats.org/drawingml/2006/main">
            <a:srgbClr val="EDF4FC"/>
          </a:solidFill>
          <a:ln xmlns:a="http://schemas.openxmlformats.org/drawingml/2006/main" w="14288">
            <a:solidFill>
              <a:srgbClr val="33CCCC"/>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00" b="0">
                <a:solidFill>
                  <a:srgbClr val="0033CC"/>
                </a:solidFill>
                <a:latin typeface="Trebuchet MS"/>
                <a:ea typeface="Trebuchet MS"/>
                <a:cs typeface="Trebuchet MS"/>
              </a:defRPr>
            </a:pPr>
            <a:r>
              <a:rPr sz="1800" b="0">
                <a:solidFill>
                  <a:srgbClr val="0033CC"/>
                </a:solidFill>
                <a:latin typeface="Trebuchet MS"/>
                <a:ea typeface="Trebuchet MS"/>
                <a:cs typeface="Trebuchet MS"/>
              </a:rPr>
              <a:t>Timeline + cited hypotheses</a:t>
            </a:r>
          </a:p>
        </p:txBody>
      </p:sp>
      <p:sp>
        <p:nvSpPr>
          <p:cNvPr id="20" name="diagram-136">
            <a:extLst xmlns:a="http://schemas.openxmlformats.org/drawingml/2006/main">
              <a:ext uri="{FF2B5EF4-FFF2-40B4-BE49-F238E27FC236}">
                <a16:creationId xmlns:a16="http://schemas.microsoft.com/office/drawing/2014/main" id="{99C4F9AC-D81D-42C1-A5D2-05F20CF5291E}"/>
              </a:ext>
            </a:extLst>
          </p:cNvPr>
          <p:cNvSpPr>
            <a:spLocks xmlns:a="http://schemas.openxmlformats.org/drawingml/2006/main" noGrp="1"/>
          </p:cNvSpPr>
          <p:nvPr/>
        </p:nvSpPr>
        <p:spPr>
          <a:xfrm xmlns:a="http://schemas.openxmlformats.org/drawingml/2006/main">
            <a:off x="8210550" y="5486400"/>
            <a:ext cx="2771775" cy="581025"/>
          </a:xfrm>
          <a:prstGeom xmlns:a="http://schemas.openxmlformats.org/drawingml/2006/main" prst="rect">
            <a:avLst/>
          </a:prstGeom>
          <a:solidFill xmlns:a="http://schemas.openxmlformats.org/drawingml/2006/main">
            <a:srgbClr val="EAF6EF"/>
          </a:solidFill>
          <a:ln xmlns:a="http://schemas.openxmlformats.org/drawingml/2006/main" w="14288">
            <a:solidFill>
              <a:srgbClr val="187D5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0">
                <a:solidFill>
                  <a:srgbClr val="187D5E"/>
                </a:solidFill>
                <a:latin typeface="Trebuchet MS"/>
                <a:ea typeface="Trebuchet MS"/>
                <a:cs typeface="Trebuchet MS"/>
              </a:defRPr>
            </a:pPr>
            <a:r>
              <a:rPr sz="1950" b="0">
                <a:solidFill>
                  <a:srgbClr val="187D5E"/>
                </a:solidFill>
                <a:latin typeface="Trebuchet MS"/>
                <a:ea typeface="Trebuchet MS"/>
                <a:cs typeface="Trebuchet MS"/>
              </a:rPr>
              <a:t>Human review</a:t>
            </a:r>
          </a:p>
        </p:txBody>
      </p:sp>
      <p:cxnSp>
        <p:nvCxnSpPr>
          <p:cNvPr id="46" name=""/>
          <p:cNvCxnSpPr>
            <a:stCxn xmlns:a="http://schemas.openxmlformats.org/drawingml/2006/main" id="17" idx="2"/>
            <a:endCxn xmlns:a="http://schemas.openxmlformats.org/drawingml/2006/main" id="18" idx="0"/>
          </p:cNvCxnSpPr>
          <p:nvPr/>
        </p:nvCxnSpPr>
        <p:spPr>
          <a:xfrm xmlns:a="http://schemas.openxmlformats.org/drawingml/2006/main">
            <a:off x="9596438" y="3152775"/>
            <a:ext cx="0" cy="333375"/>
          </a:xfrm>
          <a:prstGeom xmlns:a="http://schemas.openxmlformats.org/drawingml/2006/main" prst="straightConnector1">
            <a:avLst/>
          </a:prstGeom>
          <a:ln xmlns:a="http://schemas.openxmlformats.org/drawingml/2006/main" w="19050">
            <a:solidFill>
              <a:srgbClr val="087E8B"/>
            </a:solidFill>
            <a:prstDash val="solid"/>
            <a:tailEnd type="triangle" w="sm" len="sm"/>
          </a:ln>
        </p:spPr>
      </p:cxnSp>
      <p:cxnSp>
        <p:nvCxnSpPr>
          <p:cNvPr id="47" name=""/>
          <p:cNvCxnSpPr>
            <a:stCxn xmlns:a="http://schemas.openxmlformats.org/drawingml/2006/main" id="18" idx="2"/>
            <a:endCxn xmlns:a="http://schemas.openxmlformats.org/drawingml/2006/main" id="19" idx="0"/>
          </p:cNvCxnSpPr>
          <p:nvPr/>
        </p:nvCxnSpPr>
        <p:spPr>
          <a:xfrm xmlns:a="http://schemas.openxmlformats.org/drawingml/2006/main">
            <a:off x="9596438" y="4105275"/>
            <a:ext cx="0" cy="333375"/>
          </a:xfrm>
          <a:prstGeom xmlns:a="http://schemas.openxmlformats.org/drawingml/2006/main" prst="straightConnector1">
            <a:avLst/>
          </a:prstGeom>
          <a:ln xmlns:a="http://schemas.openxmlformats.org/drawingml/2006/main" w="19050">
            <a:solidFill>
              <a:srgbClr val="087E8B"/>
            </a:solidFill>
            <a:prstDash val="solid"/>
            <a:tailEnd type="triangle" w="sm" len="sm"/>
          </a:ln>
        </p:spPr>
      </p:cxnSp>
      <p:cxnSp>
        <p:nvCxnSpPr>
          <p:cNvPr id="48" name=""/>
          <p:cNvCxnSpPr>
            <a:stCxn xmlns:a="http://schemas.openxmlformats.org/drawingml/2006/main" id="19" idx="2"/>
            <a:endCxn xmlns:a="http://schemas.openxmlformats.org/drawingml/2006/main" id="20" idx="0"/>
          </p:cNvCxnSpPr>
          <p:nvPr/>
        </p:nvCxnSpPr>
        <p:spPr>
          <a:xfrm xmlns:a="http://schemas.openxmlformats.org/drawingml/2006/main">
            <a:off x="9596438" y="5153025"/>
            <a:ext cx="0" cy="333375"/>
          </a:xfrm>
          <a:prstGeom xmlns:a="http://schemas.openxmlformats.org/drawingml/2006/main" prst="straightConnector1">
            <a:avLst/>
          </a:prstGeom>
          <a:ln xmlns:a="http://schemas.openxmlformats.org/drawingml/2006/main" w="19050">
            <a:solidFill>
              <a:srgbClr val="087E8B"/>
            </a:solidFill>
            <a:prstDash val="solid"/>
            <a:tailEnd type="triangle" w="sm" len="sm"/>
          </a:ln>
        </p:spPr>
      </p:cxnSp>
      <p:cxnSp>
        <p:nvCxnSpPr>
          <p:cNvPr id="49" name=""/>
          <p:cNvCxnSpPr>
            <a:stCxn xmlns:a="http://schemas.openxmlformats.org/drawingml/2006/main" id="9" idx="3"/>
            <a:endCxn xmlns:a="http://schemas.openxmlformats.org/drawingml/2006/main" id="18" idx="1"/>
          </p:cNvCxnSpPr>
          <p:nvPr/>
        </p:nvCxnSpPr>
        <p:spPr>
          <a:xfrm xmlns:a="http://schemas.openxmlformats.org/drawingml/2006/main">
            <a:off x="7210425" y="3309938"/>
            <a:ext cx="1000125" cy="485775"/>
          </a:xfrm>
          <a:prstGeom xmlns:a="http://schemas.openxmlformats.org/drawingml/2006/main" prst="bentConnector3">
            <a:avLst>
              <a:gd name="adj1" fmla="val 50000"/>
            </a:avLst>
          </a:prstGeom>
          <a:ln xmlns:a="http://schemas.openxmlformats.org/drawingml/2006/main" w="19050">
            <a:solidFill>
              <a:srgbClr val="087E8B"/>
            </a:solidFill>
            <a:prstDash val="dash"/>
            <a:tailEnd type="triangle" w="sm" len="sm"/>
          </a:ln>
        </p:spPr>
      </p:cxnSp>
      <p:sp>
        <p:nvSpPr>
          <p:cNvPr id="25" name="text-137">
            <a:extLst xmlns:a="http://schemas.openxmlformats.org/drawingml/2006/main">
              <a:ext uri="{FF2B5EF4-FFF2-40B4-BE49-F238E27FC236}">
                <a16:creationId xmlns:a16="http://schemas.microsoft.com/office/drawing/2014/main" id="{F5524BA8-296F-44F2-A951-0CF00D21E584}"/>
              </a:ext>
            </a:extLst>
          </p:cNvPr>
          <p:cNvSpPr>
            <a:spLocks xmlns:a="http://schemas.openxmlformats.org/drawingml/2006/main" noGrp="1"/>
          </p:cNvSpPr>
          <p:nvPr/>
        </p:nvSpPr>
        <p:spPr>
          <a:xfrm xmlns:a="http://schemas.openxmlformats.org/drawingml/2006/main">
            <a:off x="7296150" y="2524125"/>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Read-only</a:t>
            </a:r>
          </a:p>
          <a:p xmlns:a="http://schemas.openxmlformats.org/drawingml/2006/main">
            <a:pPr algn="ctr">
              <a:defRPr sz="1200" b="0">
                <a:solidFill>
                  <a:srgbClr val="53627A"/>
                </a:solidFill>
                <a:latin typeface="Trebuchet MS"/>
                <a:ea typeface="Trebuchet MS"/>
                <a:cs typeface="Trebuchet MS"/>
              </a:defRPr>
            </a:pPr>
            <a:r>
              <a:rPr sz="1200" b="0">
                <a:solidFill>
                  <a:srgbClr val="53627A"/>
                </a:solidFill>
                <a:latin typeface="Trebuchet MS"/>
                <a:ea typeface="Trebuchet MS"/>
                <a:cs typeface="Trebuchet MS"/>
              </a:rPr>
              <a:t>evidence tools</a:t>
            </a:r>
          </a:p>
        </p:txBody>
      </p:sp>
      <p:sp>
        <p:nvSpPr>
          <p:cNvPr id="26" name="text-138">
            <a:extLst xmlns:a="http://schemas.openxmlformats.org/drawingml/2006/main">
              <a:ext uri="{FF2B5EF4-FFF2-40B4-BE49-F238E27FC236}">
                <a16:creationId xmlns:a16="http://schemas.microsoft.com/office/drawing/2014/main" id="{2C3FED7A-DC9A-4271-9AD4-8CCA87802C84}"/>
              </a:ext>
            </a:extLst>
          </p:cNvPr>
          <p:cNvSpPr>
            <a:spLocks xmlns:a="http://schemas.openxmlformats.org/drawingml/2006/main" noGrp="1"/>
          </p:cNvSpPr>
          <p:nvPr/>
        </p:nvSpPr>
        <p:spPr>
          <a:xfrm xmlns:a="http://schemas.openxmlformats.org/drawingml/2006/main">
            <a:off x="1143000" y="5838825"/>
            <a:ext cx="6315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45A"/>
                </a:solidFill>
                <a:latin typeface="Trebuchet MS"/>
                <a:ea typeface="Trebuchet MS"/>
                <a:cs typeface="Trebuchet MS"/>
              </a:defRPr>
            </a:pPr>
            <a:r>
              <a:rPr sz="1575" b="0">
                <a:solidFill>
                  <a:srgbClr val="20345A"/>
                </a:solidFill>
                <a:latin typeface="Trebuchet MS"/>
                <a:ea typeface="Trebuchet MS"/>
                <a:cs typeface="Trebuchet MS"/>
              </a:rPr>
              <a:t>Memory regression checks retain an unresolved cause</a:t>
            </a:r>
          </a:p>
          <a:p xmlns:a="http://schemas.openxmlformats.org/drawingml/2006/main">
            <a:pPr algn="l">
              <a:defRPr sz="1575" b="0">
                <a:solidFill>
                  <a:srgbClr val="20345A"/>
                </a:solidFill>
                <a:latin typeface="Trebuchet MS"/>
                <a:ea typeface="Trebuchet MS"/>
                <a:cs typeface="Trebuchet MS"/>
              </a:defRPr>
            </a:pPr>
            <a:r>
              <a:rPr sz="1575" b="0">
                <a:solidFill>
                  <a:srgbClr val="20345A"/>
                </a:solidFill>
                <a:latin typeface="Trebuchet MS"/>
                <a:ea typeface="Trebuchet MS"/>
                <a:cs typeface="Trebuchet MS"/>
              </a:rPr>
              <a:t>when ordinary forgetting and interference cannot be separated.</a:t>
            </a:r>
          </a:p>
        </p:txBody>
      </p:sp>
    </p:spTree>
    <p:extLst>
      <p:ext uri="{BB962C8B-B14F-4D97-AF65-F5344CB8AC3E}">
        <p14:creationId xmlns:p14="http://schemas.microsoft.com/office/powerpoint/2010/main" val="8976662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7D14D76F-2570-4E93-A825-7212412EAB39}"/>
              </a:ext>
            </a:extLst>
          </p:cNvPr>
          <p:cNvSpPr>
            <a:spLocks xmlns:a="http://schemas.openxmlformats.org/drawingml/2006/main" noGrp="1"/>
          </p:cNvSpPr>
          <p:nvPr/>
        </p:nvSpPr>
        <p:spPr>
          <a:xfrm xmlns:a="http://schemas.openxmlformats.org/drawingml/2006/main">
            <a:off x="1143000" y="2667000"/>
            <a:ext cx="9906000" cy="714375"/>
          </a:xfrm>
          <a:prstGeom xmlns:a="http://schemas.openxmlformats.org/drawingml/2006/main" prst="rect">
            <a:avLst/>
          </a:prstGeom>
        </p:spPr>
        <p:txBody>
          <a:bodyPr xmlns:a="http://schemas.openxmlformats.org/drawingml/2006/main" wrap="none" lIns="0" tIns="0" rIns="0" bIns="0">
            <a:noAutofit/>
          </a:bodyPr>
          <a:lstStyle xmlns:a="http://schemas.openxmlformats.org/drawingml/2006/main"/>
          <a:p xmlns:a="http://schemas.openxmlformats.org/drawingml/2006/main">
            <a:pPr algn="ctr">
              <a:buNone/>
              <a:defRPr sz="4000" b="0">
                <a:solidFill>
                  <a:srgbClr val="FF0000"/>
                </a:solidFill>
                <a:latin typeface="Trebuchet MS"/>
                <a:ea typeface="Trebuchet MS"/>
                <a:cs typeface="Trebuchet MS"/>
              </a:defRPr>
            </a:pPr>
            <a:r>
              <a:rPr sz="4000" b="0">
                <a:solidFill>
                  <a:srgbClr val="FF0000"/>
                </a:solidFill>
                <a:latin typeface="Trebuchet MS"/>
                <a:ea typeface="Trebuchet MS"/>
                <a:cs typeface="Trebuchet MS"/>
              </a:rPr>
              <a:t>Thank You</a:t>
            </a:r>
          </a:p>
        </p:txBody>
      </p:sp>
      <p:sp>
        <p:nvSpPr>
          <p:cNvPr id="5" name="text-139">
            <a:extLst xmlns:a="http://schemas.openxmlformats.org/drawingml/2006/main">
              <a:ext uri="{FF2B5EF4-FFF2-40B4-BE49-F238E27FC236}">
                <a16:creationId xmlns:a16="http://schemas.microsoft.com/office/drawing/2014/main" id="{D9DE3390-22EF-427D-AB9C-4B244AB7BC25}"/>
              </a:ext>
            </a:extLst>
          </p:cNvPr>
          <p:cNvSpPr>
            <a:spLocks xmlns:a="http://schemas.openxmlformats.org/drawingml/2006/main" noGrp="1"/>
          </p:cNvSpPr>
          <p:nvPr/>
        </p:nvSpPr>
        <p:spPr>
          <a:xfrm xmlns:a="http://schemas.openxmlformats.org/drawingml/2006/main">
            <a:off x="1143000" y="364807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50" b="0">
                <a:solidFill>
                  <a:srgbClr val="0033CC"/>
                </a:solidFill>
                <a:latin typeface="Trebuchet MS"/>
                <a:ea typeface="Trebuchet MS"/>
                <a:cs typeface="Trebuchet MS"/>
              </a:defRPr>
            </a:pPr>
            <a:r>
              <a:rPr sz="2550" b="0">
                <a:solidFill>
                  <a:srgbClr val="0033CC"/>
                </a:solidFill>
                <a:latin typeface="Trebuchet MS"/>
                <a:ea typeface="Trebuchet MS"/>
                <a:cs typeface="Trebuchet MS"/>
              </a:rPr>
              <a:t>Questions and Discussion</a:t>
            </a:r>
          </a:p>
        </p:txBody>
      </p:sp>
      <p:sp>
        <p:nvSpPr>
          <p:cNvPr id="6" name="text-140">
            <a:extLst xmlns:a="http://schemas.openxmlformats.org/drawingml/2006/main">
              <a:ext uri="{FF2B5EF4-FFF2-40B4-BE49-F238E27FC236}">
                <a16:creationId xmlns:a16="http://schemas.microsoft.com/office/drawing/2014/main" id="{B7575704-5CA0-42E4-81A8-C2F38ED3492D}"/>
              </a:ext>
            </a:extLst>
          </p:cNvPr>
          <p:cNvSpPr>
            <a:spLocks xmlns:a="http://schemas.openxmlformats.org/drawingml/2006/main" noGrp="1"/>
          </p:cNvSpPr>
          <p:nvPr/>
        </p:nvSpPr>
        <p:spPr>
          <a:xfrm xmlns:a="http://schemas.openxmlformats.org/drawingml/2006/main">
            <a:off x="1143000" y="449580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20345A"/>
                </a:solidFill>
                <a:latin typeface="Trebuchet MS"/>
                <a:ea typeface="Trebuchet MS"/>
                <a:cs typeface="Trebuchet MS"/>
              </a:defRPr>
            </a:pPr>
            <a:r>
              <a:rPr sz="2400" b="1">
                <a:solidFill>
                  <a:srgbClr val="20345A"/>
                </a:solidFill>
                <a:latin typeface="Trebuchet MS"/>
                <a:ea typeface="Trebuchet MS"/>
                <a:cs typeface="Trebuchet MS"/>
              </a:rPr>
              <a:t>VerdictTrace</a:t>
            </a:r>
          </a:p>
        </p:txBody>
      </p:sp>
      <p:sp>
        <p:nvSpPr>
          <p:cNvPr id="7" name="text-141">
            <a:extLst xmlns:a="http://schemas.openxmlformats.org/drawingml/2006/main">
              <a:ext uri="{FF2B5EF4-FFF2-40B4-BE49-F238E27FC236}">
                <a16:creationId xmlns:a16="http://schemas.microsoft.com/office/drawing/2014/main" id="{6C98D85C-C1FC-4A75-9F1A-8AE9E04E17A8}"/>
              </a:ext>
            </a:extLst>
          </p:cNvPr>
          <p:cNvSpPr>
            <a:spLocks xmlns:a="http://schemas.openxmlformats.org/drawingml/2006/main" noGrp="1"/>
          </p:cNvSpPr>
          <p:nvPr/>
        </p:nvSpPr>
        <p:spPr>
          <a:xfrm xmlns:a="http://schemas.openxmlformats.org/drawingml/2006/main">
            <a:off x="1143000" y="5038725"/>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53627A"/>
                </a:solidFill>
                <a:latin typeface="Trebuchet MS"/>
                <a:ea typeface="Trebuchet MS"/>
                <a:cs typeface="Trebuchet MS"/>
              </a:defRPr>
            </a:pPr>
            <a:r>
              <a:rPr sz="1875" b="0">
                <a:solidFill>
                  <a:srgbClr val="53627A"/>
                </a:solidFill>
                <a:latin typeface="Trebuchet MS"/>
                <a:ea typeface="Trebuchet MS"/>
                <a:cs typeface="Trebuchet MS"/>
              </a:rPr>
              <a:t>Batch 51</a:t>
            </a:r>
          </a:p>
        </p:txBody>
      </p:sp>
    </p:spTree>
    <p:extLst>
      <p:ext uri="{BB962C8B-B14F-4D97-AF65-F5344CB8AC3E}">
        <p14:creationId xmlns:p14="http://schemas.microsoft.com/office/powerpoint/2010/main" val="1907993316"/>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2026-09-30T20:13:46.7780000Z</dcterms:created>
  <dcterms:modified xsi:type="dcterms:W3CDTF">2026-09-30T20:13:46.7780000Z</dcterms:modified>
</coreProperties>
</file>