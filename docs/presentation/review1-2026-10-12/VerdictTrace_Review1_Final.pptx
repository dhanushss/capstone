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6" r:id="rId18"/>
    <p:sldId id="263" r:id="rId15"/>
    <p:sldId id="264" r:id="rId16"/>
    <p:sldId id="265" r:id="rId17"/>
    <p:sldId id="268" r:id="rId20"/>
    <p:sldId id="278" r:id="rIdVT23"/>
    <p:sldId id="267" r:id="rId19"/>
    <p:sldId id="269" r:id="rId21"/>
    <p:sldId id="270" r:id="rId22"/>
    <p:sldId id="271" r:id="rId23"/>
    <p:sldId id="272" r:id="rId24"/>
    <p:sldId id="273" r:id="rId25"/>
    <p:sldId id="274" r:id="rId26"/>
    <p:sldId id="275" r:id="rId27"/>
    <p:sldId id="276" r:id="rId28"/>
    <p:sldId id="277" r:id="rId2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VT23" Type="http://schemas.openxmlformats.org/officeDocument/2006/relationships/slide" Target="slides/slide2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3" name="Shape 93"/>
          <p:cNvSpPr/>
          <p:nvPr>
            <p:ph type="sldImg"/>
          </p:nvPr>
        </p:nvSpPr>
        <p:spPr>
          <a:xfrm>
            <a:off x="1143000" y="685800"/>
            <a:ext cx="4572000" cy="3429000"/>
          </a:xfrm>
          <a:prstGeom prst="rect">
            <a:avLst/>
          </a:prstGeom>
        </p:spPr>
        <p:txBody>
          <a:bodyPr/>
          <a:lstStyle/>
          <a:p>
            <a:pPr/>
          </a:p>
        </p:txBody>
      </p:sp>
      <p:sp>
        <p:nvSpPr>
          <p:cNvPr id="94" name="Shape 9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Helvetica Neue"/>
      </a:defRPr>
    </a:lvl1pPr>
    <a:lvl2pPr indent="228600" latinLnBrk="0">
      <a:defRPr sz="1200">
        <a:latin typeface="+mj-lt"/>
        <a:ea typeface="+mj-ea"/>
        <a:cs typeface="+mj-cs"/>
        <a:sym typeface="Helvetica Neue"/>
      </a:defRPr>
    </a:lvl2pPr>
    <a:lvl3pPr indent="457200" latinLnBrk="0">
      <a:defRPr sz="1200">
        <a:latin typeface="+mj-lt"/>
        <a:ea typeface="+mj-ea"/>
        <a:cs typeface="+mj-cs"/>
        <a:sym typeface="Helvetica Neue"/>
      </a:defRPr>
    </a:lvl3pPr>
    <a:lvl4pPr indent="685800" latinLnBrk="0">
      <a:defRPr sz="1200">
        <a:latin typeface="+mj-lt"/>
        <a:ea typeface="+mj-ea"/>
        <a:cs typeface="+mj-cs"/>
        <a:sym typeface="Helvetica Neue"/>
      </a:defRPr>
    </a:lvl4pPr>
    <a:lvl5pPr indent="914400" latinLnBrk="0">
      <a:defRPr sz="1200">
        <a:latin typeface="+mj-lt"/>
        <a:ea typeface="+mj-ea"/>
        <a:cs typeface="+mj-cs"/>
        <a:sym typeface="Helvetica Neue"/>
      </a:defRPr>
    </a:lvl5pPr>
    <a:lvl6pPr indent="1143000" latinLnBrk="0">
      <a:defRPr sz="1200">
        <a:latin typeface="+mj-lt"/>
        <a:ea typeface="+mj-ea"/>
        <a:cs typeface="+mj-cs"/>
        <a:sym typeface="Helvetica Neue"/>
      </a:defRPr>
    </a:lvl6pPr>
    <a:lvl7pPr indent="1371600" latinLnBrk="0">
      <a:defRPr sz="1200">
        <a:latin typeface="+mj-lt"/>
        <a:ea typeface="+mj-ea"/>
        <a:cs typeface="+mj-cs"/>
        <a:sym typeface="Helvetica Neue"/>
      </a:defRPr>
    </a:lvl7pPr>
    <a:lvl8pPr indent="1600200" latinLnBrk="0">
      <a:defRPr sz="1200">
        <a:latin typeface="+mj-lt"/>
        <a:ea typeface="+mj-ea"/>
        <a:cs typeface="+mj-cs"/>
        <a:sym typeface="Helvetica Neue"/>
      </a:defRPr>
    </a:lvl8pPr>
    <a:lvl9pPr indent="1828800" latinLnBrk="0">
      <a:defRPr sz="1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 Id="rId3" Type="http://schemas.openxmlformats.org/officeDocument/2006/relationships/hyperlink" Target="https://doi.org/10.1109/DAC63849.2025.11132541" TargetMode="External"/><Relationship Id="rId4" Type="http://schemas.openxmlformats.org/officeDocument/2006/relationships/hyperlink" Target="https://arxiv.org/abs/2502.14094" TargetMode="External"/><Relationship Id="rId5" Type="http://schemas.openxmlformats.org/officeDocument/2006/relationships/hyperlink" Target="https://doi.org/10.34385/proc.97.w4-3-6" TargetMode="External"/><Relationship Id="rId6" Type="http://schemas.openxmlformats.org/officeDocument/2006/relationships/hyperlink" Target="https://www.ieice.org/publications/proceedings/bin/pdf_link.php?fname=W4-3-6.pdf&amp;iconf=APCC&amp;lang=E&amp;number=W4-3-6&amp;vol=97&amp;year=2025" TargetMode="External"/><Relationship Id="rId7" Type="http://schemas.openxmlformats.org/officeDocument/2006/relationships/hyperlink" Target="https://journals.plos.org/plosone/article?id=10.1371/journal.pone.0296879" TargetMode="External"/><Relationship Id="rId8" Type="http://schemas.openxmlformats.org/officeDocument/2006/relationships/hyperlink" Target="https://zenodo.org/records/10462796" TargetMode="External"/><Relationship Id="rId9" Type="http://schemas.openxmlformats.org/officeDocument/2006/relationships/hyperlink" Target="https://doi.org/10.1007/s10994-022-06177-w" TargetMode="External"/><Relationship Id="rId10" Type="http://schemas.openxmlformats.org/officeDocument/2006/relationships/hyperlink" Target="https://arxiv.org/abs/2009.09497" TargetMode="External"/><Relationship Id="rId11" Type="http://schemas.openxmlformats.org/officeDocument/2006/relationships/hyperlink" Target="https://doi.org/10.1007/s10994-023-06459-x" TargetMode="External"/><Relationship Id="rId12" Type="http://schemas.openxmlformats.org/officeDocument/2006/relationships/hyperlink" Target="https://doi.org/10.1109/ACCESS.2022.3213843" TargetMode="Externa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 Id="rId3" Type="http://schemas.openxmlformats.org/officeDocument/2006/relationships/hyperlink" Target="https://doi.org/10.1007/s12083-026-02214-w" TargetMode="External"/><Relationship Id="rId4" Type="http://schemas.openxmlformats.org/officeDocument/2006/relationships/hyperlink" Target="https://link.springer.com/article/10.1007/s12083-026-02214-w" TargetMode="External"/><Relationship Id="rId5" Type="http://schemas.openxmlformats.org/officeDocument/2006/relationships/hyperlink" Target="https://doi.org/10.34385/proc.97.w4-3-6" TargetMode="External"/><Relationship Id="rId6" Type="http://schemas.openxmlformats.org/officeDocument/2006/relationships/hyperlink" Target="https://www.ieice.org/publications/proceedings/bin/pdf_link.php?fname=W4-3-6.pdf&amp;iconf=APCC&amp;lang=E&amp;number=W4-3-6&amp;vol=97&amp;year=2025" TargetMode="External"/><Relationship Id="rId7" Type="http://schemas.openxmlformats.org/officeDocument/2006/relationships/hyperlink" Target="https://ieeexplore.ieee.org/document/10262091/" TargetMode="External"/><Relationship Id="rId8" Type="http://schemas.openxmlformats.org/officeDocument/2006/relationships/hyperlink" Target="https://eprint.iacr.org/2022/1433" TargetMode="Externa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 Id="rId3" Type="http://schemas.openxmlformats.org/officeDocument/2006/relationships/hyperlink" Target="https://doi.org/10.1007/s12083-026-02214-w" TargetMode="External"/><Relationship Id="rId4" Type="http://schemas.openxmlformats.org/officeDocument/2006/relationships/hyperlink" Target="https://link.springer.com/article/10.1007/s12083-026-02214-w" TargetMode="External"/><Relationship Id="rId5" Type="http://schemas.openxmlformats.org/officeDocument/2006/relationships/hyperlink" Target="https://doi.org/10.1109/DAC63849.2025.11132541" TargetMode="External"/><Relationship Id="rId6" Type="http://schemas.openxmlformats.org/officeDocument/2006/relationships/hyperlink" Target="https://arxiv.org/abs/2502.14094" TargetMode="External"/><Relationship Id="rId7" Type="http://schemas.openxmlformats.org/officeDocument/2006/relationships/hyperlink" Target="https://doi.org/10.34385/proc.97.w4-3-6" TargetMode="External"/><Relationship Id="rId8" Type="http://schemas.openxmlformats.org/officeDocument/2006/relationships/hyperlink" Target="https://www.ieice.org/publications/proceedings/bin/pdf_link.php?fname=W4-3-6.pdf&amp;iconf=APCC&amp;lang=E&amp;number=W4-3-6&amp;vol=97&amp;year=2025" TargetMode="External"/><Relationship Id="rId9" Type="http://schemas.openxmlformats.org/officeDocument/2006/relationships/hyperlink" Target="https://doi.org/10.1145/3719027.3765024" TargetMode="External"/><Relationship Id="rId10" Type="http://schemas.openxmlformats.org/officeDocument/2006/relationships/hyperlink" Target="https://arxiv.org/abs/2509.03821" TargetMode="External"/><Relationship Id="rId11" Type="http://schemas.openxmlformats.org/officeDocument/2006/relationships/hyperlink" Target="https://journals.plos.org/plosone/article?id=10.1371/journal.pone.0296879" TargetMode="External"/><Relationship Id="rId12" Type="http://schemas.openxmlformats.org/officeDocument/2006/relationships/hyperlink" Target="https://zenodo.org/records/10462796" TargetMode="External"/><Relationship Id="rId13" Type="http://schemas.openxmlformats.org/officeDocument/2006/relationships/hyperlink" Target="https://ieeexplore.ieee.org/document/10262091/" TargetMode="External"/><Relationship Id="rId14" Type="http://schemas.openxmlformats.org/officeDocument/2006/relationships/hyperlink" Target="https://eprint.iacr.org/2022/1433" TargetMode="External"/><Relationship Id="rId15" Type="http://schemas.openxmlformats.org/officeDocument/2006/relationships/hyperlink" Target="https://doi.org/10.1007/s10994-022-06177-w" TargetMode="External"/><Relationship Id="rId16" Type="http://schemas.openxmlformats.org/officeDocument/2006/relationships/hyperlink" Target="https://arxiv.org/abs/2009.09497" TargetMode="External"/><Relationship Id="rId17" Type="http://schemas.openxmlformats.org/officeDocument/2006/relationships/hyperlink" Target="https://doi.org/10.1007/s10994-023-06459-x" TargetMode="External"/><Relationship Id="rId18" Type="http://schemas.openxmlformats.org/officeDocument/2006/relationships/hyperlink" Target="https://arxiv.org/abs/2308.05557" TargetMode="External"/><Relationship Id="rId19" Type="http://schemas.openxmlformats.org/officeDocument/2006/relationships/hyperlink" Target="https://doi.org/10.1109/ACCESS.2022.3213843" TargetMode="External"/><Relationship Id="rId20" Type="http://schemas.openxmlformats.org/officeDocument/2006/relationships/hyperlink" Target="https://www.usenix.org/conference/usenixsecurity21/presentation/yang-limin" TargetMode="External"/><Relationship Id="rId21" Type="http://schemas.openxmlformats.org/officeDocument/2006/relationships/hyperlink" Target="https://doi.org/10.1109/ICCES48766.2020.9138061" TargetMode="External"/><Relationship Id="rId22" Type="http://schemas.openxmlformats.org/officeDocument/2006/relationships/hyperlink" Target="https://www.isfcr.pes.edu/research" TargetMode="Externa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 Id="rId3" Type="http://schemas.openxmlformats.org/officeDocument/2006/relationships/hyperlink" Target="https://build.nvidia.com/" TargetMode="External"/><Relationship Id="rId4" Type="http://schemas.openxmlformats.org/officeDocument/2006/relationships/hyperlink" Target="https://ai.google.dev/gemini-api/docs/pricing" TargetMode="External"/><Relationship Id="rId5" Type="http://schemas.openxmlformats.org/officeDocument/2006/relationships/hyperlink" Target="https://platform.claude.com/docs/en/about-claude/pricing" TargetMode="External"/><Relationship Id="rId6" Type="http://schemas.openxmlformats.org/officeDocument/2006/relationships/hyperlink" Target="https://doi.org/10.1371/journal.pone.0296879" TargetMode="External"/><Relationship Id="rId7" Type="http://schemas.openxmlformats.org/officeDocument/2006/relationships/hyperlink" Target="https://www.unb.ca/cic/datasets/iov-dataset-2024.html" TargetMode="External"/><Relationship Id="rId8" Type="http://schemas.openxmlformats.org/officeDocument/2006/relationships/hyperlink" Target="https://veremi-dataset.github.io/veremi-nextgen" TargetMode="Externa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 Id="rId3" Type="http://schemas.openxmlformats.org/officeDocument/2006/relationships/hyperlink" Target="https://doi.org/10.1007/s12083-026-02214-w" TargetMode="External"/><Relationship Id="rId4" Type="http://schemas.openxmlformats.org/officeDocument/2006/relationships/hyperlink" Target="https://link.springer.com/article/10.1007/s12083-026-02214-w" TargetMode="External"/><Relationship Id="rId5" Type="http://schemas.openxmlformats.org/officeDocument/2006/relationships/hyperlink" Target="https://doi.org/10.1109/DAC63849.2025.11132541" TargetMode="External"/><Relationship Id="rId6" Type="http://schemas.openxmlformats.org/officeDocument/2006/relationships/hyperlink" Target="https://arxiv.org/abs/2502.14094" TargetMode="External"/><Relationship Id="rId7" Type="http://schemas.openxmlformats.org/officeDocument/2006/relationships/hyperlink" Target="https://doi.org/10.34385/proc.97.w4-3-6" TargetMode="External"/><Relationship Id="rId8" Type="http://schemas.openxmlformats.org/officeDocument/2006/relationships/hyperlink" Target="https://www.ieice.org/publications/proceedings/bin/pdf_link.php?fname=W4-3-6.pdf&amp;iconf=APCC&amp;lang=E&amp;number=W4-3-6&amp;vol=97&amp;year=2025" TargetMode="External"/><Relationship Id="rId9" Type="http://schemas.openxmlformats.org/officeDocument/2006/relationships/hyperlink" Target="https://doi.org/10.1145/3719027.3765024" TargetMode="External"/><Relationship Id="rId10" Type="http://schemas.openxmlformats.org/officeDocument/2006/relationships/hyperlink" Target="https://arxiv.org/abs/2509.03821" TargetMode="External"/><Relationship Id="rId11" Type="http://schemas.openxmlformats.org/officeDocument/2006/relationships/hyperlink" Target="https://journals.plos.org/plosone/article?id=10.1371/journal.pone.0296879" TargetMode="External"/><Relationship Id="rId12" Type="http://schemas.openxmlformats.org/officeDocument/2006/relationships/hyperlink" Target="https://zenodo.org/records/10462796" TargetMode="External"/><Relationship Id="rId13" Type="http://schemas.openxmlformats.org/officeDocument/2006/relationships/hyperlink" Target="https://doi.org/10.1007/s10994-022-06177-w" TargetMode="External"/><Relationship Id="rId14" Type="http://schemas.openxmlformats.org/officeDocument/2006/relationships/hyperlink" Target="https://arxiv.org/abs/2009.09497" TargetMode="External"/><Relationship Id="rId15" Type="http://schemas.openxmlformats.org/officeDocument/2006/relationships/hyperlink" Target="https://doi.org/10.1007/s10994-023-06459-x" TargetMode="External"/><Relationship Id="rId16" Type="http://schemas.openxmlformats.org/officeDocument/2006/relationships/hyperlink" Target="https://doi.org/10.1109/ACCESS.2022.3213843" TargetMode="External"/><Relationship Id="rId17" Type="http://schemas.openxmlformats.org/officeDocument/2006/relationships/hyperlink" Target="https://www.usenix.org/conference/usenixsecurity21/presentation/yang-limin" TargetMode="Externa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 Id="rId3" Type="http://schemas.openxmlformats.org/officeDocument/2006/relationships/hyperlink" Target="https://www.nhtsa.gov/press-releases/consent-order-cruise-crash-reporting" TargetMode="External"/><Relationship Id="rId4" Type="http://schemas.openxmlformats.org/officeDocument/2006/relationships/hyperlink" Target="https://doi.org/10.1145/3719027.3765024" TargetMode="External"/><Relationship Id="rId5" Type="http://schemas.openxmlformats.org/officeDocument/2006/relationships/hyperlink" Target="https://arxiv.org/abs/2308.05557" TargetMode="External"/><Relationship Id="rId6" Type="http://schemas.openxmlformats.org/officeDocument/2006/relationships/hyperlink" Target="https://doi.org/10.1109/ACCESS.2022.3213843" TargetMode="External"/><Relationship Id="rId7" Type="http://schemas.openxmlformats.org/officeDocument/2006/relationships/hyperlink" Target="https://doi.org/10.1109/ICCES48766.2020.9138061" TargetMode="Externa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 Id="rId3" Type="http://schemas.openxmlformats.org/officeDocument/2006/relationships/hyperlink" Target="https://doi.org/10.1145/3719027.3765024" TargetMode="External"/><Relationship Id="rId4" Type="http://schemas.openxmlformats.org/officeDocument/2006/relationships/hyperlink" Target="https://arxiv.org/abs/2509.03821" TargetMode="External"/><Relationship Id="rId5" Type="http://schemas.openxmlformats.org/officeDocument/2006/relationships/hyperlink" Target="https://arxiv.org/abs/2308.05557" TargetMode="External"/><Relationship Id="rId6" Type="http://schemas.openxmlformats.org/officeDocument/2006/relationships/hyperlink" Target="https://doi.org/10.1109/ACCESS.2022.3213843" TargetMode="External"/><Relationship Id="rId7" Type="http://schemas.openxmlformats.org/officeDocument/2006/relationships/hyperlink" Target="https://doi.org/10.1109/ICCES48766.2020.9138061" TargetMode="External"/><Relationship Id="rId8" Type="http://schemas.openxmlformats.org/officeDocument/2006/relationships/hyperlink" Target="https://www.isfcr.pes.edu/research" TargetMode="Externa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 Id="rId3" Type="http://schemas.openxmlformats.org/officeDocument/2006/relationships/hyperlink" Target="https://doi.org/10.34385/proc.97.w4-3-6" TargetMode="External"/><Relationship Id="rId4" Type="http://schemas.openxmlformats.org/officeDocument/2006/relationships/hyperlink" Target="https://www.ieice.org/publications/proceedings/bin/pdf_link.php?fname=W4-3-6.pdf&amp;iconf=APCC&amp;lang=E&amp;number=W4-3-6&amp;vol=97&amp;year=2025" TargetMode="External"/><Relationship Id="rId5" Type="http://schemas.openxmlformats.org/officeDocument/2006/relationships/hyperlink" Target="https://www.usenix.org/conference/usenixsecurity21/presentation/yang-limin" TargetMode="Externa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 Id="rId3" Type="http://schemas.openxmlformats.org/officeDocument/2006/relationships/hyperlink" Target="https://doi.org/10.1371/journal.pone.0296879" TargetMode="External"/><Relationship Id="rId4" Type="http://schemas.openxmlformats.org/officeDocument/2006/relationships/hyperlink" Target="https://zenodo.org/records/10462796" TargetMode="External"/><Relationship Id="rId5" Type="http://schemas.openxmlformats.org/officeDocument/2006/relationships/hyperlink" Target="https://www.unb.ca/cic/datasets/iov-dataset-2024.html" TargetMode="External"/><Relationship Id="rId6" Type="http://schemas.openxmlformats.org/officeDocument/2006/relationships/hyperlink" Target="https://veremi-dataset.github.io/veremi-nextgen" TargetMode="External"/><Relationship Id="rId7" Type="http://schemas.openxmlformats.org/officeDocument/2006/relationships/hyperlink" Target="https://zenodo.org/records/19665762" TargetMode="External"/><Relationship Id="rId8" Type="http://schemas.openxmlformats.org/officeDocument/2006/relationships/hyperlink" Target="https://github.com/VeReMi-dataset/VeReMi-NextGen" TargetMode="External"/><Relationship Id="rId9" Type="http://schemas.openxmlformats.org/officeDocument/2006/relationships/hyperlink" Target="https://doi.org/10.1007/s12083-026-02214-w" TargetMode="External"/><Relationship Id="rId10" Type="http://schemas.openxmlformats.org/officeDocument/2006/relationships/hyperlink" Target="https://link.springer.com/article/10.1007/s12083-026-02214-w" TargetMode="External"/><Relationship Id="rId11" Type="http://schemas.openxmlformats.org/officeDocument/2006/relationships/hyperlink" Target="https://doi.org/10.1109/DAC63849.2025.11132541" TargetMode="External"/><Relationship Id="rId12" Type="http://schemas.openxmlformats.org/officeDocument/2006/relationships/hyperlink" Target="https://arxiv.org/abs/2502.14094" TargetMode="External"/><Relationship Id="rId13" Type="http://schemas.openxmlformats.org/officeDocument/2006/relationships/hyperlink" Target="https://doi.org/10.1145/3719027.3765024" TargetMode="External"/><Relationship Id="rId14" Type="http://schemas.openxmlformats.org/officeDocument/2006/relationships/hyperlink" Target="https://arxiv.org/abs/2509.03821" TargetMode="External"/><Relationship Id="rId15" Type="http://schemas.openxmlformats.org/officeDocument/2006/relationships/hyperlink" Target="https://journals.plos.org/plosone/article?id=10.1371/journal.pone.0296879" TargetMode="External"/><Relationship Id="rId16" Type="http://schemas.openxmlformats.org/officeDocument/2006/relationships/hyperlink" Target="https://arxiv.org/abs/2308.05557" TargetMode="Externa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 Id="rId3" Type="http://schemas.openxmlformats.org/officeDocument/2006/relationships/hyperlink" Target="https://doi.org/10.1109/DAC63849.2025.11132541" TargetMode="External"/><Relationship Id="rId4" Type="http://schemas.openxmlformats.org/officeDocument/2006/relationships/hyperlink" Target="https://arxiv.org/abs/2502.14094" TargetMode="External"/><Relationship Id="rId5" Type="http://schemas.openxmlformats.org/officeDocument/2006/relationships/hyperlink" Target="https://journals.plos.org/plosone/article?id=10.1371/journal.pone.0296879" TargetMode="External"/><Relationship Id="rId6" Type="http://schemas.openxmlformats.org/officeDocument/2006/relationships/hyperlink" Target="https://zenodo.org/records/10462796" TargetMode="Externa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 Id="rId3" Type="http://schemas.openxmlformats.org/officeDocument/2006/relationships/hyperlink" Target="https://doi.org/10.1007/s12083-026-02214-w" TargetMode="External"/><Relationship Id="rId4" Type="http://schemas.openxmlformats.org/officeDocument/2006/relationships/hyperlink" Target="https://link.springer.com/article/10.1007/s12083-026-02214-w" TargetMode="External"/><Relationship Id="rId5" Type="http://schemas.openxmlformats.org/officeDocument/2006/relationships/hyperlink" Target="https://doi.org/10.1109/DAC63849.2025.11132541" TargetMode="External"/><Relationship Id="rId6" Type="http://schemas.openxmlformats.org/officeDocument/2006/relationships/hyperlink" Target="https://arxiv.org/abs/2502.14094" TargetMode="External"/><Relationship Id="rId7" Type="http://schemas.openxmlformats.org/officeDocument/2006/relationships/hyperlink" Target="https://doi.org/10.34385/proc.97.w4-3-6" TargetMode="External"/><Relationship Id="rId8" Type="http://schemas.openxmlformats.org/officeDocument/2006/relationships/hyperlink" Target="https://www.ieice.org/publications/proceedings/bin/pdf_link.php?fname=W4-3-6.pdf&amp;iconf=APCC&amp;lang=E&amp;number=W4-3-6&amp;vol=97&amp;year=2025" TargetMode="External"/><Relationship Id="rId9" Type="http://schemas.openxmlformats.org/officeDocument/2006/relationships/hyperlink" Target="https://doi.org/10.1145/3719027.3765024" TargetMode="External"/><Relationship Id="rId10" Type="http://schemas.openxmlformats.org/officeDocument/2006/relationships/hyperlink" Target="https://arxiv.org/abs/2509.03821" TargetMode="External"/><Relationship Id="rId11" Type="http://schemas.openxmlformats.org/officeDocument/2006/relationships/hyperlink" Target="https://journals.plos.org/plosone/article?id=10.1371/journal.pone.0296879" TargetMode="External"/><Relationship Id="rId12" Type="http://schemas.openxmlformats.org/officeDocument/2006/relationships/hyperlink" Target="https://zenodo.org/records/10462796" TargetMode="External"/><Relationship Id="rId13" Type="http://schemas.openxmlformats.org/officeDocument/2006/relationships/hyperlink" Target="https://ieeexplore.ieee.org/document/10262091/" TargetMode="External"/><Relationship Id="rId14" Type="http://schemas.openxmlformats.org/officeDocument/2006/relationships/hyperlink" Target="https://eprint.iacr.org/2022/1433" TargetMode="External"/></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 Id="rId3" Type="http://schemas.openxmlformats.org/officeDocument/2006/relationships/hyperlink" Target="https://doi.org/10.1007/s10994-022-06177-w" TargetMode="External"/><Relationship Id="rId4" Type="http://schemas.openxmlformats.org/officeDocument/2006/relationships/hyperlink" Target="https://arxiv.org/abs/2009.09497" TargetMode="External"/><Relationship Id="rId5" Type="http://schemas.openxmlformats.org/officeDocument/2006/relationships/hyperlink" Target="https://doi.org/10.1007/s10994-023-06459-x" TargetMode="External"/><Relationship Id="rId6" Type="http://schemas.openxmlformats.org/officeDocument/2006/relationships/hyperlink" Target="https://arxiv.org/abs/2308.05557" TargetMode="External"/><Relationship Id="rId7" Type="http://schemas.openxmlformats.org/officeDocument/2006/relationships/hyperlink" Target="https://doi.org/10.1109/ACCESS.2022.3213843" TargetMode="External"/><Relationship Id="rId8" Type="http://schemas.openxmlformats.org/officeDocument/2006/relationships/hyperlink" Target="https://www.usenix.org/conference/usenixsecurity21/presentation/yang-limin" TargetMode="External"/><Relationship Id="rId9" Type="http://schemas.openxmlformats.org/officeDocument/2006/relationships/hyperlink" Target="https://doi.org/10.1109/ICCES48766.2020.9138061" TargetMode="External"/><Relationship Id="rId10" Type="http://schemas.openxmlformats.org/officeDocument/2006/relationships/hyperlink" Target="https://www.isfcr.pes.edu/research" TargetMode="External"/></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 Id="rId3" Type="http://schemas.openxmlformats.org/officeDocument/2006/relationships/hyperlink" Target="https://doi.org/10.1007/s12083-026-02214-w" TargetMode="External"/><Relationship Id="rId4" Type="http://schemas.openxmlformats.org/officeDocument/2006/relationships/hyperlink" Target="https://link.springer.com/article/10.1007/s12083-026-02214-w" TargetMode="External"/><Relationship Id="rId5" Type="http://schemas.openxmlformats.org/officeDocument/2006/relationships/hyperlink" Target="https://doi.org/10.34385/proc.97.w4-3-6" TargetMode="External"/><Relationship Id="rId6" Type="http://schemas.openxmlformats.org/officeDocument/2006/relationships/hyperlink" Target="https://www.ieice.org/publications/proceedings/bin/pdf_link.php?fname=W4-3-6.pdf&amp;iconf=APCC&amp;lang=E&amp;number=W4-3-6&amp;vol=97&amp;year=2025" TargetMode="External"/><Relationship Id="rId7" Type="http://schemas.openxmlformats.org/officeDocument/2006/relationships/hyperlink" Target="https://ieeexplore.ieee.org/document/10262091/" TargetMode="External"/><Relationship Id="rId8" Type="http://schemas.openxmlformats.org/officeDocument/2006/relationships/hyperlink" Target="https://eprint.iacr.org/2022/1433"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Shape 111"/>
          <p:cNvSpPr/>
          <p:nvPr>
            <p:ph type="sldImg"/>
          </p:nvPr>
        </p:nvSpPr>
        <p:spPr>
          <a:prstGeom prst="rect">
            <a:avLst/>
          </a:prstGeom>
        </p:spPr>
        <p:txBody>
          <a:bodyPr/>
          <a:lstStyle/>
          <a:p>
            <a:pPr/>
          </a:p>
        </p:txBody>
      </p:sp>
      <p:sp>
        <p:nvSpPr>
          <p:cNvPr id="112" name="Shape 112"/>
          <p:cNvSpPr/>
          <p:nvPr>
            <p:ph type="body" sz="quarter" idx="1"/>
          </p:nvPr>
        </p:nvSpPr>
        <p:spPr>
          <a:prstGeom prst="rect">
            <a:avLst/>
          </a:prstGeom>
        </p:spPr>
        <p:txBody>
          <a:bodyPr/>
          <a:lstStyle/>
          <a:p>
            <a:pPr/>
            <a:r>
              <a:t>VerdictTrace: Tamper-Evident, Quorum-Based Cross-Layer Drift Attribution for Connected Vehicle Fleets. VerdictTrace is our proposed intrusion detection, drift attribution and evidence-preservation system for connected vehicle fleets. Our two goals are to distinguish benign changes from suspicious behavior across CAN and V2X, and to retain evidence that analysts can independently verify. The AI investigator helps after the detector records its verdict. Introduce the guide and team. This is a proposal and feasibility review. Prototype implementation and experimental results remain planned.</a:t>
            </a:r>
          </a:p>
          <a:p>
            <a:pPr/>
          </a:p>
          <a:p>
            <a:pPr/>
            <a:r>
              <a:t>References</a:t>
            </a:r>
          </a:p>
          <a:p>
            <a:pPr/>
            <a:r>
              <a:t>[2] S. Fuhrman, O. Gungor and T. Rosing, "CND-IDS: Continual Novelty Detection for Intrusion Detection Systems," ACM/IEEE DAC, 2025. </a:t>
            </a:r>
            <a:r>
              <a:rPr u="sng">
                <a:solidFill>
                  <a:srgbClr val="0000FF"/>
                </a:solidFill>
                <a:uFill>
                  <a:solidFill>
                    <a:srgbClr val="0000FF"/>
                  </a:solidFill>
                </a:uFill>
                <a:hlinkClick r:id="rId3" invalidUrl="" action="" tgtFrame="" tooltip="" history="1" highlightClick="0" endSnd="0"/>
              </a:rPr>
              <a:t>https://doi.org/10.1109/DAC63849.2025.11132541</a:t>
            </a:r>
            <a:r>
              <a:t> . Open author version: </a:t>
            </a:r>
            <a:r>
              <a:rPr u="sng">
                <a:solidFill>
                  <a:srgbClr val="0000FF"/>
                </a:solidFill>
                <a:uFill>
                  <a:solidFill>
                    <a:srgbClr val="0000FF"/>
                  </a:solidFill>
                </a:uFill>
                <a:hlinkClick r:id="rId4" invalidUrl="" action="" tgtFrame="" tooltip="" history="1" highlightClick="0" endSnd="0"/>
              </a:rPr>
              <a:t>https://arxiv.org/abs/2502.14094</a:t>
            </a:r>
          </a:p>
          <a:p>
            <a:pPr/>
          </a:p>
          <a:p>
            <a:pPr/>
            <a:r>
              <a:t>[3] M. Golam, J.-M. Lee and D.-S. Kim, "Language Agent Model-Driven Distributed Consensus for Advanced IoV Threat Response Management," APCC, 2025. </a:t>
            </a:r>
            <a:r>
              <a:rPr u="sng">
                <a:solidFill>
                  <a:srgbClr val="0000FF"/>
                </a:solidFill>
                <a:uFill>
                  <a:solidFill>
                    <a:srgbClr val="0000FF"/>
                  </a:solidFill>
                </a:uFill>
                <a:hlinkClick r:id="rId5" invalidUrl="" action="" tgtFrame="" tooltip="" history="1" highlightClick="0" endSnd="0"/>
              </a:rPr>
              <a:t>https://doi.org/10.34385/proc.97.w4-3-6</a:t>
            </a:r>
            <a:r>
              <a:t> . Figure 1 and Section II-A describe CAN, V2X and GPS input fusion. </a:t>
            </a:r>
            <a:r>
              <a:rPr u="sng">
                <a:solidFill>
                  <a:srgbClr val="0000FF"/>
                </a:solidFill>
                <a:uFill>
                  <a:solidFill>
                    <a:srgbClr val="0000FF"/>
                  </a:solidFill>
                </a:uFill>
                <a:hlinkClick r:id="rId6" invalidUrl="" action="" tgtFrame="" tooltip="" history="1" highlightClick="0" endSnd="0"/>
              </a:rPr>
              <a:t>https://www.ieice.org/publications/proceedings/bin/pdf_link.php?fname=W4-3-6.pdf&amp;iconf=APCC&amp;lang=E&amp;number=W4-3-6&amp;vol=97&amp;year=2025</a:t>
            </a:r>
          </a:p>
          <a:p>
            <a:pPr/>
          </a:p>
          <a:p>
            <a:pPr/>
            <a:r>
              <a:t>[5] M. E. Verma et al., "A comprehensive guide to CAN IDS data and introduction of the ROAD dataset," PLOS ONE 19(1), e0296879, 2024. </a:t>
            </a:r>
            <a:r>
              <a:rPr u="sng">
                <a:solidFill>
                  <a:srgbClr val="0000FF"/>
                </a:solidFill>
                <a:uFill>
                  <a:solidFill>
                    <a:srgbClr val="0000FF"/>
                  </a:solidFill>
                </a:uFill>
                <a:hlinkClick r:id="rId7" invalidUrl="" action="" tgtFrame="" tooltip="" history="1" highlightClick="0" endSnd="0"/>
              </a:rPr>
              <a:t>https://journals.plos.org/plosone/article?id=10.1371/journal.pone.0296879</a:t>
            </a:r>
            <a:r>
              <a:t> . </a:t>
            </a:r>
            <a:r>
              <a:rPr u="sng">
                <a:solidFill>
                  <a:srgbClr val="0000FF"/>
                </a:solidFill>
                <a:uFill>
                  <a:solidFill>
                    <a:srgbClr val="0000FF"/>
                  </a:solidFill>
                </a:uFill>
                <a:hlinkClick r:id="rId8" invalidUrl="" action="" tgtFrame="" tooltip="" history="1" highlightClick="0" endSnd="0"/>
              </a:rPr>
              <a:t>https://zenodo.org/records/10462796</a:t>
            </a:r>
          </a:p>
          <a:p>
            <a:pPr/>
          </a:p>
          <a:p>
            <a:pPr/>
            <a:r>
              <a:t>[7] L. Korycki and B. Krawczyk, "Adversarial concept drift detection under poisoning attacks for robust data stream mining," Machine Learning 112, pp. 4013–4048, 2023 (online 2022). </a:t>
            </a:r>
            <a:r>
              <a:rPr u="sng">
                <a:solidFill>
                  <a:srgbClr val="0000FF"/>
                </a:solidFill>
                <a:uFill>
                  <a:solidFill>
                    <a:srgbClr val="0000FF"/>
                  </a:solidFill>
                </a:uFill>
                <a:hlinkClick r:id="rId9" invalidUrl="" action="" tgtFrame="" tooltip="" history="1" highlightClick="0" endSnd="0"/>
              </a:rPr>
              <a:t>https://doi.org/10.1007/s10994-022-06177-w</a:t>
            </a:r>
            <a:r>
              <a:t> . Open manuscript: </a:t>
            </a:r>
            <a:r>
              <a:rPr u="sng">
                <a:solidFill>
                  <a:srgbClr val="0000FF"/>
                </a:solidFill>
                <a:uFill>
                  <a:solidFill>
                    <a:srgbClr val="0000FF"/>
                  </a:solidFill>
                </a:uFill>
                <a:hlinkClick r:id="rId10" invalidUrl="" action="" tgtFrame="" tooltip="" history="1" highlightClick="0" endSnd="0"/>
              </a:rPr>
              <a:t>https://arxiv.org/abs/2009.09497</a:t>
            </a:r>
            <a:r>
              <a:t> . Correction: </a:t>
            </a:r>
            <a:r>
              <a:rPr u="sng">
                <a:solidFill>
                  <a:srgbClr val="0000FF"/>
                </a:solidFill>
                <a:uFill>
                  <a:solidFill>
                    <a:srgbClr val="0000FF"/>
                  </a:solidFill>
                </a:uFill>
                <a:hlinkClick r:id="rId11" invalidUrl="" action="" tgtFrame="" tooltip="" history="1" highlightClick="0" endSnd="0"/>
              </a:rPr>
              <a:t>https://doi.org/10.1007/s10994-023-06459-x</a:t>
            </a:r>
          </a:p>
          <a:p>
            <a:pPr/>
          </a:p>
          <a:p>
            <a:pPr/>
            <a:r>
              <a:t>[9] P. Sharma and J. Gillanders, "Cybersecurity and Forensics in Connected Autonomous Vehicles: A Review of the State-of-the-Art," IEEE Access 10, pp. 108979–108996, 2022. </a:t>
            </a:r>
            <a:r>
              <a:rPr u="sng">
                <a:solidFill>
                  <a:srgbClr val="0000FF"/>
                </a:solidFill>
                <a:uFill>
                  <a:solidFill>
                    <a:srgbClr val="0000FF"/>
                  </a:solidFill>
                </a:uFill>
                <a:hlinkClick r:id="rId12" invalidUrl="" action="" tgtFrame="" tooltip="" history="1" highlightClick="0" endSnd="0"/>
              </a:rPr>
              <a:t>https://doi.org/10.1109/ACCESS.2022.3213843</a:t>
            </a:r>
            <a:r>
              <a:t> . Survey of CAV cybersecurity and digital forensics, used as background motivation for evidence preservation.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Shape 147"/>
          <p:cNvSpPr/>
          <p:nvPr>
            <p:ph type="sldImg"/>
          </p:nvPr>
        </p:nvSpPr>
        <p:spPr>
          <a:prstGeom prst="rect">
            <a:avLst/>
          </a:prstGeom>
        </p:spPr>
        <p:txBody>
          <a:bodyPr/>
          <a:lstStyle/>
          <a:p>
            <a:pPr/>
          </a:p>
        </p:txBody>
      </p:sp>
      <p:sp>
        <p:nvSpPr>
          <p:cNvPr id="148" name="Shape 148"/>
          <p:cNvSpPr/>
          <p:nvPr>
            <p:ph type="body" sz="quarter" idx="1"/>
          </p:nvPr>
        </p:nvSpPr>
        <p:spPr>
          <a:prstGeom prst="rect">
            <a:avLst/>
          </a:prstGeom>
        </p:spPr>
        <p:txBody>
          <a:bodyPr/>
          <a:lstStyle/>
          <a:p>
            <a:r>
              <a:t>23-slide review structure. Applications follow Scope and Feasibility. GhostTrace evidence preservation appears on slide 12, the conceptual forensic image on slide 13, motivation and prior work on slide 14, scope on slide 15, and evaluation on slide 16. Bounded AI investigation follows on slide 17. Existing references retain their paper numbers and appear on slides 21 and 22.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Shape 162"/>
          <p:cNvSpPr/>
          <p:nvPr>
            <p:ph type="sldImg"/>
          </p:nvPr>
        </p:nvSpPr>
        <p:spPr>
          <a:prstGeom prst="rect">
            <a:avLst/>
          </a:prstGeom>
        </p:spPr>
        <p:txBody>
          <a:bodyPr/>
          <a:lstStyle/>
          <a:p>
            <a:pPr/>
          </a:p>
        </p:txBody>
      </p:sp>
      <p:sp>
        <p:nvSpPr>
          <p:cNvPr id="163" name="Shape 163"/>
          <p:cNvSpPr/>
          <p:nvPr>
            <p:ph type="body" sz="quarter" idx="1"/>
          </p:nvPr>
        </p:nvSpPr>
        <p:spPr>
          <a:prstGeom prst="rect">
            <a:avLst/>
          </a:prstGeom>
        </p:spPr>
        <p:txBody>
          <a:bodyPr/>
          <a:lstStyle/>
          <a:p>
            <a:pPr/>
            <a:r>
              <a:t>Modern connected vehicles rely on CAN for internal communication and V2X for exchanging external information. The problem is to distinguish legitimate faults and operational changes from malicious activity, assess conflicting observations and preserve evidence that independent parties can verify. Anomaly detection alone does not guarantee cause attribution. Integrity asks whether retained evidence matches its authenticated commitments. Availability asks whether sufficient records can be retrieved. Unavailable records alone do not establish alteration. This slide describes the research problem, not a completed solution.</a:t>
            </a:r>
          </a:p>
          <a:p>
            <a:pPr/>
          </a:p>
          <a:p>
            <a:pPr/>
            <a:r>
              <a:t>Full research question: How can connected vehicles reliably distinguish benign abnormalities from malicious attacks, identify supported causes and preserve independently verifiable evidence for investigation?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pPr/>
            <a:r>
              <a:t>User-supplied conceptual illustration. The vehicles, roadside unit and 802.11p links illustrate the application domain, not acquired equipment or an operating deployment. The prototype uses laptop-simulated V2X and two planned ESP32 + MCP2515 CAN bench nodes. The boards do not supply production V2X or native 802.11p radio capability. Displayed dashboard readouts are illustrative, not project results. The supplied image is retained as a raster image; surrounding text remains editable.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Shape 232"/>
          <p:cNvSpPr/>
          <p:nvPr>
            <p:ph type="sldImg"/>
          </p:nvPr>
        </p:nvSpPr>
        <p:spPr>
          <a:prstGeom prst="rect">
            <a:avLst/>
          </a:prstGeom>
        </p:spPr>
        <p:txBody>
          <a:bodyPr/>
          <a:lstStyle/>
          <a:p>
            <a:pPr/>
          </a:p>
        </p:txBody>
      </p:sp>
      <p:sp>
        <p:nvSpPr>
          <p:cNvPr id="233" name="Shape 233"/>
          <p:cNvSpPr/>
          <p:nvPr>
            <p:ph type="body" sz="quarter" idx="1"/>
          </p:nvPr>
        </p:nvSpPr>
        <p:spPr>
          <a:prstGeom prst="rect">
            <a:avLst/>
          </a:prstGeom>
        </p:spPr>
        <p:txBody>
          <a:bodyPr/>
          <a:lstStyle/>
          <a:p>
            <a:pPr/>
            <a:r>
              <a:t>CAN and V2X detection remain independent. A versioned deterministic policy records each assessment; timing correlation can modify confidence but cannot produce an attack verdict by itself. The fleet exchanges signed event-matched attribution labels and confidence scores with authentication metadata, never raw model weights. The initial experiment uses four registered identities, at most one Byzantine identity and three matching signatures for the same event and policy epoch. Reject duplicate identities, stale messages and invalid signatures. Honest participants do not sign conflicting labels in one epoch. Below quorum or under split votes, preserve the local verdict and report that fleet corroboration is unavailable. This is bounded corroboration, not a full BFT replication protocol or proof of the underlying sensor claim. GhostTrace records local and fleet status; the AI investigator remains downstream with read-only access. The proposal must test these permission boundaries. Existing CAN/V2X integration [1, 3] means integration alone is not a novelty claim.</a:t>
            </a:r>
          </a:p>
          <a:p>
            <a:pPr/>
          </a:p>
          <a:p>
            <a:pPr/>
            <a:r>
              <a:t>References</a:t>
            </a:r>
          </a:p>
          <a:p>
            <a:pPr/>
            <a:r>
              <a:t>[1] Z. Shen et al., “Securing autonomous vehicles: a dual-domain intrusion detection system for intra-vehicle and external networks,” Peer-to-Peer Networking and Applications, 2026. </a:t>
            </a:r>
            <a:r>
              <a:rPr u="sng">
                <a:solidFill>
                  <a:srgbClr val="0000FF"/>
                </a:solidFill>
                <a:uFill>
                  <a:solidFill>
                    <a:srgbClr val="0000FF"/>
                  </a:solidFill>
                </a:uFill>
                <a:hlinkClick r:id="rId3" invalidUrl="" action="" tgtFrame="" tooltip="" history="1" highlightClick="0" endSnd="0"/>
              </a:rPr>
              <a:t>https://doi.org/10.1007/s12083-026-02214-w</a:t>
            </a:r>
            <a:r>
              <a:t> Published 25 March 2026, volume 19, article 67. Primary publisher: </a:t>
            </a:r>
            <a:r>
              <a:rPr u="sng">
                <a:solidFill>
                  <a:srgbClr val="0000FF"/>
                </a:solidFill>
                <a:uFill>
                  <a:solidFill>
                    <a:srgbClr val="0000FF"/>
                  </a:solidFill>
                </a:uFill>
                <a:hlinkClick r:id="rId4" invalidUrl="" action="" tgtFrame="" tooltip="" history="1" highlightClick="0" endSnd="0"/>
              </a:rPr>
              <a:t>https://link.springer.com/article/10.1007/s12083-026-02214-w</a:t>
            </a:r>
          </a:p>
          <a:p>
            <a:pPr/>
          </a:p>
          <a:p>
            <a:pPr/>
            <a:r>
              <a:t>[3] M. Golam, J.-M. Lee and D.-S. Kim, "Language Agent Model-Driven Distributed Consensus for Advanced IoV Threat Response Management," APCC, 2025. </a:t>
            </a:r>
            <a:r>
              <a:rPr u="sng">
                <a:solidFill>
                  <a:srgbClr val="0000FF"/>
                </a:solidFill>
                <a:uFill>
                  <a:solidFill>
                    <a:srgbClr val="0000FF"/>
                  </a:solidFill>
                </a:uFill>
                <a:hlinkClick r:id="rId5" invalidUrl="" action="" tgtFrame="" tooltip="" history="1" highlightClick="0" endSnd="0"/>
              </a:rPr>
              <a:t>https://doi.org/10.34385/proc.97.w4-3-6</a:t>
            </a:r>
            <a:r>
              <a:t> . Figure 1 and Section II-A describe CAN, V2X and GPS input fusion. </a:t>
            </a:r>
            <a:r>
              <a:rPr u="sng">
                <a:solidFill>
                  <a:srgbClr val="0000FF"/>
                </a:solidFill>
                <a:uFill>
                  <a:solidFill>
                    <a:srgbClr val="0000FF"/>
                  </a:solidFill>
                </a:uFill>
                <a:hlinkClick r:id="rId6" invalidUrl="" action="" tgtFrame="" tooltip="" history="1" highlightClick="0" endSnd="0"/>
              </a:rPr>
              <a:t>https://www.ieice.org/publications/proceedings/bin/pdf_link.php?fname=W4-3-6.pdf&amp;iconf=APCC&amp;lang=E&amp;number=W4-3-6&amp;vol=97&amp;year=2025</a:t>
            </a:r>
          </a:p>
          <a:p>
            <a:pPr/>
          </a:p>
          <a:p>
            <a:pPr/>
            <a:r>
              <a:t>[6] X. Sui, S. Duan and H. Zhang, “BG: A Modular Treatment of BFT Consensus Toward a Unified Theory of BFT Replication,” IEEE TIFS, vol. 19, pp. 44–58, 2024. </a:t>
            </a:r>
            <a:r>
              <a:rPr u="sng">
                <a:solidFill>
                  <a:srgbClr val="0000FF"/>
                </a:solidFill>
                <a:uFill>
                  <a:solidFill>
                    <a:srgbClr val="0000FF"/>
                  </a:solidFill>
                </a:uFill>
                <a:hlinkClick r:id="rId7" invalidUrl="" action="" tgtFrame="" tooltip="" history="1" highlightClick="0" endSnd="0"/>
              </a:rPr>
              <a:t>https://ieeexplore.ieee.org/document/10262091/</a:t>
            </a:r>
            <a:r>
              <a:t> Author manuscript: </a:t>
            </a:r>
            <a:r>
              <a:rPr u="sng">
                <a:solidFill>
                  <a:srgbClr val="0000FF"/>
                </a:solidFill>
                <a:uFill>
                  <a:solidFill>
                    <a:srgbClr val="0000FF"/>
                  </a:solidFill>
                </a:uFill>
                <a:hlinkClick r:id="rId8" invalidUrl="" action="" tgtFrame="" tooltip="" history="1" highlightClick="0" endSnd="0"/>
              </a:rPr>
              <a:t>https://eprint.iacr.org/2022/1433</a:t>
            </a:r>
            <a:r>
              <a:t> . Journal volume year is 2024; the earlier manuscript is 2022.</a:t>
            </a:r>
          </a:p>
          <a:p>
            <a:pPr/>
          </a:p>
          <a:p>
            <a:pPr/>
            <a:r>
              <a:t>Architecture boundary: any prevention demonstration is authorised message-level filtering in a controlled CAN bench software gateway or simulated V2X receiver. No real-vehicle braking, steering or throttle. GhostTrace remains downstream of canonical local verdicts and shared fleet evidence. AI consumes verified evidence and cannot change those verdicts.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Shape 239"/>
          <p:cNvSpPr/>
          <p:nvPr>
            <p:ph type="sldImg"/>
          </p:nvPr>
        </p:nvSpPr>
        <p:spPr>
          <a:prstGeom prst="rect">
            <a:avLst/>
          </a:prstGeom>
        </p:spPr>
        <p:txBody>
          <a:bodyPr/>
          <a:lstStyle/>
          <a:p>
            <a:pPr/>
          </a:p>
        </p:txBody>
      </p:sp>
      <p:sp>
        <p:nvSpPr>
          <p:cNvPr id="240" name="Shape 240"/>
          <p:cNvSpPr/>
          <p:nvPr>
            <p:ph type="body" sz="quarter" idx="1"/>
          </p:nvPr>
        </p:nvSpPr>
        <p:spPr>
          <a:prstGeom prst="rect">
            <a:avLst/>
          </a:prstGeom>
        </p:spPr>
        <p:txBody>
          <a:bodyPr/>
          <a:lstStyle/>
          <a:p>
            <a:pPr/>
            <a:r>
              <a:t>CAN and V2X prior work already includes dual-domain intrusion detection and language-agent IoV architectures. No claim of first integration is made. VerdictTrace proposes testing matched cross-layer cause attribution, reliability-aware conflict handling and abstention. Related forensic literature appears in the dedicated GhostTrace section.</a:t>
            </a:r>
          </a:p>
          <a:p>
            <a:pPr/>
          </a:p>
          <a:p>
            <a:pPr/>
            <a:r>
              <a:t>The right-hand column describes planned comparisons, not demonstrated superiority or a claim that every listed feature is absent from earlier work. [7] addresses adversarial drift, and [2] continual novelty detection; the planned test is whether cross-layer context improves cause attribution without erasing attack recall. [3] already places a language agent inside multi-source vehicle detection, with blockchain consensus and logging. VerdictTrace will evaluate an investigator restricted to verified evidence after independent detector verdicts. [1] reports CAN and V2X classification using synthetic datasets; the comparison targets synchronized cause-labeled drift scenarios, using matched splits rather than comparing headline accuracy across datasets. [4] targets host system-call audit integrity; its efficient tamper detection motivates measuring evidence overhead, but eBPF is not proposed for ESP32. [6] studies formal BFT protocol design. Our threshold voting is fleet corroboration, not an implementation or proof of BG. [8] uses a trusted log notary and shareable receipts; our proposed study tests explicit witness-fault assumptions and outage recovery.</a:t>
            </a:r>
          </a:p>
          <a:p>
            <a:pPr/>
          </a:p>
          <a:p>
            <a:pPr/>
            <a:r>
              <a:t>Supporting comparisons: [9] reviews CAV cybersecurity and digital-forensics challenges. It motivates evidence preservation. VerdictTrace proposes a witness-and-recovery prototype with controlled fault and outage tests. This survey supplies background context rather than a reproduced algorithmic baseline. [11] motivates checking evidence hashes; compare local hash checking with independently retained commitments. Only its bibliography and abstract were accessible, so do not claim a specific missing method. [5] supplies authentic CAN traffic, whereas our dataset adds documented V2X simulation and synchronized cause labels. [10] explains security drift samples; test whether analyst-facing timelines and verified citations add value beyond a fixed report.</a:t>
            </a:r>
          </a:p>
          <a:p>
            <a:pPr/>
          </a:p>
          <a:p>
            <a:pPr/>
            <a:r>
              <a:t>All eleven cited works are from 2020–2026. The CAV forensics review (2022), the PES C-ISFCR-listed hash paper (2020) and CADE (2021) provide specific background. Eight works are from 2023–2026. The 2023 logging preprint is explicitly labeled.</a:t>
            </a:r>
          </a:p>
          <a:p>
            <a:pPr/>
          </a:p>
          <a:p>
            <a:pPr/>
            <a:r>
              <a:t>References</a:t>
            </a:r>
          </a:p>
          <a:p>
            <a:pPr/>
            <a:r>
              <a:t>[1] Z. Shen et al., “Securing autonomous vehicles: a dual-domain intrusion detection system for intra-vehicle and external networks,” Peer-to-Peer Networking and Applications, 2026. </a:t>
            </a:r>
            <a:r>
              <a:rPr u="sng">
                <a:solidFill>
                  <a:srgbClr val="0000FF"/>
                </a:solidFill>
                <a:uFill>
                  <a:solidFill>
                    <a:srgbClr val="0000FF"/>
                  </a:solidFill>
                </a:uFill>
                <a:hlinkClick r:id="rId3" invalidUrl="" action="" tgtFrame="" tooltip="" history="1" highlightClick="0" endSnd="0"/>
              </a:rPr>
              <a:t>https://doi.org/10.1007/s12083-026-02214-w</a:t>
            </a:r>
            <a:r>
              <a:t> Published 25 March 2026, volume 19, article 67. Primary publisher: </a:t>
            </a:r>
            <a:r>
              <a:rPr u="sng">
                <a:solidFill>
                  <a:srgbClr val="0000FF"/>
                </a:solidFill>
                <a:uFill>
                  <a:solidFill>
                    <a:srgbClr val="0000FF"/>
                  </a:solidFill>
                </a:uFill>
                <a:hlinkClick r:id="rId4" invalidUrl="" action="" tgtFrame="" tooltip="" history="1" highlightClick="0" endSnd="0"/>
              </a:rPr>
              <a:t>https://link.springer.com/article/10.1007/s12083-026-02214-w</a:t>
            </a:r>
          </a:p>
          <a:p>
            <a:pPr/>
          </a:p>
          <a:p>
            <a:pPr/>
            <a:r>
              <a:t>[2] S. Fuhrman, O. Gungor and T. Rosing, "CND-IDS: Continual Novelty Detection for Intrusion Detection Systems," ACM/IEEE DAC, 2025. </a:t>
            </a:r>
            <a:r>
              <a:rPr u="sng">
                <a:solidFill>
                  <a:srgbClr val="0000FF"/>
                </a:solidFill>
                <a:uFill>
                  <a:solidFill>
                    <a:srgbClr val="0000FF"/>
                  </a:solidFill>
                </a:uFill>
                <a:hlinkClick r:id="rId5" invalidUrl="" action="" tgtFrame="" tooltip="" history="1" highlightClick="0" endSnd="0"/>
              </a:rPr>
              <a:t>https://doi.org/10.1109/DAC63849.2025.11132541</a:t>
            </a:r>
            <a:r>
              <a:t> . Open author version: </a:t>
            </a:r>
            <a:r>
              <a:rPr u="sng">
                <a:solidFill>
                  <a:srgbClr val="0000FF"/>
                </a:solidFill>
                <a:uFill>
                  <a:solidFill>
                    <a:srgbClr val="0000FF"/>
                  </a:solidFill>
                </a:uFill>
                <a:hlinkClick r:id="rId6" invalidUrl="" action="" tgtFrame="" tooltip="" history="1" highlightClick="0" endSnd="0"/>
              </a:rPr>
              <a:t>https://arxiv.org/abs/2502.14094</a:t>
            </a:r>
          </a:p>
          <a:p>
            <a:pPr/>
          </a:p>
          <a:p>
            <a:pPr/>
            <a:r>
              <a:t>[3] M. Golam, J.-M. Lee and D.-S. Kim, "Language Agent Model-Driven Distributed Consensus for Advanced IoV Threat Response Management," APCC, 2025. </a:t>
            </a:r>
            <a:r>
              <a:rPr u="sng">
                <a:solidFill>
                  <a:srgbClr val="0000FF"/>
                </a:solidFill>
                <a:uFill>
                  <a:solidFill>
                    <a:srgbClr val="0000FF"/>
                  </a:solidFill>
                </a:uFill>
                <a:hlinkClick r:id="rId7" invalidUrl="" action="" tgtFrame="" tooltip="" history="1" highlightClick="0" endSnd="0"/>
              </a:rPr>
              <a:t>https://doi.org/10.34385/proc.97.w4-3-6</a:t>
            </a:r>
            <a:r>
              <a:t> . Figure 1 and Section II-A describe CAN, V2X and GPS input fusion. </a:t>
            </a:r>
            <a:r>
              <a:rPr u="sng">
                <a:solidFill>
                  <a:srgbClr val="0000FF"/>
                </a:solidFill>
                <a:uFill>
                  <a:solidFill>
                    <a:srgbClr val="0000FF"/>
                  </a:solidFill>
                </a:uFill>
                <a:hlinkClick r:id="rId8" invalidUrl="" action="" tgtFrame="" tooltip="" history="1" highlightClick="0" endSnd="0"/>
              </a:rPr>
              <a:t>https://www.ieice.org/publications/proceedings/bin/pdf_link.php?fname=W4-3-6.pdf&amp;iconf=APCC&amp;lang=E&amp;number=W4-3-6&amp;vol=97&amp;year=2025</a:t>
            </a:r>
          </a:p>
          <a:p>
            <a:pPr/>
          </a:p>
          <a:p>
            <a:pPr/>
            <a:r>
              <a:t>[4] R. Zhao et al., “Rethinking Tamper-Evident Logging: A High-Performance, Co-Designed Auditing System,” ACM CCS, 2025. </a:t>
            </a:r>
            <a:r>
              <a:rPr u="sng">
                <a:solidFill>
                  <a:srgbClr val="0000FF"/>
                </a:solidFill>
                <a:uFill>
                  <a:solidFill>
                    <a:srgbClr val="0000FF"/>
                  </a:solidFill>
                </a:uFill>
                <a:hlinkClick r:id="rId9" invalidUrl="" action="" tgtFrame="" tooltip="" history="1" highlightClick="0" endSnd="0"/>
              </a:rPr>
              <a:t>https://doi.org/10.1145/3719027.3765024</a:t>
            </a:r>
            <a:r>
              <a:t> Open author manuscript: </a:t>
            </a:r>
            <a:r>
              <a:rPr u="sng">
                <a:solidFill>
                  <a:srgbClr val="0000FF"/>
                </a:solidFill>
                <a:uFill>
                  <a:solidFill>
                    <a:srgbClr val="0000FF"/>
                  </a:solidFill>
                </a:uFill>
                <a:hlinkClick r:id="rId10" invalidUrl="" action="" tgtFrame="" tooltip="" history="1" highlightClick="0" endSnd="0"/>
              </a:rPr>
              <a:t>https://arxiv.org/abs/2509.03821</a:t>
            </a:r>
          </a:p>
          <a:p>
            <a:pPr/>
          </a:p>
          <a:p>
            <a:pPr/>
            <a:r>
              <a:t>[5] M. E. Verma et al., "A comprehensive guide to CAN IDS data and introduction of the ROAD dataset," PLOS ONE 19(1), e0296879, 2024. </a:t>
            </a:r>
            <a:r>
              <a:rPr u="sng">
                <a:solidFill>
                  <a:srgbClr val="0000FF"/>
                </a:solidFill>
                <a:uFill>
                  <a:solidFill>
                    <a:srgbClr val="0000FF"/>
                  </a:solidFill>
                </a:uFill>
                <a:hlinkClick r:id="rId11" invalidUrl="" action="" tgtFrame="" tooltip="" history="1" highlightClick="0" endSnd="0"/>
              </a:rPr>
              <a:t>https://journals.plos.org/plosone/article?id=10.1371/journal.pone.0296879</a:t>
            </a:r>
            <a:r>
              <a:t> . </a:t>
            </a:r>
            <a:r>
              <a:rPr u="sng">
                <a:solidFill>
                  <a:srgbClr val="0000FF"/>
                </a:solidFill>
                <a:uFill>
                  <a:solidFill>
                    <a:srgbClr val="0000FF"/>
                  </a:solidFill>
                </a:uFill>
                <a:hlinkClick r:id="rId12" invalidUrl="" action="" tgtFrame="" tooltip="" history="1" highlightClick="0" endSnd="0"/>
              </a:rPr>
              <a:t>https://zenodo.org/records/10462796</a:t>
            </a:r>
          </a:p>
          <a:p>
            <a:pPr/>
          </a:p>
          <a:p>
            <a:pPr/>
            <a:r>
              <a:t>[6] X. Sui, S. Duan and H. Zhang, “BG: A Modular Treatment of BFT Consensus Toward a Unified Theory of BFT Replication,” IEEE TIFS, vol. 19, pp. 44–58, 2024. </a:t>
            </a:r>
            <a:r>
              <a:rPr u="sng">
                <a:solidFill>
                  <a:srgbClr val="0000FF"/>
                </a:solidFill>
                <a:uFill>
                  <a:solidFill>
                    <a:srgbClr val="0000FF"/>
                  </a:solidFill>
                </a:uFill>
                <a:hlinkClick r:id="rId13" invalidUrl="" action="" tgtFrame="" tooltip="" history="1" highlightClick="0" endSnd="0"/>
              </a:rPr>
              <a:t>https://ieeexplore.ieee.org/document/10262091/</a:t>
            </a:r>
            <a:r>
              <a:t> Author manuscript: </a:t>
            </a:r>
            <a:r>
              <a:rPr u="sng">
                <a:solidFill>
                  <a:srgbClr val="0000FF"/>
                </a:solidFill>
                <a:uFill>
                  <a:solidFill>
                    <a:srgbClr val="0000FF"/>
                  </a:solidFill>
                </a:uFill>
                <a:hlinkClick r:id="rId14" invalidUrl="" action="" tgtFrame="" tooltip="" history="1" highlightClick="0" endSnd="0"/>
              </a:rPr>
              <a:t>https://eprint.iacr.org/2022/1433</a:t>
            </a:r>
            <a:r>
              <a:t> . Journal volume year is 2024; the earlier manuscript is 2022.</a:t>
            </a:r>
          </a:p>
          <a:p>
            <a:pPr/>
          </a:p>
          <a:p>
            <a:pPr/>
            <a:r>
              <a:t>[7] L. Korycki and B. Krawczyk, "Adversarial concept drift detection under poisoning attacks for robust data stream mining," Machine Learning 112, pp. 4013–4048, 2023 (online 2022). </a:t>
            </a:r>
            <a:r>
              <a:rPr u="sng">
                <a:solidFill>
                  <a:srgbClr val="0000FF"/>
                </a:solidFill>
                <a:uFill>
                  <a:solidFill>
                    <a:srgbClr val="0000FF"/>
                  </a:solidFill>
                </a:uFill>
                <a:hlinkClick r:id="rId15" invalidUrl="" action="" tgtFrame="" tooltip="" history="1" highlightClick="0" endSnd="0"/>
              </a:rPr>
              <a:t>https://doi.org/10.1007/s10994-022-06177-w</a:t>
            </a:r>
            <a:r>
              <a:t> . Open manuscript: </a:t>
            </a:r>
            <a:r>
              <a:rPr u="sng">
                <a:solidFill>
                  <a:srgbClr val="0000FF"/>
                </a:solidFill>
                <a:uFill>
                  <a:solidFill>
                    <a:srgbClr val="0000FF"/>
                  </a:solidFill>
                </a:uFill>
                <a:hlinkClick r:id="rId16" invalidUrl="" action="" tgtFrame="" tooltip="" history="1" highlightClick="0" endSnd="0"/>
              </a:rPr>
              <a:t>https://arxiv.org/abs/2009.09497</a:t>
            </a:r>
            <a:r>
              <a:t> . Correction: </a:t>
            </a:r>
            <a:r>
              <a:rPr u="sng">
                <a:solidFill>
                  <a:srgbClr val="0000FF"/>
                </a:solidFill>
                <a:uFill>
                  <a:solidFill>
                    <a:srgbClr val="0000FF"/>
                  </a:solidFill>
                </a:uFill>
                <a:hlinkClick r:id="rId17" invalidUrl="" action="" tgtFrame="" tooltip="" history="1" highlightClick="0" endSnd="0"/>
              </a:rPr>
              <a:t>https://doi.org/10.1007/s10994-023-06459-x</a:t>
            </a:r>
          </a:p>
          <a:p>
            <a:pPr/>
          </a:p>
          <a:p>
            <a:pPr/>
            <a:r>
              <a:t>[8] D. Koisser and A.-R. Sadeghi, “Accountability of Things: Large-Scale Tamper-Evident Logging for Smart Devices,” arXiv preprint, 2023. </a:t>
            </a:r>
            <a:r>
              <a:rPr u="sng">
                <a:solidFill>
                  <a:srgbClr val="0000FF"/>
                </a:solidFill>
                <a:uFill>
                  <a:solidFill>
                    <a:srgbClr val="0000FF"/>
                  </a:solidFill>
                </a:uFill>
                <a:hlinkClick r:id="rId18" invalidUrl="" action="" tgtFrame="" tooltip="" history="1" highlightClick="0" endSnd="0"/>
              </a:rPr>
              <a:t>https://arxiv.org/abs/2308.05557</a:t>
            </a:r>
          </a:p>
          <a:p>
            <a:pPr/>
          </a:p>
          <a:p>
            <a:pPr/>
            <a:r>
              <a:t>[9] P. Sharma and J. Gillanders, "Cybersecurity and Forensics in Connected Autonomous Vehicles: A Review of the State-of-the-Art," IEEE Access 10, pp. 108979–108996, 2022. </a:t>
            </a:r>
            <a:r>
              <a:rPr u="sng">
                <a:solidFill>
                  <a:srgbClr val="0000FF"/>
                </a:solidFill>
                <a:uFill>
                  <a:solidFill>
                    <a:srgbClr val="0000FF"/>
                  </a:solidFill>
                </a:uFill>
                <a:hlinkClick r:id="rId19" invalidUrl="" action="" tgtFrame="" tooltip="" history="1" highlightClick="0" endSnd="0"/>
              </a:rPr>
              <a:t>https://doi.org/10.1109/ACCESS.2022.3213843</a:t>
            </a:r>
            <a:r>
              <a:t> . Survey of CAV cybersecurity and digital forensics, used as background motivation for evidence preservation.</a:t>
            </a:r>
          </a:p>
          <a:p>
            <a:pPr/>
          </a:p>
          <a:p>
            <a:pPr/>
            <a:r>
              <a:t>[10] L. Yang et al., "CADE: Detecting and Explaining Concept Drift Samples for Security Applications," USENIX Security, 2021, pp. 2327–2344. </a:t>
            </a:r>
            <a:r>
              <a:rPr u="sng">
                <a:solidFill>
                  <a:srgbClr val="0000FF"/>
                </a:solidFill>
                <a:uFill>
                  <a:solidFill>
                    <a:srgbClr val="0000FF"/>
                  </a:solidFill>
                </a:uFill>
                <a:hlinkClick r:id="rId20" invalidUrl="" action="" tgtFrame="" tooltip="" history="1" highlightClick="0" endSnd="0"/>
              </a:rPr>
              <a:t>https://www.usenix.org/conference/usenixsecurity21/presentation/yang-limin</a:t>
            </a:r>
          </a:p>
          <a:p>
            <a:pPr/>
          </a:p>
          <a:p>
            <a:pPr/>
            <a:r>
              <a:t>[11] P. K.C., R. Soman and P. Honnavalli, "Validity of Forensic Evidence using Hash Function," IEEE ICCES, pp. 823–826, 2020. </a:t>
            </a:r>
            <a:r>
              <a:rPr u="sng">
                <a:solidFill>
                  <a:srgbClr val="0000FF"/>
                </a:solidFill>
                <a:uFill>
                  <a:solidFill>
                    <a:srgbClr val="0000FF"/>
                  </a:solidFill>
                </a:uFill>
                <a:hlinkClick r:id="rId21" invalidUrl="" action="" tgtFrame="" tooltip="" history="1" highlightClick="0" endSnd="0"/>
              </a:rPr>
              <a:t>https://doi.org/10.1109/ICCES48766.2020.9138061</a:t>
            </a:r>
            <a:r>
              <a:t> . Listed by PES C-ISFCR: </a:t>
            </a:r>
            <a:r>
              <a:rPr u="sng">
                <a:solidFill>
                  <a:srgbClr val="0000FF"/>
                </a:solidFill>
                <a:uFill>
                  <a:solidFill>
                    <a:srgbClr val="0000FF"/>
                  </a:solidFill>
                </a:uFill>
                <a:hlinkClick r:id="rId22" invalidUrl="" action="" tgtFrame="" tooltip="" history="1" highlightClick="0" endSnd="0"/>
              </a:rPr>
              <a:t>https://www.isfcr.pes.edu/research</a:t>
            </a:r>
            <a:r>
              <a:t> . Bibliography and abstract are background evidence. Full methods were not accessible, so this paper is not treated as a reproduced baseline or evidence of a specific missing capability.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5" name="Shape 265"/>
          <p:cNvSpPr/>
          <p:nvPr>
            <p:ph type="sldImg"/>
          </p:nvPr>
        </p:nvSpPr>
        <p:spPr>
          <a:prstGeom prst="rect">
            <a:avLst/>
          </a:prstGeom>
        </p:spPr>
        <p:txBody>
          <a:bodyPr/>
          <a:lstStyle/>
          <a:p>
            <a:pPr/>
          </a:p>
        </p:txBody>
      </p:sp>
      <p:sp>
        <p:nvSpPr>
          <p:cNvPr id="266" name="Shape 266"/>
          <p:cNvSpPr/>
          <p:nvPr>
            <p:ph type="body" sz="quarter" idx="1"/>
          </p:nvPr>
        </p:nvSpPr>
        <p:spPr>
          <a:prstGeom prst="rect">
            <a:avLst/>
          </a:prstGeom>
        </p:spPr>
        <p:txBody>
          <a:bodyPr/>
          <a:lstStyle/>
          <a:p>
            <a:pPr/>
            <a:r>
              <a:t>The team reports four existing MacBook Air M4 laptops. Procure and validate two ESP32 development boards and two MCP2515 CAN interfaces, including voltage compatibility, power and bus termination. Under INR 2,000 is a user-specified core-board estimate only, not a verified supplier quote or an all-in budget. Extra bus interfaces may be needed for a physical inline gateway. Initially demonstrate authorised CAN filtering at a controlled software gateway / replay interface and a simulated V2X receiver; assess the hardware topology before claiming inline physical blocking. No production V2X radio or real-car actuation.</a:t>
            </a:r>
          </a:p>
          <a:p>
            <a:pPr/>
          </a:p>
          <a:p>
            <a:pPr/>
            <a:r>
              <a:t>Four registered simulated clients: initial experiment permits at most one faulty client, with three matching eligible signed votes required. Verify event, policy epoch, freshness and distinct identities. This is a scoped corroboration rule, not automatically PBFT or proof of sensor truth. Retain local verdict below quorum. [6] is BFT background only.</a:t>
            </a:r>
          </a:p>
          <a:p>
            <a:pPr/>
          </a:p>
          <a:p>
            <a:pPr/>
            <a:r>
              <a:t>AI access remains subject to current terms and availability. NVIDIA hosted development access may have limits: </a:t>
            </a:r>
            <a:r>
              <a:rPr u="sng">
                <a:solidFill>
                  <a:srgbClr val="0000FF"/>
                </a:solidFill>
                <a:uFill>
                  <a:solidFill>
                    <a:srgbClr val="0000FF"/>
                  </a:solidFill>
                </a:uFill>
                <a:hlinkClick r:id="rId3" invalidUrl="" action="" tgtFrame="" tooltip="" history="1" highlightClick="0" endSnd="0"/>
              </a:rPr>
              <a:t>https://build.nvidia.com/</a:t>
            </a:r>
            <a:r>
              <a:t> . Gemini eligible free tier: </a:t>
            </a:r>
            <a:r>
              <a:rPr u="sng">
                <a:solidFill>
                  <a:srgbClr val="0000FF"/>
                </a:solidFill>
                <a:uFill>
                  <a:solidFill>
                    <a:srgbClr val="0000FF"/>
                  </a:solidFill>
                </a:uFill>
                <a:hlinkClick r:id="rId4" invalidUrl="" action="" tgtFrame="" tooltip="" history="1" highlightClick="0" endSnd="0"/>
              </a:rPr>
              <a:t>https://ai.google.dev/gemini-api/docs/pricing</a:t>
            </a:r>
            <a:r>
              <a:t> . Optional paid Claude Haiku: </a:t>
            </a:r>
            <a:r>
              <a:rPr u="sng">
                <a:solidFill>
                  <a:srgbClr val="0000FF"/>
                </a:solidFill>
                <a:uFill>
                  <a:solidFill>
                    <a:srgbClr val="0000FF"/>
                  </a:solidFill>
                </a:uFill>
                <a:hlinkClick r:id="rId5" invalidUrl="" action="" tgtFrame="" tooltip="" history="1" highlightClick="0" endSnd="0"/>
              </a:rPr>
              <a:t>https://platform.claude.com/docs/en/about-claude/pricing</a:t>
            </a:r>
            <a:r>
              <a:t> . No subscriptions, quotas or API keys are assumed.</a:t>
            </a:r>
          </a:p>
          <a:p>
            <a:pPr/>
          </a:p>
          <a:p>
            <a:pPr/>
            <a:r>
              <a:t>Datasets: </a:t>
            </a:r>
            <a:r>
              <a:rPr u="sng">
                <a:solidFill>
                  <a:srgbClr val="0000FF"/>
                </a:solidFill>
                <a:uFill>
                  <a:solidFill>
                    <a:srgbClr val="0000FF"/>
                  </a:solidFill>
                </a:uFill>
                <a:hlinkClick r:id="rId6" invalidUrl="" action="" tgtFrame="" tooltip="" history="1" highlightClick="0" endSnd="0"/>
              </a:rPr>
              <a:t>https://doi.org/10.1371/journal.pone.0296879</a:t>
            </a:r>
            <a:r>
              <a:t> ; </a:t>
            </a:r>
            <a:r>
              <a:rPr u="sng">
                <a:solidFill>
                  <a:srgbClr val="0000FF"/>
                </a:solidFill>
                <a:uFill>
                  <a:solidFill>
                    <a:srgbClr val="0000FF"/>
                  </a:solidFill>
                </a:uFill>
                <a:hlinkClick r:id="rId7" invalidUrl="" action="" tgtFrame="" tooltip="" history="1" highlightClick="0" endSnd="0"/>
              </a:rPr>
              <a:t>https://www.unb.ca/cic/datasets/iov-dataset-2024.html</a:t>
            </a:r>
            <a:r>
              <a:t> ; </a:t>
            </a:r>
            <a:r>
              <a:rPr u="sng">
                <a:solidFill>
                  <a:srgbClr val="0000FF"/>
                </a:solidFill>
                <a:uFill>
                  <a:solidFill>
                    <a:srgbClr val="0000FF"/>
                  </a:solidFill>
                </a:uFill>
                <a:hlinkClick r:id="rId8" invalidUrl="" action="" tgtFrame="" tooltip="" history="1" highlightClick="0" endSnd="0"/>
              </a:rPr>
              <a:t>https://veremi-dataset.github.io/veremi-nextgen</a:t>
            </a:r>
            <a:r>
              <a:t> . Cryptographic verification and core local verdict generation operate without an AI API.</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9" name="Shape 279"/>
          <p:cNvSpPr/>
          <p:nvPr>
            <p:ph type="sldImg"/>
          </p:nvPr>
        </p:nvSpPr>
        <p:spPr>
          <a:prstGeom prst="rect">
            <a:avLst/>
          </a:prstGeom>
        </p:spPr>
        <p:txBody>
          <a:bodyPr/>
          <a:lstStyle/>
          <a:p>
            <a:pPr/>
          </a:p>
        </p:txBody>
      </p:sp>
      <p:sp>
        <p:nvSpPr>
          <p:cNvPr id="280" name="Shape 280"/>
          <p:cNvSpPr/>
          <p:nvPr>
            <p:ph type="body" sz="quarter" idx="1"/>
          </p:nvPr>
        </p:nvSpPr>
        <p:spPr>
          <a:prstGeom prst="rect">
            <a:avLst/>
          </a:prstGeom>
        </p:spPr>
        <p:txBody>
          <a:bodyPr/>
          <a:lstStyle/>
          <a:p>
            <a:pPr/>
            <a:r>
              <a:t>Four planned CAN/V2X engineering challenges. These are manageable integration tasks, not completed outcomes. Forensic integrity, evidence recovery and AI investigation are covered separately in the GhostTrace section.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Shape 297"/>
          <p:cNvSpPr/>
          <p:nvPr>
            <p:ph type="sldImg"/>
          </p:nvPr>
        </p:nvSpPr>
        <p:spPr>
          <a:prstGeom prst="rect">
            <a:avLst/>
          </a:prstGeom>
        </p:spPr>
        <p:txBody>
          <a:bodyPr/>
          <a:lstStyle/>
          <a:p>
            <a:pPr/>
          </a:p>
        </p:txBody>
      </p:sp>
      <p:sp>
        <p:nvSpPr>
          <p:cNvPr id="298" name="Shape 298"/>
          <p:cNvSpPr/>
          <p:nvPr>
            <p:ph type="body" sz="quarter" idx="1"/>
          </p:nvPr>
        </p:nvSpPr>
        <p:spPr>
          <a:prstGeom prst="rect">
            <a:avLst/>
          </a:prstGeom>
        </p:spPr>
        <p:txBody>
          <a:bodyPr/>
          <a:lstStyle/>
          <a:p>
            <a:pPr/>
            <a:r>
              <a:t>Why this problem: adversarial-drift research [7] shows that poisoning can be designed to resemble distribution change. Continual novelty detection [2] shows that intrusion detection must be evaluated as data evolves. Close IoV work [3] already combines internal and external vehicle telemetry, so we do not claim that integration is new. Vehicle forensics [9], secure audit logging [4] and security-drift explanations [10] motivate asking which causes can be supported by retained evidence. These are literature-based motivations; the slide does not claim an incident, prevalence statistic or experimental result. CAN is the in-vehicle communication setting illustrated by ROAD [5]. V2X is external communication with vehicles or infrastructure. Not every isolated anomaly is concept drift, and an observed distribution change alone does not identify intent. Both benign and adversarial scenarios therefore require documented experimental cause labels. The proposal must allow an insufficient-evidence conclusion.</a:t>
            </a:r>
          </a:p>
          <a:p>
            <a:pPr/>
          </a:p>
          <a:p>
            <a:pPr/>
            <a:r>
              <a:t>References</a:t>
            </a:r>
          </a:p>
          <a:p>
            <a:pPr/>
            <a:r>
              <a:t>[1] Z. Shen et al., “Securing autonomous vehicles: a dual-domain intrusion detection system for intra-vehicle and external networks,” Peer-to-Peer Networking and Applications, 2026. </a:t>
            </a:r>
            <a:r>
              <a:rPr u="sng">
                <a:solidFill>
                  <a:srgbClr val="0000FF"/>
                </a:solidFill>
                <a:uFill>
                  <a:solidFill>
                    <a:srgbClr val="0000FF"/>
                  </a:solidFill>
                </a:uFill>
                <a:hlinkClick r:id="rId3" invalidUrl="" action="" tgtFrame="" tooltip="" history="1" highlightClick="0" endSnd="0"/>
              </a:rPr>
              <a:t>https://doi.org/10.1007/s12083-026-02214-w</a:t>
            </a:r>
            <a:r>
              <a:t> Published 25 March 2026, volume 19, article 67. Primary publisher: </a:t>
            </a:r>
            <a:r>
              <a:rPr u="sng">
                <a:solidFill>
                  <a:srgbClr val="0000FF"/>
                </a:solidFill>
                <a:uFill>
                  <a:solidFill>
                    <a:srgbClr val="0000FF"/>
                  </a:solidFill>
                </a:uFill>
                <a:hlinkClick r:id="rId4" invalidUrl="" action="" tgtFrame="" tooltip="" history="1" highlightClick="0" endSnd="0"/>
              </a:rPr>
              <a:t>https://link.springer.com/article/10.1007/s12083-026-02214-w</a:t>
            </a:r>
          </a:p>
          <a:p>
            <a:pPr/>
          </a:p>
          <a:p>
            <a:pPr/>
            <a:r>
              <a:t>[2] S. Fuhrman, O. Gungor and T. Rosing, "CND-IDS: Continual Novelty Detection for Intrusion Detection Systems," ACM/IEEE DAC, 2025. </a:t>
            </a:r>
            <a:r>
              <a:rPr u="sng">
                <a:solidFill>
                  <a:srgbClr val="0000FF"/>
                </a:solidFill>
                <a:uFill>
                  <a:solidFill>
                    <a:srgbClr val="0000FF"/>
                  </a:solidFill>
                </a:uFill>
                <a:hlinkClick r:id="rId5" invalidUrl="" action="" tgtFrame="" tooltip="" history="1" highlightClick="0" endSnd="0"/>
              </a:rPr>
              <a:t>https://doi.org/10.1109/DAC63849.2025.11132541</a:t>
            </a:r>
            <a:r>
              <a:t> . Open author version: </a:t>
            </a:r>
            <a:r>
              <a:rPr u="sng">
                <a:solidFill>
                  <a:srgbClr val="0000FF"/>
                </a:solidFill>
                <a:uFill>
                  <a:solidFill>
                    <a:srgbClr val="0000FF"/>
                  </a:solidFill>
                </a:uFill>
                <a:hlinkClick r:id="rId6" invalidUrl="" action="" tgtFrame="" tooltip="" history="1" highlightClick="0" endSnd="0"/>
              </a:rPr>
              <a:t>https://arxiv.org/abs/2502.14094</a:t>
            </a:r>
          </a:p>
          <a:p>
            <a:pPr/>
          </a:p>
          <a:p>
            <a:pPr/>
            <a:r>
              <a:t>[3] M. Golam, J.-M. Lee and D.-S. Kim, "Language Agent Model-Driven Distributed Consensus for Advanced IoV Threat Response Management," APCC, 2025. </a:t>
            </a:r>
            <a:r>
              <a:rPr u="sng">
                <a:solidFill>
                  <a:srgbClr val="0000FF"/>
                </a:solidFill>
                <a:uFill>
                  <a:solidFill>
                    <a:srgbClr val="0000FF"/>
                  </a:solidFill>
                </a:uFill>
                <a:hlinkClick r:id="rId7" invalidUrl="" action="" tgtFrame="" tooltip="" history="1" highlightClick="0" endSnd="0"/>
              </a:rPr>
              <a:t>https://doi.org/10.34385/proc.97.w4-3-6</a:t>
            </a:r>
            <a:r>
              <a:t> . Figure 1 and Section II-A describe CAN, V2X and GPS input fusion. </a:t>
            </a:r>
            <a:r>
              <a:rPr u="sng">
                <a:solidFill>
                  <a:srgbClr val="0000FF"/>
                </a:solidFill>
                <a:uFill>
                  <a:solidFill>
                    <a:srgbClr val="0000FF"/>
                  </a:solidFill>
                </a:uFill>
                <a:hlinkClick r:id="rId8" invalidUrl="" action="" tgtFrame="" tooltip="" history="1" highlightClick="0" endSnd="0"/>
              </a:rPr>
              <a:t>https://www.ieice.org/publications/proceedings/bin/pdf_link.php?fname=W4-3-6.pdf&amp;iconf=APCC&amp;lang=E&amp;number=W4-3-6&amp;vol=97&amp;year=2025</a:t>
            </a:r>
          </a:p>
          <a:p>
            <a:pPr/>
          </a:p>
          <a:p>
            <a:pPr/>
            <a:r>
              <a:t>[4] R. Zhao et al., “Rethinking Tamper-Evident Logging: A High-Performance, Co-Designed Auditing System,” ACM CCS, 2025. </a:t>
            </a:r>
            <a:r>
              <a:rPr u="sng">
                <a:solidFill>
                  <a:srgbClr val="0000FF"/>
                </a:solidFill>
                <a:uFill>
                  <a:solidFill>
                    <a:srgbClr val="0000FF"/>
                  </a:solidFill>
                </a:uFill>
                <a:hlinkClick r:id="rId9" invalidUrl="" action="" tgtFrame="" tooltip="" history="1" highlightClick="0" endSnd="0"/>
              </a:rPr>
              <a:t>https://doi.org/10.1145/3719027.3765024</a:t>
            </a:r>
            <a:r>
              <a:t> Open author manuscript: </a:t>
            </a:r>
            <a:r>
              <a:rPr u="sng">
                <a:solidFill>
                  <a:srgbClr val="0000FF"/>
                </a:solidFill>
                <a:uFill>
                  <a:solidFill>
                    <a:srgbClr val="0000FF"/>
                  </a:solidFill>
                </a:uFill>
                <a:hlinkClick r:id="rId10" invalidUrl="" action="" tgtFrame="" tooltip="" history="1" highlightClick="0" endSnd="0"/>
              </a:rPr>
              <a:t>https://arxiv.org/abs/2509.03821</a:t>
            </a:r>
          </a:p>
          <a:p>
            <a:pPr/>
          </a:p>
          <a:p>
            <a:pPr/>
            <a:r>
              <a:t>[5] M. E. Verma et al., "A comprehensive guide to CAN IDS data and introduction of the ROAD dataset," PLOS ONE 19(1), e0296879, 2024. </a:t>
            </a:r>
            <a:r>
              <a:rPr u="sng">
                <a:solidFill>
                  <a:srgbClr val="0000FF"/>
                </a:solidFill>
                <a:uFill>
                  <a:solidFill>
                    <a:srgbClr val="0000FF"/>
                  </a:solidFill>
                </a:uFill>
                <a:hlinkClick r:id="rId11" invalidUrl="" action="" tgtFrame="" tooltip="" history="1" highlightClick="0" endSnd="0"/>
              </a:rPr>
              <a:t>https://journals.plos.org/plosone/article?id=10.1371/journal.pone.0296879</a:t>
            </a:r>
            <a:r>
              <a:t> . </a:t>
            </a:r>
            <a:r>
              <a:rPr u="sng">
                <a:solidFill>
                  <a:srgbClr val="0000FF"/>
                </a:solidFill>
                <a:uFill>
                  <a:solidFill>
                    <a:srgbClr val="0000FF"/>
                  </a:solidFill>
                </a:uFill>
                <a:hlinkClick r:id="rId12" invalidUrl="" action="" tgtFrame="" tooltip="" history="1" highlightClick="0" endSnd="0"/>
              </a:rPr>
              <a:t>https://zenodo.org/records/10462796</a:t>
            </a:r>
          </a:p>
          <a:p>
            <a:pPr/>
          </a:p>
          <a:p>
            <a:pPr/>
            <a:r>
              <a:t>[7] L. Korycki and B. Krawczyk, "Adversarial concept drift detection under poisoning attacks for robust data stream mining," Machine Learning 112, pp. 4013–4048, 2023 (online 2022). </a:t>
            </a:r>
            <a:r>
              <a:rPr u="sng">
                <a:solidFill>
                  <a:srgbClr val="0000FF"/>
                </a:solidFill>
                <a:uFill>
                  <a:solidFill>
                    <a:srgbClr val="0000FF"/>
                  </a:solidFill>
                </a:uFill>
                <a:hlinkClick r:id="rId13" invalidUrl="" action="" tgtFrame="" tooltip="" history="1" highlightClick="0" endSnd="0"/>
              </a:rPr>
              <a:t>https://doi.org/10.1007/s10994-022-06177-w</a:t>
            </a:r>
            <a:r>
              <a:t> . Open manuscript: </a:t>
            </a:r>
            <a:r>
              <a:rPr u="sng">
                <a:solidFill>
                  <a:srgbClr val="0000FF"/>
                </a:solidFill>
                <a:uFill>
                  <a:solidFill>
                    <a:srgbClr val="0000FF"/>
                  </a:solidFill>
                </a:uFill>
                <a:hlinkClick r:id="rId14" invalidUrl="" action="" tgtFrame="" tooltip="" history="1" highlightClick="0" endSnd="0"/>
              </a:rPr>
              <a:t>https://arxiv.org/abs/2009.09497</a:t>
            </a:r>
            <a:r>
              <a:t> . Correction: </a:t>
            </a:r>
            <a:r>
              <a:rPr u="sng">
                <a:solidFill>
                  <a:srgbClr val="0000FF"/>
                </a:solidFill>
                <a:uFill>
                  <a:solidFill>
                    <a:srgbClr val="0000FF"/>
                  </a:solidFill>
                </a:uFill>
                <a:hlinkClick r:id="rId15" invalidUrl="" action="" tgtFrame="" tooltip="" history="1" highlightClick="0" endSnd="0"/>
              </a:rPr>
              <a:t>https://doi.org/10.1007/s10994-023-06459-x</a:t>
            </a:r>
          </a:p>
          <a:p>
            <a:pPr/>
          </a:p>
          <a:p>
            <a:pPr/>
            <a:r>
              <a:t>[9] P. Sharma and J. Gillanders, "Cybersecurity and Forensics in Connected Autonomous Vehicles: A Review of the State-of-the-Art," IEEE Access 10, pp. 108979–108996, 2022. </a:t>
            </a:r>
            <a:r>
              <a:rPr u="sng">
                <a:solidFill>
                  <a:srgbClr val="0000FF"/>
                </a:solidFill>
                <a:uFill>
                  <a:solidFill>
                    <a:srgbClr val="0000FF"/>
                  </a:solidFill>
                </a:uFill>
                <a:hlinkClick r:id="rId16" invalidUrl="" action="" tgtFrame="" tooltip="" history="1" highlightClick="0" endSnd="0"/>
              </a:rPr>
              <a:t>https://doi.org/10.1109/ACCESS.2022.3213843</a:t>
            </a:r>
            <a:r>
              <a:t> . Survey of CAV cybersecurity and digital forensics, used as background motivation for evidence preservation.</a:t>
            </a:r>
          </a:p>
          <a:p>
            <a:pPr/>
          </a:p>
          <a:p>
            <a:pPr/>
            <a:r>
              <a:t>[10] L. Yang et al., "CADE: Detecting and Explaining Concept Drift Samples for Security Applications," USENIX Security, 2021, pp. 2327–2344. </a:t>
            </a:r>
            <a:r>
              <a:rPr u="sng">
                <a:solidFill>
                  <a:srgbClr val="0000FF"/>
                </a:solidFill>
                <a:uFill>
                  <a:solidFill>
                    <a:srgbClr val="0000FF"/>
                  </a:solidFill>
                </a:uFill>
                <a:hlinkClick r:id="rId17" invalidUrl="" action="" tgtFrame="" tooltip="" history="1" highlightClick="0" endSnd="0"/>
              </a:rPr>
              <a:t>https://www.usenix.org/conference/usenixsecurity21/presentation/yang-limin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Shape 312"/>
          <p:cNvSpPr/>
          <p:nvPr>
            <p:ph type="sldImg"/>
          </p:nvPr>
        </p:nvSpPr>
        <p:spPr>
          <a:prstGeom prst="rect">
            <a:avLst/>
          </a:prstGeom>
        </p:spPr>
        <p:txBody>
          <a:bodyPr/>
          <a:lstStyle/>
          <a:p>
            <a:pPr/>
          </a:p>
        </p:txBody>
      </p:sp>
      <p:sp>
        <p:nvSpPr>
          <p:cNvPr id="313" name="Shape 313"/>
          <p:cNvSpPr/>
          <p:nvPr>
            <p:ph type="body" sz="quarter" idx="1"/>
          </p:nvPr>
        </p:nvSpPr>
        <p:spPr>
          <a:prstGeom prst="rect">
            <a:avLst/>
          </a:prstGeom>
        </p:spPr>
        <p:txBody>
          <a:bodyPr/>
          <a:lstStyle/>
          <a:p>
            <a:pPr/>
            <a:r>
              <a:t>Research hypotheses, not proven novelty or performance. Prior CAN/V2X and agent-based systems exist [1,3]. Drift and poisoning work motivates comparable benign/fault/attack cases [2,7,10]. Compare CAN-only, V2X-only, timing context and reliability-aware attribution using cause macro-F1, attack recall, false alarms and abstention. Optional DYNOTEARS is an ablation against simple timing, not a mandatory source of causality.</a:t>
            </a:r>
          </a:p>
          <a:p>
            <a:pPr/>
          </a:p>
          <a:p>
            <a:pPr/>
            <a:r>
              <a:t>Authorised communication filtering is confined to a CAN bench software gateway and simulated receiver. Measure false blocks and latency. Four simulated registered clients, at most one faulty, require three eligible matching event-bound votes for corroboration; below quorum maintain local detection. Consensus does not establish physical sensor truth. [6] supports BFT background, not a claimed implementation equivalence.</a:t>
            </a:r>
          </a:p>
          <a:p>
            <a:r>
              <a:t/>
            </a:r>
          </a:p>
          <a:p>
            <a:r>
              <a:t>Reference mapping for the research hypotheses: cause-aware attribution [1,2,7,10]; trust-aware conflict handling [1,3]; bounded filtering and fleet corroboration [3,6]. These are motivating comparisons and questions to evaluate, not statements that each cited paper lacks every listed mechanism. [6] provides BFT theory background only; the proposed four-client event-vote experiment does not automatically inherit its security proofs.</a:t>
            </a:r>
          </a:p>
          <a:p>
            <a:r>
              <a:t>[1] https://doi.org/10.1007/s12083-026-02214-w</a:t>
            </a:r>
          </a:p>
          <a:p>
            <a:r>
              <a:t>[2] https://arxiv.org/abs/2502.14094</a:t>
            </a:r>
          </a:p>
          <a:p>
            <a:r>
              <a:t>[3] https://doi.org/10.34385/proc.97.w4-3-6</a:t>
            </a:r>
          </a:p>
          <a:p>
            <a:r>
              <a:t>[6] https://eprint.iacr.org/2022/1433</a:t>
            </a:r>
          </a:p>
          <a:p>
            <a:r>
              <a:t>[7] https://doi.org/10.1007/s10994-022-06177-w</a:t>
            </a:r>
          </a:p>
          <a:p>
            <a:r>
              <a:t>[10] https://www.usenix.org/conference/usenixsecurity21/presentation/yang-limin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1" name="Shape 331"/>
          <p:cNvSpPr/>
          <p:nvPr>
            <p:ph type="sldImg"/>
          </p:nvPr>
        </p:nvSpPr>
        <p:spPr>
          <a:prstGeom prst="rect">
            <a:avLst/>
          </a:prstGeom>
        </p:spPr>
        <p:txBody>
          <a:bodyPr/>
          <a:lstStyle/>
          <a:p>
            <a:pPr/>
          </a:p>
        </p:txBody>
      </p:sp>
      <p:sp>
        <p:nvSpPr>
          <p:cNvPr id="332" name="Shape 332"/>
          <p:cNvSpPr/>
          <p:nvPr>
            <p:ph type="body" sz="quarter" idx="1"/>
          </p:nvPr>
        </p:nvSpPr>
        <p:spPr>
          <a:prstGeom prst="rect">
            <a:avLst/>
          </a:prstGeom>
        </p:spPr>
        <p:txBody>
          <a:bodyPr/>
          <a:lstStyle/>
          <a:p>
            <a:r>
              <a:t>Image supplied by the user: Smart Transportation Security Grid.png. These nine panels illustrate possible application scenarios. They do not show implemented features, measured results or demonstrated real-vehicle accident prevention. The project scope and technical boundaries remain defined by the existing scope slides. Embedded image labels describe aspirations; lab filtering and analyst review do not guarantee safety or attribution.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Shape 342"/>
          <p:cNvSpPr/>
          <p:nvPr>
            <p:ph type="sldImg"/>
          </p:nvPr>
        </p:nvSpPr>
        <p:spPr>
          <a:prstGeom prst="rect">
            <a:avLst/>
          </a:prstGeom>
        </p:spPr>
        <p:txBody>
          <a:bodyPr/>
          <a:lstStyle/>
          <a:p>
            <a:pPr/>
          </a:p>
        </p:txBody>
      </p:sp>
      <p:sp>
        <p:nvSpPr>
          <p:cNvPr id="343" name="Shape 343"/>
          <p:cNvSpPr/>
          <p:nvPr>
            <p:ph type="body" sz="quarter" idx="1"/>
          </p:nvPr>
        </p:nvSpPr>
        <p:spPr>
          <a:prstGeom prst="rect">
            <a:avLst/>
          </a:prstGeom>
        </p:spPr>
        <p:txBody>
          <a:bodyPr/>
          <a:lstStyle/>
          <a:p>
            <a:pPr/>
            <a:r>
              <a:t>Primary incident source: NHTSA, 30 September 2024, consent order after Cruise failed to fully report details of the 2 October 2023 pedestrian crash. NHTSA identified omitted post-crash details using video supplied by Cruise. This source does not establish deletion, alteration or cryptographic compromise of raw vehicle logs. Use only as motivation for complete and independently examinable incident histories. </a:t>
            </a:r>
            <a:r>
              <a:rPr u="sng">
                <a:solidFill>
                  <a:srgbClr val="0000FF"/>
                </a:solidFill>
                <a:uFill>
                  <a:solidFill>
                    <a:srgbClr val="0000FF"/>
                  </a:solidFill>
                </a:uFill>
                <a:hlinkClick r:id="rId3" invalidUrl="" action="" tgtFrame="" tooltip="" history="1" highlightClick="0" endSnd="0"/>
              </a:rPr>
              <a:t>https://www.nhtsa.gov/press-releases/consent-order-cruise-crash-reporting</a:t>
            </a:r>
          </a:p>
          <a:p>
            <a:pPr/>
          </a:p>
          <a:p>
            <a:pPr/>
            <a:r>
              <a:t>Prior research retained from existing references: Nitro [4] </a:t>
            </a:r>
            <a:r>
              <a:rPr u="sng">
                <a:solidFill>
                  <a:srgbClr val="0000FF"/>
                </a:solidFill>
                <a:uFill>
                  <a:solidFill>
                    <a:srgbClr val="0000FF"/>
                  </a:solidFill>
                </a:uFill>
                <a:hlinkClick r:id="rId4" invalidUrl="" action="" tgtFrame="" tooltip="" history="1" highlightClick="0" endSnd="0"/>
              </a:rPr>
              <a:t>https://doi.org/10.1145/3719027.3765024</a:t>
            </a:r>
            <a:r>
              <a:t> ; Accountability of Things [8] </a:t>
            </a:r>
            <a:r>
              <a:rPr u="sng">
                <a:solidFill>
                  <a:srgbClr val="0000FF"/>
                </a:solidFill>
                <a:uFill>
                  <a:solidFill>
                    <a:srgbClr val="0000FF"/>
                  </a:solidFill>
                </a:uFill>
                <a:hlinkClick r:id="rId5" invalidUrl="" action="" tgtFrame="" tooltip="" history="1" highlightClick="0" endSnd="0"/>
              </a:rPr>
              <a:t>https://arxiv.org/abs/2308.05557</a:t>
            </a:r>
            <a:r>
              <a:t> (preprint); CAV forensic review [9] </a:t>
            </a:r>
            <a:r>
              <a:rPr u="sng">
                <a:solidFill>
                  <a:srgbClr val="0000FF"/>
                </a:solidFill>
                <a:uFill>
                  <a:solidFill>
                    <a:srgbClr val="0000FF"/>
                  </a:solidFill>
                </a:uFill>
                <a:hlinkClick r:id="rId6" invalidUrl="" action="" tgtFrame="" tooltip="" history="1" highlightClick="0" endSnd="0"/>
              </a:rPr>
              <a:t>https://doi.org/10.1109/ACCESS.2022.3213843</a:t>
            </a:r>
            <a:r>
              <a:t> . Cryptographic hashes as forensic evidence background [11] </a:t>
            </a:r>
            <a:r>
              <a:rPr u="sng">
                <a:solidFill>
                  <a:srgbClr val="0000FF"/>
                </a:solidFill>
                <a:uFill>
                  <a:solidFill>
                    <a:srgbClr val="0000FF"/>
                  </a:solidFill>
                </a:uFill>
                <a:hlinkClick r:id="rId7" invalidUrl="" action="" tgtFrame="" tooltip="" history="1" highlightClick="0" endSnd="0"/>
              </a:rPr>
              <a:t>https://doi.org/10.1109/ICCES48766.2020.9138061</a:t>
            </a:r>
            <a:r>
              <a:t> .</a:t>
            </a:r>
          </a:p>
          <a:p>
            <a:pPr/>
          </a:p>
          <a:p>
            <a:pPr/>
            <a:r>
              <a:t>Proposed hypothesis: independent commitments improve identification of verified integrity conflicts, while retained copies improve recoverable event history under outages. Compare local-only, hash-chain, witnessed and independently copied variants. Collision reconstruction and insurance incident review are investigator-support applications, not legal-liability determinations. No claim of tamper-proof evidence or guaranteed forensic admissibility.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5" name="Shape 385"/>
          <p:cNvSpPr/>
          <p:nvPr>
            <p:ph type="sldImg"/>
          </p:nvPr>
        </p:nvSpPr>
        <p:spPr>
          <a:prstGeom prst="rect">
            <a:avLst/>
          </a:prstGeom>
        </p:spPr>
        <p:txBody>
          <a:bodyPr/>
          <a:lstStyle/>
          <a:p>
            <a:pPr/>
          </a:p>
        </p:txBody>
      </p:sp>
      <p:sp>
        <p:nvSpPr>
          <p:cNvPr id="386" name="Shape 386"/>
          <p:cNvSpPr/>
          <p:nvPr>
            <p:ph type="body" sz="quarter" idx="1"/>
          </p:nvPr>
        </p:nvSpPr>
        <p:spPr>
          <a:prstGeom prst="rect">
            <a:avLst/>
          </a:prstGeom>
        </p:spPr>
        <p:txBody>
          <a:bodyPr/>
          <a:lstStyle/>
          <a:p>
            <a:pPr/>
            <a:r>
              <a:t>This diagram expands the proposed GhostTrace subsystem. Capture an event record with vehicle identity, affected layer, event/sequence information, policy epoch, local verdict, confidence, model version and evidence references. Chain each record to its predecessor and sign the commitment. Persist encrypted payloads and commitments before network transmission. The durable queue retries when connectivity returns; local detection remains available. Independent registered witnesses retain signed acknowledgments of the commitment and, for selected events, encrypted payload replicas under a defined retention policy. A hash receipt alone cannot restore a deleted payload. Receipt timing documents observation, not proof of the original event time.</a:t>
            </a:r>
          </a:p>
          <a:p>
            <a:pPr/>
          </a:p>
          <a:p>
            <a:pPr/>
            <a:r>
              <a:t>The verifier checks sequence links, signatures, anchors and event/epoch matching against retained content. Available matching evidence yields a consistency assessment within its observed scope; an authenticated contradiction supports an integrity conflict. Missing receipts, payloads or network contact leave an unresolved gap, not proof of either tampering or harmless outage. Test packet loss, delayed synchronization, deletion, modification, rollback and replay separately. Compromise before any independent anchor can leave history unverifiable; security depends on key protection and an honest retained witness. Model regression probes and model-version records support a separate forgetting analysis; reduced model recall alone is not evidence of log manipulation. Verified results can be read by the AI agent and reviewed by the SOC, with no write path back to canonical verdicts.</a:t>
            </a:r>
          </a:p>
          <a:p>
            <a:pPr/>
          </a:p>
          <a:p>
            <a:pPr/>
            <a:r>
              <a:t>[8] and [4] are background alternatives for receipt-based and host-audit integrity; this diagram is our proposed design, not their architecture or a claim to have inherited their proofs.</a:t>
            </a:r>
          </a:p>
          <a:p>
            <a:pPr/>
          </a:p>
          <a:p>
            <a:pPr/>
            <a:r>
              <a:t>References</a:t>
            </a:r>
          </a:p>
          <a:p>
            <a:pPr/>
            <a:r>
              <a:t>[4] R. Zhao et al., “Rethinking Tamper-Evident Logging: A High-Performance, Co-Designed Auditing System,” ACM CCS, 2025. </a:t>
            </a:r>
            <a:r>
              <a:rPr u="sng">
                <a:solidFill>
                  <a:srgbClr val="0000FF"/>
                </a:solidFill>
                <a:uFill>
                  <a:solidFill>
                    <a:srgbClr val="0000FF"/>
                  </a:solidFill>
                </a:uFill>
                <a:hlinkClick r:id="rId3" invalidUrl="" action="" tgtFrame="" tooltip="" history="1" highlightClick="0" endSnd="0"/>
              </a:rPr>
              <a:t>https://doi.org/10.1145/3719027.3765024</a:t>
            </a:r>
            <a:r>
              <a:t> Open author manuscript: </a:t>
            </a:r>
            <a:r>
              <a:rPr u="sng">
                <a:solidFill>
                  <a:srgbClr val="0000FF"/>
                </a:solidFill>
                <a:uFill>
                  <a:solidFill>
                    <a:srgbClr val="0000FF"/>
                  </a:solidFill>
                </a:uFill>
                <a:hlinkClick r:id="rId4" invalidUrl="" action="" tgtFrame="" tooltip="" history="1" highlightClick="0" endSnd="0"/>
              </a:rPr>
              <a:t>https://arxiv.org/abs/2509.03821</a:t>
            </a:r>
          </a:p>
          <a:p>
            <a:pPr/>
          </a:p>
          <a:p>
            <a:pPr/>
            <a:r>
              <a:t>[8] D. Koisser and A.-R. Sadeghi, “Accountability of Things: Large-Scale Tamper-Evident Logging for Smart Devices,” arXiv preprint, 2023. </a:t>
            </a:r>
            <a:r>
              <a:rPr u="sng">
                <a:solidFill>
                  <a:srgbClr val="0000FF"/>
                </a:solidFill>
                <a:uFill>
                  <a:solidFill>
                    <a:srgbClr val="0000FF"/>
                  </a:solidFill>
                </a:uFill>
                <a:hlinkClick r:id="rId5" invalidUrl="" action="" tgtFrame="" tooltip="" history="1" highlightClick="0" endSnd="0"/>
              </a:rPr>
              <a:t>https://arxiv.org/abs/2308.05557</a:t>
            </a:r>
          </a:p>
          <a:p>
            <a:pPr/>
          </a:p>
          <a:p>
            <a:pPr/>
            <a:r>
              <a:t>[9] P. Sharma and J. Gillanders, "Cybersecurity and Forensics in Connected Autonomous Vehicles: A Review of the State-of-the-Art," IEEE Access 10, pp. 108979–108996, 2022. </a:t>
            </a:r>
            <a:r>
              <a:rPr u="sng">
                <a:solidFill>
                  <a:srgbClr val="0000FF"/>
                </a:solidFill>
                <a:uFill>
                  <a:solidFill>
                    <a:srgbClr val="0000FF"/>
                  </a:solidFill>
                </a:uFill>
                <a:hlinkClick r:id="rId6" invalidUrl="" action="" tgtFrame="" tooltip="" history="1" highlightClick="0" endSnd="0"/>
              </a:rPr>
              <a:t>https://doi.org/10.1109/ACCESS.2022.3213843</a:t>
            </a:r>
            <a:r>
              <a:t> . Survey of CAV cybersecurity and digital forensics, used as background motivation for evidence preservation.</a:t>
            </a:r>
          </a:p>
          <a:p>
            <a:pPr/>
          </a:p>
          <a:p>
            <a:pPr/>
            <a:r>
              <a:t>[11] P. K.C., R. Soman and P. Honnavalli, "Validity of Forensic Evidence using Hash Function," IEEE ICCES, pp. 823–826, 2020. </a:t>
            </a:r>
            <a:r>
              <a:rPr u="sng">
                <a:solidFill>
                  <a:srgbClr val="0000FF"/>
                </a:solidFill>
                <a:uFill>
                  <a:solidFill>
                    <a:srgbClr val="0000FF"/>
                  </a:solidFill>
                </a:uFill>
                <a:hlinkClick r:id="rId7" invalidUrl="" action="" tgtFrame="" tooltip="" history="1" highlightClick="0" endSnd="0"/>
              </a:rPr>
              <a:t>https://doi.org/10.1109/ICCES48766.2020.9138061</a:t>
            </a:r>
            <a:r>
              <a:t> . Listed by PES C-ISFCR: </a:t>
            </a:r>
            <a:r>
              <a:rPr u="sng">
                <a:solidFill>
                  <a:srgbClr val="0000FF"/>
                </a:solidFill>
                <a:uFill>
                  <a:solidFill>
                    <a:srgbClr val="0000FF"/>
                  </a:solidFill>
                </a:uFill>
                <a:hlinkClick r:id="rId8" invalidUrl="" action="" tgtFrame="" tooltip="" history="1" highlightClick="0" endSnd="0"/>
              </a:rPr>
              <a:t>https://www.isfcr.pes.edu/research</a:t>
            </a:r>
            <a:r>
              <a:t> . Bibliography and abstract are background evidence. Full methods were not accessible, so this paper is not treated as a reproduced baseline or evidence of a specific missing capability.</a:t>
            </a:r>
          </a:p>
          <a:p>
            <a:pPr/>
          </a:p>
          <a:p>
            <a:pPr/>
            <a:r>
              <a:t>GhostTrace integrity and availability remain distinct. A signed witness receipt anchors a commitment but cannot reconstruct a deleted payload. Recoverability requires a separately retained copy or another available source. Cryptographic conflict can be verified only when the relevant keys, commitments and records are available. Missing receipts remain unresolved, not automatically tampering. Separate model-version/forgetting effects from log alteration. Witness receipts must bind signer identity, event, sequence and epoch. The investigator consumes deterministic verification outcomes. [4,8,9,11].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4" name="Shape 404"/>
          <p:cNvSpPr/>
          <p:nvPr>
            <p:ph type="sldImg"/>
          </p:nvPr>
        </p:nvSpPr>
        <p:spPr>
          <a:prstGeom prst="rect">
            <a:avLst/>
          </a:prstGeom>
        </p:spPr>
        <p:txBody>
          <a:bodyPr/>
          <a:lstStyle/>
          <a:p>
            <a:pPr/>
          </a:p>
        </p:txBody>
      </p:sp>
      <p:sp>
        <p:nvSpPr>
          <p:cNvPr id="405" name="Shape 405"/>
          <p:cNvSpPr/>
          <p:nvPr>
            <p:ph type="body" sz="quarter" idx="1"/>
          </p:nvPr>
        </p:nvSpPr>
        <p:spPr>
          <a:prstGeom prst="rect">
            <a:avLst/>
          </a:prstGeom>
        </p:spPr>
        <p:txBody>
          <a:bodyPr/>
          <a:lstStyle/>
          <a:p>
            <a:pPr/>
            <a:r>
              <a:t>Planned GhostTrace scope: append-only hash-linked evidence records, versioned signing keys and checkpoints, independently signed witness receipts, local durable buffering with retry, optional separately retained encrypted copies, and explicit verification status. These mechanisms provide tamper evidence under stated identity, key and anchor assumptions, not tamper-proof storage. Existing laptops host four simulated witnesses; independent processes are a laboratory approximation and do not prove real-world administrative independence.</a:t>
            </a:r>
          </a:p>
          <a:p>
            <a:pPr/>
          </a:p>
          <a:p>
            <a:pPr/>
            <a:r>
              <a:t>Separate failures: delayed/missing receipt, altered record, unavailable retained copy, stale model version and ordinary forgetting. Enforce receipt signer/event/sequence/epoch binding and replay checks. Measure storage and verification time. Demonstrate recovery only when independent copies survive.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3" name="Shape 413"/>
          <p:cNvSpPr/>
          <p:nvPr>
            <p:ph type="sldImg"/>
          </p:nvPr>
        </p:nvSpPr>
        <p:spPr>
          <a:prstGeom prst="rect">
            <a:avLst/>
          </a:prstGeom>
        </p:spPr>
        <p:txBody>
          <a:bodyPr/>
          <a:lstStyle/>
          <a:p>
            <a:pPr/>
          </a:p>
        </p:txBody>
      </p:sp>
      <p:sp>
        <p:nvSpPr>
          <p:cNvPr id="414" name="Shape 414"/>
          <p:cNvSpPr/>
          <p:nvPr>
            <p:ph type="body" sz="quarter" idx="1"/>
          </p:nvPr>
        </p:nvSpPr>
        <p:spPr>
          <a:prstGeom prst="rect">
            <a:avLst/>
          </a:prstGeom>
        </p:spPr>
        <p:txBody>
          <a:bodyPr/>
          <a:lstStyle/>
          <a:p>
            <a:pPr/>
            <a:r>
              <a:t>All experiments and metrics are planned. Generate cause-labelled records and integrity interventions: modification, selective deletion, rollback, replay, forged receipt, mismatched event/epoch and independent outage controls. Test genuine model-version/forgetting effects separately from evidence tampering. Use held-out experiment runs and record exact intervention ground truth. Baselines: local unanchored records; local hash chain; hash chain with independent signed receipts; receipts plus separately retained encrypted payload copies.</a:t>
            </a:r>
          </a:p>
          <a:p>
            <a:pPr/>
          </a:p>
          <a:p>
            <a:pPr/>
            <a:r>
              <a:t>Measure tamper recall where ground truth is a verifiable integrity conflict, outage-related false tamper allegations, unresolved/missing-evidence rate, recoverable-event fraction, storage cost and verification/retrieval latency. Recovery fraction must specify the denominator and copy availability. Collision and insurance case reconstruction assess timeline completeness and supported claims; the system does not establish liability or legal admissibility. [4,8,9,11].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7" name="Shape 437"/>
          <p:cNvSpPr/>
          <p:nvPr>
            <p:ph type="sldImg"/>
          </p:nvPr>
        </p:nvSpPr>
        <p:spPr>
          <a:prstGeom prst="rect">
            <a:avLst/>
          </a:prstGeom>
        </p:spPr>
        <p:txBody>
          <a:bodyPr/>
          <a:lstStyle/>
          <a:p>
            <a:pPr/>
          </a:p>
        </p:txBody>
      </p:sp>
      <p:sp>
        <p:nvSpPr>
          <p:cNvPr id="438" name="Shape 438"/>
          <p:cNvSpPr/>
          <p:nvPr>
            <p:ph type="body" sz="quarter" idx="1"/>
          </p:nvPr>
        </p:nvSpPr>
        <p:spPr>
          <a:prstGeom prst="rect">
            <a:avLst/>
          </a:prstGeom>
        </p:spPr>
        <p:txBody>
          <a:bodyPr/>
          <a:lstStyle/>
          <a:p>
            <a:pPr/>
            <a:r>
              <a:t>This is more than a summarizer: the agent chooses a bounded sequence of evidence queries, gathers related records across vehicles and compares possible causes. Verification tools check receipts and signatures before returning usable evidence. The loop stops at a query limit or when the report is sufficiently supported. Treat retrieved text as untrusted input. Read-only credentials, allowlisted tools and separate report storage enforce the intended boundary. The agent cannot alter canonical verdicts, thresholds, evidence logs or vehicle controls. A human reviews the timeline, citations and unresolved causes. Record tool calls and the agent model version. Test write isolation and prompt injection. Compare evidence grounding and investigation time against a fixed report template. These are proposed controls to implement and verify.</a:t>
            </a:r>
          </a:p>
          <a:p>
            <a:pPr/>
          </a:p>
          <a:p>
            <a:pPr/>
            <a:r>
              <a:t>References</a:t>
            </a:r>
          </a:p>
          <a:p>
            <a:pPr/>
            <a:r>
              <a:t>[3] M. Golam, J.-M. Lee and D.-S. Kim, "Language Agent Model-Driven Distributed Consensus for Advanced IoV Threat Response Management," APCC, 2025. </a:t>
            </a:r>
            <a:r>
              <a:rPr u="sng">
                <a:solidFill>
                  <a:srgbClr val="0000FF"/>
                </a:solidFill>
                <a:uFill>
                  <a:solidFill>
                    <a:srgbClr val="0000FF"/>
                  </a:solidFill>
                </a:uFill>
                <a:hlinkClick r:id="rId3" invalidUrl="" action="" tgtFrame="" tooltip="" history="1" highlightClick="0" endSnd="0"/>
              </a:rPr>
              <a:t>https://doi.org/10.34385/proc.97.w4-3-6</a:t>
            </a:r>
            <a:r>
              <a:t> . Figure 1 and Section II-A describe CAN, V2X and GPS input fusion. </a:t>
            </a:r>
            <a:r>
              <a:rPr u="sng">
                <a:solidFill>
                  <a:srgbClr val="0000FF"/>
                </a:solidFill>
                <a:uFill>
                  <a:solidFill>
                    <a:srgbClr val="0000FF"/>
                  </a:solidFill>
                </a:uFill>
                <a:hlinkClick r:id="rId4" invalidUrl="" action="" tgtFrame="" tooltip="" history="1" highlightClick="0" endSnd="0"/>
              </a:rPr>
              <a:t>https://www.ieice.org/publications/proceedings/bin/pdf_link.php?fname=W4-3-6.pdf&amp;iconf=APCC&amp;lang=E&amp;number=W4-3-6&amp;vol=97&amp;year=2025</a:t>
            </a:r>
          </a:p>
          <a:p>
            <a:pPr/>
          </a:p>
          <a:p>
            <a:pPr/>
            <a:r>
              <a:t>[10] L. Yang et al., "CADE: Detecting and Explaining Concept Drift Samples for Security Applications," USENIX Security, 2021, pp. 2327–2344. </a:t>
            </a:r>
            <a:r>
              <a:rPr u="sng">
                <a:solidFill>
                  <a:srgbClr val="0000FF"/>
                </a:solidFill>
                <a:uFill>
                  <a:solidFill>
                    <a:srgbClr val="0000FF"/>
                  </a:solidFill>
                </a:uFill>
                <a:hlinkClick r:id="rId5" invalidUrl="" action="" tgtFrame="" tooltip="" history="1" highlightClick="0" endSnd="0"/>
              </a:rPr>
              <a:t>https://www.usenix.org/conference/usenixsecurity21/presentation/yang-limin</a:t>
            </a:r>
          </a:p>
          <a:p>
            <a:pPr/>
          </a:p>
          <a:p>
            <a:pPr/>
            <a:r>
              <a:t>Input is deterministically verified GhostTrace evidence. The agent selects from bounded read-only queries and produces timeline summaries, alternative causes, citations and explicit uncertainty for human review. It cannot modify canonical logs, verdicts, signatures, quorum or policies. Deterministic verifier code performs cryptographic checks. The agent has no vehicle-control tools. Planned hypothesis: bounded evidence queries improve supported investigative claims over a fixed template. Evaluate supported-claim rate, citation correctness, report time and behaviour under API unavailability. Preserve a fixed-template fallback.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7" name="Shape 457"/>
          <p:cNvSpPr/>
          <p:nvPr>
            <p:ph type="sldImg"/>
          </p:nvPr>
        </p:nvSpPr>
        <p:spPr>
          <a:prstGeom prst="rect">
            <a:avLst/>
          </a:prstGeom>
        </p:spPr>
        <p:txBody>
          <a:bodyPr/>
          <a:lstStyle/>
          <a:p>
            <a:pPr/>
          </a:p>
        </p:txBody>
      </p:sp>
      <p:sp>
        <p:nvSpPr>
          <p:cNvPr id="458" name="Shape 458"/>
          <p:cNvSpPr/>
          <p:nvPr>
            <p:ph type="body" sz="quarter" idx="1"/>
          </p:nvPr>
        </p:nvSpPr>
        <p:spPr>
          <a:prstGeom prst="rect">
            <a:avLst/>
          </a:prstGeom>
        </p:spPr>
        <p:txBody>
          <a:bodyPr/>
          <a:lstStyle/>
          <a:p>
            <a:pPr/>
            <a:r>
              <a:t>Planned dataset construction and evaluation. No benchmark results or completed collection are claimed.</a:t>
            </a:r>
          </a:p>
          <a:p>
            <a:pPr/>
          </a:p>
          <a:p>
            <a:pPr/>
            <a:r>
              <a:t>PUBLIC SOURCES</a:t>
            </a:r>
          </a:p>
          <a:p>
            <a:pPr/>
            <a:r>
              <a:t>ROAD [5]: Verma et al. (2024), A comprehensive guide to CAN IDS data and introduction of the ROAD dataset, PLOS ONE 19(1), e0296879. Real vehicle CAN recordings include normal activity, real attack captures and simulated masquerade variants. Retain the supplied provenance and attack labels. CAN-only baseline. Article: </a:t>
            </a:r>
            <a:r>
              <a:rPr u="sng">
                <a:solidFill>
                  <a:srgbClr val="0000FF"/>
                </a:solidFill>
                <a:uFill>
                  <a:solidFill>
                    <a:srgbClr val="0000FF"/>
                  </a:solidFill>
                </a:uFill>
                <a:hlinkClick r:id="rId3" invalidUrl="" action="" tgtFrame="" tooltip="" history="1" highlightClick="0" endSnd="0"/>
              </a:rPr>
              <a:t>https://doi.org/10.1371/journal.pone.0296879</a:t>
            </a:r>
            <a:r>
              <a:t> Dataset: </a:t>
            </a:r>
            <a:r>
              <a:rPr u="sng">
                <a:solidFill>
                  <a:srgbClr val="0000FF"/>
                </a:solidFill>
                <a:uFill>
                  <a:solidFill>
                    <a:srgbClr val="0000FF"/>
                  </a:solidFill>
                </a:uFill>
                <a:hlinkClick r:id="rId4" invalidUrl="" action="" tgtFrame="" tooltip="" history="1" highlightClick="0" endSnd="0"/>
              </a:rPr>
              <a:t>https://zenodo.org/records/10462796</a:t>
            </a:r>
          </a:p>
          <a:p>
            <a:pPr/>
          </a:p>
          <a:p>
            <a:pPr/>
            <a:r>
              <a:t>CICIoV2024: Canadian Institute for Cybersecurity, University of New Brunswick (2024). The official source describes CAN spoofing and DoS experiments against an immobilized 2019 Ford vehicle. Use as an additional CAN-only benchmark. Official source: </a:t>
            </a:r>
            <a:r>
              <a:rPr u="sng">
                <a:solidFill>
                  <a:srgbClr val="0000FF"/>
                </a:solidFill>
                <a:uFill>
                  <a:solidFill>
                    <a:srgbClr val="0000FF"/>
                  </a:solidFill>
                </a:uFill>
                <a:hlinkClick r:id="rId5" invalidUrl="" action="" tgtFrame="" tooltip="" history="1" highlightClick="0" endSnd="0"/>
              </a:rPr>
              <a:t>https://www.unb.ca/cic/datasets/iov-dataset-2024.html</a:t>
            </a:r>
          </a:p>
          <a:p>
            <a:pPr/>
          </a:p>
          <a:p>
            <a:pPr/>
            <a:r>
              <a:t>VeReMi NextGen: Hermann, Remmers, Eisermann, Erb and Kargl (2026), VeReMi NextGen: A Dataset for Evaluating Misbehavior Detection Systems in VANETs. Simulated labelled V2X, urban/highway scenarios and 15 attack types. It contains no synchronized real CAN stream. Use the published train/validation/test partitions and selected subsets initially. The full public archive is approximately 36.2 GB. Documentation: </a:t>
            </a:r>
            <a:r>
              <a:rPr u="sng">
                <a:solidFill>
                  <a:srgbClr val="0000FF"/>
                </a:solidFill>
                <a:uFill>
                  <a:solidFill>
                    <a:srgbClr val="0000FF"/>
                  </a:solidFill>
                </a:uFill>
                <a:hlinkClick r:id="rId6" invalidUrl="" action="" tgtFrame="" tooltip="" history="1" highlightClick="0" endSnd="0"/>
              </a:rPr>
              <a:t>https://veremi-dataset.github.io/veremi-nextgen</a:t>
            </a:r>
            <a:r>
              <a:t> Dataset: </a:t>
            </a:r>
            <a:r>
              <a:rPr u="sng">
                <a:solidFill>
                  <a:srgbClr val="0000FF"/>
                </a:solidFill>
                <a:uFill>
                  <a:solidFill>
                    <a:srgbClr val="0000FF"/>
                  </a:solidFill>
                </a:uFill>
                <a:hlinkClick r:id="rId7" invalidUrl="" action="" tgtFrame="" tooltip="" history="1" highlightClick="0" endSnd="0"/>
              </a:rPr>
              <a:t>https://zenodo.org/records/19665762</a:t>
            </a:r>
            <a:r>
              <a:t> Generator: </a:t>
            </a:r>
            <a:r>
              <a:rPr u="sng">
                <a:solidFill>
                  <a:srgbClr val="0000FF"/>
                </a:solidFill>
                <a:uFill>
                  <a:solidFill>
                    <a:srgbClr val="0000FF"/>
                  </a:solidFill>
                </a:uFill>
                <a:hlinkClick r:id="rId8" invalidUrl="" action="" tgtFrame="" tooltip="" history="1" highlightClick="0" endSnd="0"/>
              </a:rPr>
              <a:t>https://github.com/VeReMi-dataset/VeReMi-NextGen</a:t>
            </a:r>
          </a:p>
          <a:p>
            <a:pPr/>
          </a:p>
          <a:p>
            <a:pPr/>
            <a:r>
              <a:t>GENERATED RESEARCH DATA</a:t>
            </a:r>
          </a:p>
          <a:p>
            <a:pPr/>
            <a:r>
              <a:t>Design synchronized CAN/V2X scenarios with shared event IDs, event clocks and generator-assigned cause labels. Include normal operation, benign faults/configuration changes, CAN attacks, V2X spoofing, joint attacks, clock skew and outages. Do not randomly pair independent public CAN and V2X records and call them synchronized observations. If ROAD replay informs a scenario, preserve that provenance and explicitly document the simulated companion channel.</a:t>
            </a:r>
          </a:p>
          <a:p>
            <a:pPr/>
          </a:p>
          <a:p>
            <a:pPr/>
            <a:r>
              <a:t>ESP32 + MCP2515 bench traces record physical CAN frames and local capture performance on a controlled bus. They do not reproduce a production vehicle ECU network. GhostTrace experiments assign known integrity states for modification, deletion, replay/rollback, delayed delivery and outage cases. Genuine connectivity loss and model-version/forgetting probes remain separate controls. A receipt alone cannot reconstruct a deleted payload.</a:t>
            </a:r>
          </a:p>
          <a:p>
            <a:pPr/>
          </a:p>
          <a:p>
            <a:pPr/>
            <a:r>
              <a:t>EVALUATION PLAN</a:t>
            </a:r>
          </a:p>
          <a:p>
            <a:pPr/>
            <a:r>
              <a:t>Use scenario/run-separated or chronological splits and prevent overlap between training and evaluation. Evaluate CAN-only, V2X-only, simple fusion, independent detectors with timing context, and reliability-aware attribution on matched cases. Measure attack recall, false-positive rate and macro-F1 for known causes, separately from abstention/insufficient-evidence rate. Timing modifies confidence rather than creating a verdict alone.</a:t>
            </a:r>
          </a:p>
          <a:p>
            <a:pPr/>
          </a:p>
          <a:p>
            <a:pPr/>
            <a:r>
              <a:t>Vary clock skew, delay, missing inputs and conflicting observations. Report attribution quality, end-to-end latency and laptop/ESP32 memory separately. Compare local evidence, fleet corroboration and independent witnessing using false corroboration, tamper recall, evidence recovery and outage-related false alarms. Compare verified fixed-template reports with read-only AI reports using supported-claim rate, correct evidence citations and report time. All metrics are planned measurements, with no invented percentages.</a:t>
            </a:r>
          </a:p>
          <a:p>
            <a:pPr/>
          </a:p>
          <a:p>
            <a:pPr/>
            <a:r>
              <a:t>Existing background sources retained:</a:t>
            </a:r>
          </a:p>
          <a:p>
            <a:pPr/>
            <a:r>
              <a:t>[1] Z. Shen et al., “Securing autonomous vehicles: a dual-domain intrusion detection system for intra-vehicle and external networks,” Peer-to-Peer Networking and Applications, 2026. </a:t>
            </a:r>
            <a:r>
              <a:rPr u="sng">
                <a:solidFill>
                  <a:srgbClr val="0000FF"/>
                </a:solidFill>
                <a:uFill>
                  <a:solidFill>
                    <a:srgbClr val="0000FF"/>
                  </a:solidFill>
                </a:uFill>
                <a:hlinkClick r:id="rId9" invalidUrl="" action="" tgtFrame="" tooltip="" history="1" highlightClick="0" endSnd="0"/>
              </a:rPr>
              <a:t>https://doi.org/10.1007/s12083-026-02214-w</a:t>
            </a:r>
            <a:r>
              <a:t> Published 25 March 2026, volume 19, article 67. Primary publisher: </a:t>
            </a:r>
            <a:r>
              <a:rPr u="sng">
                <a:solidFill>
                  <a:srgbClr val="0000FF"/>
                </a:solidFill>
                <a:uFill>
                  <a:solidFill>
                    <a:srgbClr val="0000FF"/>
                  </a:solidFill>
                </a:uFill>
                <a:hlinkClick r:id="rId10" invalidUrl="" action="" tgtFrame="" tooltip="" history="1" highlightClick="0" endSnd="0"/>
              </a:rPr>
              <a:t>https://link.springer.com/article/10.1007/s12083-026-02214-w</a:t>
            </a:r>
          </a:p>
          <a:p>
            <a:pPr/>
          </a:p>
          <a:p>
            <a:pPr/>
            <a:r>
              <a:t>[2] S. Fuhrman, O. Gungor and T. Rosing, "CND-IDS: Continual Novelty Detection for Intrusion Detection Systems," ACM/IEEE DAC, 2025. </a:t>
            </a:r>
            <a:r>
              <a:rPr u="sng">
                <a:solidFill>
                  <a:srgbClr val="0000FF"/>
                </a:solidFill>
                <a:uFill>
                  <a:solidFill>
                    <a:srgbClr val="0000FF"/>
                  </a:solidFill>
                </a:uFill>
                <a:hlinkClick r:id="rId11" invalidUrl="" action="" tgtFrame="" tooltip="" history="1" highlightClick="0" endSnd="0"/>
              </a:rPr>
              <a:t>https://doi.org/10.1109/DAC63849.2025.11132541</a:t>
            </a:r>
            <a:r>
              <a:t> . Open author version: </a:t>
            </a:r>
            <a:r>
              <a:rPr u="sng">
                <a:solidFill>
                  <a:srgbClr val="0000FF"/>
                </a:solidFill>
                <a:uFill>
                  <a:solidFill>
                    <a:srgbClr val="0000FF"/>
                  </a:solidFill>
                </a:uFill>
                <a:hlinkClick r:id="rId12" invalidUrl="" action="" tgtFrame="" tooltip="" history="1" highlightClick="0" endSnd="0"/>
              </a:rPr>
              <a:t>https://arxiv.org/abs/2502.14094</a:t>
            </a:r>
          </a:p>
          <a:p>
            <a:pPr/>
          </a:p>
          <a:p>
            <a:pPr/>
            <a:r>
              <a:t>[4] R. Zhao et al., “Rethinking Tamper-Evident Logging: A High-Performance, Co-Designed Auditing System,” ACM CCS, 2025. </a:t>
            </a:r>
            <a:r>
              <a:rPr u="sng">
                <a:solidFill>
                  <a:srgbClr val="0000FF"/>
                </a:solidFill>
                <a:uFill>
                  <a:solidFill>
                    <a:srgbClr val="0000FF"/>
                  </a:solidFill>
                </a:uFill>
                <a:hlinkClick r:id="rId13" invalidUrl="" action="" tgtFrame="" tooltip="" history="1" highlightClick="0" endSnd="0"/>
              </a:rPr>
              <a:t>https://doi.org/10.1145/3719027.3765024</a:t>
            </a:r>
            <a:r>
              <a:t> Open author manuscript: </a:t>
            </a:r>
            <a:r>
              <a:rPr u="sng">
                <a:solidFill>
                  <a:srgbClr val="0000FF"/>
                </a:solidFill>
                <a:uFill>
                  <a:solidFill>
                    <a:srgbClr val="0000FF"/>
                  </a:solidFill>
                </a:uFill>
                <a:hlinkClick r:id="rId14" invalidUrl="" action="" tgtFrame="" tooltip="" history="1" highlightClick="0" endSnd="0"/>
              </a:rPr>
              <a:t>https://arxiv.org/abs/2509.03821</a:t>
            </a:r>
          </a:p>
          <a:p>
            <a:pPr/>
          </a:p>
          <a:p>
            <a:pPr/>
            <a:r>
              <a:t>[5] M. E. Verma et al., "A comprehensive guide to CAN IDS data and introduction of the ROAD dataset," PLOS ONE 19(1), e0296879, 2024. </a:t>
            </a:r>
            <a:r>
              <a:rPr u="sng">
                <a:solidFill>
                  <a:srgbClr val="0000FF"/>
                </a:solidFill>
                <a:uFill>
                  <a:solidFill>
                    <a:srgbClr val="0000FF"/>
                  </a:solidFill>
                </a:uFill>
                <a:hlinkClick r:id="rId15" invalidUrl="" action="" tgtFrame="" tooltip="" history="1" highlightClick="0" endSnd="0"/>
              </a:rPr>
              <a:t>https://journals.plos.org/plosone/article?id=10.1371/journal.pone.0296879</a:t>
            </a:r>
            <a:r>
              <a:t> . </a:t>
            </a:r>
            <a:r>
              <a:rPr u="sng">
                <a:solidFill>
                  <a:srgbClr val="0000FF"/>
                </a:solidFill>
                <a:uFill>
                  <a:solidFill>
                    <a:srgbClr val="0000FF"/>
                  </a:solidFill>
                </a:uFill>
                <a:hlinkClick r:id="rId4" invalidUrl="" action="" tgtFrame="" tooltip="" history="1" highlightClick="0" endSnd="0"/>
              </a:rPr>
              <a:t>https://zenodo.org/records/10462796</a:t>
            </a:r>
          </a:p>
          <a:p>
            <a:pPr/>
          </a:p>
          <a:p>
            <a:pPr/>
            <a:r>
              <a:t>[8] D. Koisser and A.-R. Sadeghi, “Accountability of Things: Large-Scale Tamper-Evident Logging for Smart Devices,” arXiv preprint, 2023. </a:t>
            </a:r>
            <a:r>
              <a:rPr u="sng">
                <a:solidFill>
                  <a:srgbClr val="0000FF"/>
                </a:solidFill>
                <a:uFill>
                  <a:solidFill>
                    <a:srgbClr val="0000FF"/>
                  </a:solidFill>
                </a:uFill>
                <a:hlinkClick r:id="rId16" invalidUrl="" action="" tgtFrame="" tooltip="" history="1" highlightClick="0" endSnd="0"/>
              </a:rPr>
              <a:t>https://arxiv.org/abs/2308.05557</a:t>
            </a:r>
          </a:p>
          <a:p>
            <a:pPr/>
          </a:p>
          <a:p>
            <a:pPr/>
            <a:r>
              <a:t>Restructured evaluation: public ROAD and CICIoV CAN data are separate from simulated VeReMi V2X. Do not claim public sources form synchronized joint observations. Create shared scenario IDs, clocks and cause labels; preserve replay provenance and use scenario/run-separated splits. Physical ESP32 captures are controlled CAN bench data. Dedicated GhostTrace matrix is on slide 15. Bounded filtering is an authorised laboratory demonstration only, with false-block rate and latency. Fleet experiments use four registered simulated clients, at most one faulty and three matching eligible votes; measure incorrect corroboration and fallback. Optional DYNOTEARS remains a timing-baseline ablation.</a:t>
            </a:r>
          </a:p>
          <a:p>
            <a:pPr/>
          </a:p>
          <a:p>
            <a:pPr/>
            <a:r>
              <a:t>Primary dataset sources: </a:t>
            </a:r>
            <a:r>
              <a:rPr u="sng">
                <a:solidFill>
                  <a:srgbClr val="0000FF"/>
                </a:solidFill>
                <a:uFill>
                  <a:solidFill>
                    <a:srgbClr val="0000FF"/>
                  </a:solidFill>
                </a:uFill>
                <a:hlinkClick r:id="rId3" invalidUrl="" action="" tgtFrame="" tooltip="" history="1" highlightClick="0" endSnd="0"/>
              </a:rPr>
              <a:t>https://doi.org/10.1371/journal.pone.0296879</a:t>
            </a:r>
            <a:r>
              <a:t> ; </a:t>
            </a:r>
            <a:r>
              <a:rPr u="sng">
                <a:solidFill>
                  <a:srgbClr val="0000FF"/>
                </a:solidFill>
                <a:uFill>
                  <a:solidFill>
                    <a:srgbClr val="0000FF"/>
                  </a:solidFill>
                </a:uFill>
                <a:hlinkClick r:id="rId5" invalidUrl="" action="" tgtFrame="" tooltip="" history="1" highlightClick="0" endSnd="0"/>
              </a:rPr>
              <a:t>https://www.unb.ca/cic/datasets/iov-dataset-2024.html</a:t>
            </a:r>
            <a:r>
              <a:t> ; </a:t>
            </a:r>
            <a:r>
              <a:rPr u="sng">
                <a:solidFill>
                  <a:srgbClr val="0000FF"/>
                </a:solidFill>
                <a:uFill>
                  <a:solidFill>
                    <a:srgbClr val="0000FF"/>
                  </a:solidFill>
                </a:uFill>
                <a:hlinkClick r:id="rId6" invalidUrl="" action="" tgtFrame="" tooltip="" history="1" highlightClick="0" endSnd="0"/>
              </a:rPr>
              <a:t>https://veremi-dataset.github.io/veremi-nextgen</a:t>
            </a:r>
            <a:r>
              <a:t> ; </a:t>
            </a:r>
            <a:r>
              <a:rPr u="sng">
                <a:solidFill>
                  <a:srgbClr val="0000FF"/>
                </a:solidFill>
                <a:uFill>
                  <a:solidFill>
                    <a:srgbClr val="0000FF"/>
                  </a:solidFill>
                </a:uFill>
                <a:hlinkClick r:id="rId7" invalidUrl="" action="" tgtFrame="" tooltip="" history="1" highlightClick="0" endSnd="0"/>
              </a:rPr>
              <a:t>https://zenodo.org/records/19665762</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8" name="Shape 488"/>
          <p:cNvSpPr/>
          <p:nvPr>
            <p:ph type="sldImg"/>
          </p:nvPr>
        </p:nvSpPr>
        <p:spPr>
          <a:prstGeom prst="rect">
            <a:avLst/>
          </a:prstGeom>
        </p:spPr>
        <p:txBody>
          <a:bodyPr/>
          <a:lstStyle/>
          <a:p>
            <a:pPr/>
          </a:p>
        </p:txBody>
      </p:sp>
      <p:sp>
        <p:nvSpPr>
          <p:cNvPr id="489" name="Shape 489"/>
          <p:cNvSpPr/>
          <p:nvPr>
            <p:ph type="body" sz="quarter" idx="1"/>
          </p:nvPr>
        </p:nvSpPr>
        <p:spPr>
          <a:prstGeom prst="rect">
            <a:avLst/>
          </a:prstGeom>
        </p:spPr>
        <p:txBody>
          <a:bodyPr/>
          <a:lstStyle/>
          <a:p>
            <a:pPr/>
            <a:r>
              <a:t>These are acceptance artifacts for the three phases, not completed results. Phase I ends with a documented threat model, scenario and labeling protocol, runnable independent baselines, and recorded false-alarm and attack-recall measurements on authentic CAN and scenario data. A versioned split and evaluation script must accompany the metrics. Phase II evaluates timing context on cause accuracy, runs authenticated-vote and GhostTrace fault/outage checks, and demonstrates cited AI investigation under tested read-only permissions. Record failures as well as successes. Phase III releases the experimental drift and audit-tampering datasets with provenance and splits, reports comparative metrics and edge workload, and supplies rerunnable code, a technical report and a submission-ready manuscript. Dataset release remains subject to the source data’s rights and licensing. Paper preparation is a deliverable; publication acceptance is not guaranteed. The current status remains proposal and literature-based feasibility.</a:t>
            </a:r>
          </a:p>
          <a:p>
            <a:pPr/>
          </a:p>
          <a:p>
            <a:pPr/>
            <a:r>
              <a:t>References</a:t>
            </a:r>
          </a:p>
          <a:p>
            <a:pPr/>
            <a:r>
              <a:t>[2] S. Fuhrman, O. Gungor and T. Rosing, "CND-IDS: Continual Novelty Detection for Intrusion Detection Systems," ACM/IEEE DAC, 2025. </a:t>
            </a:r>
            <a:r>
              <a:rPr u="sng">
                <a:solidFill>
                  <a:srgbClr val="0000FF"/>
                </a:solidFill>
                <a:uFill>
                  <a:solidFill>
                    <a:srgbClr val="0000FF"/>
                  </a:solidFill>
                </a:uFill>
                <a:hlinkClick r:id="rId3" invalidUrl="" action="" tgtFrame="" tooltip="" history="1" highlightClick="0" endSnd="0"/>
              </a:rPr>
              <a:t>https://doi.org/10.1109/DAC63849.2025.11132541</a:t>
            </a:r>
            <a:r>
              <a:t> . Open author version: </a:t>
            </a:r>
            <a:r>
              <a:rPr u="sng">
                <a:solidFill>
                  <a:srgbClr val="0000FF"/>
                </a:solidFill>
                <a:uFill>
                  <a:solidFill>
                    <a:srgbClr val="0000FF"/>
                  </a:solidFill>
                </a:uFill>
                <a:hlinkClick r:id="rId4" invalidUrl="" action="" tgtFrame="" tooltip="" history="1" highlightClick="0" endSnd="0"/>
              </a:rPr>
              <a:t>https://arxiv.org/abs/2502.14094</a:t>
            </a:r>
          </a:p>
          <a:p>
            <a:pPr/>
          </a:p>
          <a:p>
            <a:pPr/>
            <a:r>
              <a:t>[5] M. E. Verma et al., "A comprehensive guide to CAN IDS data and introduction of the ROAD dataset," PLOS ONE 19(1), e0296879, 2024. </a:t>
            </a:r>
            <a:r>
              <a:rPr u="sng">
                <a:solidFill>
                  <a:srgbClr val="0000FF"/>
                </a:solidFill>
                <a:uFill>
                  <a:solidFill>
                    <a:srgbClr val="0000FF"/>
                  </a:solidFill>
                </a:uFill>
                <a:hlinkClick r:id="rId5" invalidUrl="" action="" tgtFrame="" tooltip="" history="1" highlightClick="0" endSnd="0"/>
              </a:rPr>
              <a:t>https://journals.plos.org/plosone/article?id=10.1371/journal.pone.0296879</a:t>
            </a:r>
            <a:r>
              <a:t> . </a:t>
            </a:r>
            <a:r>
              <a:rPr u="sng">
                <a:solidFill>
                  <a:srgbClr val="0000FF"/>
                </a:solidFill>
                <a:uFill>
                  <a:solidFill>
                    <a:srgbClr val="0000FF"/>
                  </a:solidFill>
                </a:uFill>
                <a:hlinkClick r:id="rId6" invalidUrl="" action="" tgtFrame="" tooltip="" history="1" highlightClick="0" endSnd="0"/>
              </a:rPr>
              <a:t>https://zenodo.org/records/10462796</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9" name="Shape 609"/>
          <p:cNvSpPr/>
          <p:nvPr>
            <p:ph type="sldImg"/>
          </p:nvPr>
        </p:nvSpPr>
        <p:spPr>
          <a:prstGeom prst="rect">
            <a:avLst/>
          </a:prstGeom>
        </p:spPr>
        <p:txBody>
          <a:bodyPr/>
          <a:lstStyle/>
          <a:p>
            <a:pPr/>
          </a:p>
        </p:txBody>
      </p:sp>
      <p:sp>
        <p:nvSpPr>
          <p:cNvPr id="610" name="Shape 610"/>
          <p:cNvSpPr/>
          <p:nvPr>
            <p:ph type="body" sz="quarter" idx="1"/>
          </p:nvPr>
        </p:nvSpPr>
        <p:spPr>
          <a:prstGeom prst="rect">
            <a:avLst/>
          </a:prstGeom>
        </p:spPr>
        <p:txBody>
          <a:bodyPr/>
          <a:lstStyle/>
          <a:p>
            <a:pPr/>
            <a:r>
              <a:t>The academic phase windows are a proposed planning assumption based on the supplied reference: Capstone I August–December 2026, Capstone II January–May 2027, and Capstone III August–December 2027. The draft starts planned work in October 2026; blank August and September columns do not assert completed work. June and July 2027 are outside the shown academic windows. Confirm the academic dates with the guide before treating them as commitments. Phase I targets the literature, threat model, synchronized scenario and labeling protocol, and first detector baselines. The prototype is a prerequisite for the larger cause and audit-tampering datasets and Phase III ablations. Phase III tests resilience, evidence recovery, edge workload and report quality, then packages the code, datasets and manuscript. Research updates and integration tests continue throughout. Proposed leads: Dhanush handles CAN and the dataset pipeline; Eshwar handles V2X and attribution; Shreya handles fleet quorum and GhostTrace; Amruta handles AI investigation and the SOC. All members own integration, evaluation and writing. These are planning roles and bars, not completed results. The baseline milestone at the end of Phase I is an initial version; further baseline work continues in January. Publication acceptance is not guaranteed.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4" name="Shape 634"/>
          <p:cNvSpPr/>
          <p:nvPr>
            <p:ph type="sldImg"/>
          </p:nvPr>
        </p:nvSpPr>
        <p:spPr>
          <a:prstGeom prst="rect">
            <a:avLst/>
          </a:prstGeom>
        </p:spPr>
        <p:txBody>
          <a:bodyPr/>
          <a:lstStyle/>
          <a:p>
            <a:pPr/>
          </a:p>
        </p:txBody>
      </p:sp>
      <p:sp>
        <p:nvSpPr>
          <p:cNvPr id="635" name="Shape 635"/>
          <p:cNvSpPr/>
          <p:nvPr>
            <p:ph type="body" sz="quarter" idx="1"/>
          </p:nvPr>
        </p:nvSpPr>
        <p:spPr>
          <a:prstGeom prst="rect">
            <a:avLst/>
          </a:prstGeom>
        </p:spPr>
        <p:txBody>
          <a:bodyPr/>
          <a:lstStyle/>
          <a:p>
            <a:pPr/>
            <a:r>
              <a:t>References are ordered by publication year from newest to oldest across slides 21 and 22. Papers in the same publication year retain their previous relative order. The same reference numbers are used throughout the slides and speaker notes. Detailed comparisons appear in the Related Work notes.</a:t>
            </a:r>
          </a:p>
          <a:p>
            <a:pPr/>
          </a:p>
          <a:p>
            <a:pPr/>
            <a:r>
              <a:t>References</a:t>
            </a:r>
          </a:p>
          <a:p>
            <a:pPr/>
            <a:r>
              <a:t>[1] Z. Shen et al., “Securing autonomous vehicles: a dual-domain intrusion detection system for intra-vehicle and external networks,” Peer-to-Peer Networking and Applications, 2026. </a:t>
            </a:r>
            <a:r>
              <a:rPr u="sng">
                <a:solidFill>
                  <a:srgbClr val="0000FF"/>
                </a:solidFill>
                <a:uFill>
                  <a:solidFill>
                    <a:srgbClr val="0000FF"/>
                  </a:solidFill>
                </a:uFill>
                <a:hlinkClick r:id="rId3" invalidUrl="" action="" tgtFrame="" tooltip="" history="1" highlightClick="0" endSnd="0"/>
              </a:rPr>
              <a:t>https://doi.org/10.1007/s12083-026-02214-w</a:t>
            </a:r>
            <a:r>
              <a:t> Published 25 March 2026, volume 19, article 67. Primary publisher: </a:t>
            </a:r>
            <a:r>
              <a:rPr u="sng">
                <a:solidFill>
                  <a:srgbClr val="0000FF"/>
                </a:solidFill>
                <a:uFill>
                  <a:solidFill>
                    <a:srgbClr val="0000FF"/>
                  </a:solidFill>
                </a:uFill>
                <a:hlinkClick r:id="rId4" invalidUrl="" action="" tgtFrame="" tooltip="" history="1" highlightClick="0" endSnd="0"/>
              </a:rPr>
              <a:t>https://link.springer.com/article/10.1007/s12083-026-02214-w</a:t>
            </a:r>
          </a:p>
          <a:p>
            <a:pPr/>
          </a:p>
          <a:p>
            <a:pPr/>
            <a:r>
              <a:t>[2] S. Fuhrman, O. Gungor and T. Rosing, "CND-IDS: Continual Novelty Detection for Intrusion Detection Systems," ACM/IEEE DAC, 2025. </a:t>
            </a:r>
            <a:r>
              <a:rPr u="sng">
                <a:solidFill>
                  <a:srgbClr val="0000FF"/>
                </a:solidFill>
                <a:uFill>
                  <a:solidFill>
                    <a:srgbClr val="0000FF"/>
                  </a:solidFill>
                </a:uFill>
                <a:hlinkClick r:id="rId5" invalidUrl="" action="" tgtFrame="" tooltip="" history="1" highlightClick="0" endSnd="0"/>
              </a:rPr>
              <a:t>https://doi.org/10.1109/DAC63849.2025.11132541</a:t>
            </a:r>
            <a:r>
              <a:t> . Open author version: </a:t>
            </a:r>
            <a:r>
              <a:rPr u="sng">
                <a:solidFill>
                  <a:srgbClr val="0000FF"/>
                </a:solidFill>
                <a:uFill>
                  <a:solidFill>
                    <a:srgbClr val="0000FF"/>
                  </a:solidFill>
                </a:uFill>
                <a:hlinkClick r:id="rId6" invalidUrl="" action="" tgtFrame="" tooltip="" history="1" highlightClick="0" endSnd="0"/>
              </a:rPr>
              <a:t>https://arxiv.org/abs/2502.14094</a:t>
            </a:r>
          </a:p>
          <a:p>
            <a:pPr/>
          </a:p>
          <a:p>
            <a:pPr/>
            <a:r>
              <a:t>[3] M. Golam, J.-M. Lee and D.-S. Kim, "Language Agent Model-Driven Distributed Consensus for Advanced IoV Threat Response Management," APCC, 2025. </a:t>
            </a:r>
            <a:r>
              <a:rPr u="sng">
                <a:solidFill>
                  <a:srgbClr val="0000FF"/>
                </a:solidFill>
                <a:uFill>
                  <a:solidFill>
                    <a:srgbClr val="0000FF"/>
                  </a:solidFill>
                </a:uFill>
                <a:hlinkClick r:id="rId7" invalidUrl="" action="" tgtFrame="" tooltip="" history="1" highlightClick="0" endSnd="0"/>
              </a:rPr>
              <a:t>https://doi.org/10.34385/proc.97.w4-3-6</a:t>
            </a:r>
            <a:r>
              <a:t> . Figure 1 and Section II-A describe CAN, V2X and GPS input fusion. </a:t>
            </a:r>
            <a:r>
              <a:rPr u="sng">
                <a:solidFill>
                  <a:srgbClr val="0000FF"/>
                </a:solidFill>
                <a:uFill>
                  <a:solidFill>
                    <a:srgbClr val="0000FF"/>
                  </a:solidFill>
                </a:uFill>
                <a:hlinkClick r:id="rId8" invalidUrl="" action="" tgtFrame="" tooltip="" history="1" highlightClick="0" endSnd="0"/>
              </a:rPr>
              <a:t>https://www.ieice.org/publications/proceedings/bin/pdf_link.php?fname=W4-3-6.pdf&amp;iconf=APCC&amp;lang=E&amp;number=W4-3-6&amp;vol=97&amp;year=2025</a:t>
            </a:r>
          </a:p>
          <a:p>
            <a:pPr/>
          </a:p>
          <a:p>
            <a:pPr/>
            <a:r>
              <a:t>[4] R. Zhao et al., “Rethinking Tamper-Evident Logging: A High-Performance, Co-Designed Auditing System,” ACM CCS, 2025. </a:t>
            </a:r>
            <a:r>
              <a:rPr u="sng">
                <a:solidFill>
                  <a:srgbClr val="0000FF"/>
                </a:solidFill>
                <a:uFill>
                  <a:solidFill>
                    <a:srgbClr val="0000FF"/>
                  </a:solidFill>
                </a:uFill>
                <a:hlinkClick r:id="rId9" invalidUrl="" action="" tgtFrame="" tooltip="" history="1" highlightClick="0" endSnd="0"/>
              </a:rPr>
              <a:t>https://doi.org/10.1145/3719027.3765024</a:t>
            </a:r>
            <a:r>
              <a:t> Open author manuscript: </a:t>
            </a:r>
            <a:r>
              <a:rPr u="sng">
                <a:solidFill>
                  <a:srgbClr val="0000FF"/>
                </a:solidFill>
                <a:uFill>
                  <a:solidFill>
                    <a:srgbClr val="0000FF"/>
                  </a:solidFill>
                </a:uFill>
                <a:hlinkClick r:id="rId10" invalidUrl="" action="" tgtFrame="" tooltip="" history="1" highlightClick="0" endSnd="0"/>
              </a:rPr>
              <a:t>https://arxiv.org/abs/2509.03821</a:t>
            </a:r>
          </a:p>
          <a:p>
            <a:pPr/>
          </a:p>
          <a:p>
            <a:pPr/>
            <a:r>
              <a:t>[5] M. E. Verma et al., "A comprehensive guide to CAN IDS data and introduction of the ROAD dataset," PLOS ONE 19(1), e0296879, 2024. </a:t>
            </a:r>
            <a:r>
              <a:rPr u="sng">
                <a:solidFill>
                  <a:srgbClr val="0000FF"/>
                </a:solidFill>
                <a:uFill>
                  <a:solidFill>
                    <a:srgbClr val="0000FF"/>
                  </a:solidFill>
                </a:uFill>
                <a:hlinkClick r:id="rId11" invalidUrl="" action="" tgtFrame="" tooltip="" history="1" highlightClick="0" endSnd="0"/>
              </a:rPr>
              <a:t>https://journals.plos.org/plosone/article?id=10.1371/journal.pone.0296879</a:t>
            </a:r>
            <a:r>
              <a:t> . </a:t>
            </a:r>
            <a:r>
              <a:rPr u="sng">
                <a:solidFill>
                  <a:srgbClr val="0000FF"/>
                </a:solidFill>
                <a:uFill>
                  <a:solidFill>
                    <a:srgbClr val="0000FF"/>
                  </a:solidFill>
                </a:uFill>
                <a:hlinkClick r:id="rId12" invalidUrl="" action="" tgtFrame="" tooltip="" history="1" highlightClick="0" endSnd="0"/>
              </a:rPr>
              <a:t>https://zenodo.org/records/10462796</a:t>
            </a:r>
          </a:p>
          <a:p>
            <a:pPr/>
          </a:p>
          <a:p>
            <a:pPr/>
            <a:r>
              <a:t>[6] X. Sui, S. Duan and H. Zhang, “BG: A Modular Treatment of BFT Consensus Toward a Unified Theory of BFT Replication,” IEEE TIFS, vol. 19, pp. 44–58, 2024. </a:t>
            </a:r>
            <a:r>
              <a:rPr u="sng">
                <a:solidFill>
                  <a:srgbClr val="0000FF"/>
                </a:solidFill>
                <a:uFill>
                  <a:solidFill>
                    <a:srgbClr val="0000FF"/>
                  </a:solidFill>
                </a:uFill>
                <a:hlinkClick r:id="rId13" invalidUrl="" action="" tgtFrame="" tooltip="" history="1" highlightClick="0" endSnd="0"/>
              </a:rPr>
              <a:t>https://ieeexplore.ieee.org/document/10262091/</a:t>
            </a:r>
            <a:r>
              <a:t> Author manuscript: </a:t>
            </a:r>
            <a:r>
              <a:rPr u="sng">
                <a:solidFill>
                  <a:srgbClr val="0000FF"/>
                </a:solidFill>
                <a:uFill>
                  <a:solidFill>
                    <a:srgbClr val="0000FF"/>
                  </a:solidFill>
                </a:uFill>
                <a:hlinkClick r:id="rId14" invalidUrl="" action="" tgtFrame="" tooltip="" history="1" highlightClick="0" endSnd="0"/>
              </a:rPr>
              <a:t>https://eprint.iacr.org/2022/1433</a:t>
            </a:r>
            <a:r>
              <a:t> . Journal volume year is 2024; the earlier manuscript is 2022.</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6" name="Shape 656"/>
          <p:cNvSpPr/>
          <p:nvPr>
            <p:ph type="sldImg"/>
          </p:nvPr>
        </p:nvSpPr>
        <p:spPr>
          <a:prstGeom prst="rect">
            <a:avLst/>
          </a:prstGeom>
        </p:spPr>
        <p:txBody>
          <a:bodyPr/>
          <a:lstStyle/>
          <a:p>
            <a:pPr/>
          </a:p>
        </p:txBody>
      </p:sp>
      <p:sp>
        <p:nvSpPr>
          <p:cNvPr id="657" name="Shape 657"/>
          <p:cNvSpPr/>
          <p:nvPr>
            <p:ph type="body" sz="quarter" idx="1"/>
          </p:nvPr>
        </p:nvSpPr>
        <p:spPr>
          <a:prstGeom prst="rect">
            <a:avLst/>
          </a:prstGeom>
        </p:spPr>
        <p:txBody>
          <a:bodyPr/>
          <a:lstStyle/>
          <a:p>
            <a:pPr/>
            <a:r>
              <a:t>References are ordered by publication year from newest to oldest across slides 21 and 22. Papers in the same publication year retain their previous relative order. The same reference numbers are used throughout the slides and speaker notes. Detailed comparisons appear in the Related Work notes.</a:t>
            </a:r>
          </a:p>
          <a:p>
            <a:pPr/>
          </a:p>
          <a:p>
            <a:pPr/>
            <a:r>
              <a:t>References</a:t>
            </a:r>
          </a:p>
          <a:p>
            <a:pPr/>
            <a:r>
              <a:t>[7] L. Korycki and B. Krawczyk, "Adversarial concept drift detection under poisoning attacks for robust data stream mining," Machine Learning 112, pp. 4013–4048, 2023 (online 2022). </a:t>
            </a:r>
            <a:r>
              <a:rPr u="sng">
                <a:solidFill>
                  <a:srgbClr val="0000FF"/>
                </a:solidFill>
                <a:uFill>
                  <a:solidFill>
                    <a:srgbClr val="0000FF"/>
                  </a:solidFill>
                </a:uFill>
                <a:hlinkClick r:id="rId3" invalidUrl="" action="" tgtFrame="" tooltip="" history="1" highlightClick="0" endSnd="0"/>
              </a:rPr>
              <a:t>https://doi.org/10.1007/s10994-022-06177-w</a:t>
            </a:r>
            <a:r>
              <a:t> . Open manuscript: </a:t>
            </a:r>
            <a:r>
              <a:rPr u="sng">
                <a:solidFill>
                  <a:srgbClr val="0000FF"/>
                </a:solidFill>
                <a:uFill>
                  <a:solidFill>
                    <a:srgbClr val="0000FF"/>
                  </a:solidFill>
                </a:uFill>
                <a:hlinkClick r:id="rId4" invalidUrl="" action="" tgtFrame="" tooltip="" history="1" highlightClick="0" endSnd="0"/>
              </a:rPr>
              <a:t>https://arxiv.org/abs/2009.09497</a:t>
            </a:r>
            <a:r>
              <a:t> . Correction: </a:t>
            </a:r>
            <a:r>
              <a:rPr u="sng">
                <a:solidFill>
                  <a:srgbClr val="0000FF"/>
                </a:solidFill>
                <a:uFill>
                  <a:solidFill>
                    <a:srgbClr val="0000FF"/>
                  </a:solidFill>
                </a:uFill>
                <a:hlinkClick r:id="rId5" invalidUrl="" action="" tgtFrame="" tooltip="" history="1" highlightClick="0" endSnd="0"/>
              </a:rPr>
              <a:t>https://doi.org/10.1007/s10994-023-06459-x</a:t>
            </a:r>
          </a:p>
          <a:p>
            <a:pPr/>
          </a:p>
          <a:p>
            <a:pPr/>
            <a:r>
              <a:t>[8] D. Koisser and A.-R. Sadeghi, “Accountability of Things: Large-Scale Tamper-Evident Logging for Smart Devices,” arXiv preprint, 2023. </a:t>
            </a:r>
            <a:r>
              <a:rPr u="sng">
                <a:solidFill>
                  <a:srgbClr val="0000FF"/>
                </a:solidFill>
                <a:uFill>
                  <a:solidFill>
                    <a:srgbClr val="0000FF"/>
                  </a:solidFill>
                </a:uFill>
                <a:hlinkClick r:id="rId6" invalidUrl="" action="" tgtFrame="" tooltip="" history="1" highlightClick="0" endSnd="0"/>
              </a:rPr>
              <a:t>https://arxiv.org/abs/2308.05557</a:t>
            </a:r>
          </a:p>
          <a:p>
            <a:pPr/>
          </a:p>
          <a:p>
            <a:pPr/>
            <a:r>
              <a:t>[9] P. Sharma and J. Gillanders, "Cybersecurity and Forensics in Connected Autonomous Vehicles: A Review of the State-of-the-Art," IEEE Access 10, pp. 108979–108996, 2022. </a:t>
            </a:r>
            <a:r>
              <a:rPr u="sng">
                <a:solidFill>
                  <a:srgbClr val="0000FF"/>
                </a:solidFill>
                <a:uFill>
                  <a:solidFill>
                    <a:srgbClr val="0000FF"/>
                  </a:solidFill>
                </a:uFill>
                <a:hlinkClick r:id="rId7" invalidUrl="" action="" tgtFrame="" tooltip="" history="1" highlightClick="0" endSnd="0"/>
              </a:rPr>
              <a:t>https://doi.org/10.1109/ACCESS.2022.3213843</a:t>
            </a:r>
            <a:r>
              <a:t> . Survey of CAV cybersecurity and digital forensics, used as background motivation for evidence preservation.</a:t>
            </a:r>
          </a:p>
          <a:p>
            <a:pPr/>
          </a:p>
          <a:p>
            <a:pPr/>
            <a:r>
              <a:t>[10] L. Yang et al., "CADE: Detecting and Explaining Concept Drift Samples for Security Applications," USENIX Security, 2021, pp. 2327–2344. </a:t>
            </a:r>
            <a:r>
              <a:rPr u="sng">
                <a:solidFill>
                  <a:srgbClr val="0000FF"/>
                </a:solidFill>
                <a:uFill>
                  <a:solidFill>
                    <a:srgbClr val="0000FF"/>
                  </a:solidFill>
                </a:uFill>
                <a:hlinkClick r:id="rId8" invalidUrl="" action="" tgtFrame="" tooltip="" history="1" highlightClick="0" endSnd="0"/>
              </a:rPr>
              <a:t>https://www.usenix.org/conference/usenixsecurity21/presentation/yang-limin</a:t>
            </a:r>
          </a:p>
          <a:p>
            <a:pPr/>
          </a:p>
          <a:p>
            <a:pPr/>
            <a:r>
              <a:t>[11] P. K.C., R. Soman and P. Honnavalli, "Validity of Forensic Evidence using Hash Function," IEEE ICCES, pp. 823–826, 2020. </a:t>
            </a:r>
            <a:r>
              <a:rPr u="sng">
                <a:solidFill>
                  <a:srgbClr val="0000FF"/>
                </a:solidFill>
                <a:uFill>
                  <a:solidFill>
                    <a:srgbClr val="0000FF"/>
                  </a:solidFill>
                </a:uFill>
                <a:hlinkClick r:id="rId9" invalidUrl="" action="" tgtFrame="" tooltip="" history="1" highlightClick="0" endSnd="0"/>
              </a:rPr>
              <a:t>https://doi.org/10.1109/ICCES48766.2020.9138061</a:t>
            </a:r>
            <a:r>
              <a:t> . Listed by PES C-ISFCR: </a:t>
            </a:r>
            <a:r>
              <a:rPr u="sng">
                <a:solidFill>
                  <a:srgbClr val="0000FF"/>
                </a:solidFill>
                <a:uFill>
                  <a:solidFill>
                    <a:srgbClr val="0000FF"/>
                  </a:solidFill>
                </a:uFill>
                <a:hlinkClick r:id="rId10" invalidUrl="" action="" tgtFrame="" tooltip="" history="1" highlightClick="0" endSnd="0"/>
              </a:rPr>
              <a:t>https://www.isfcr.pes.edu/research</a:t>
            </a:r>
            <a:r>
              <a:t> . Bibliography and abstract are background evidence. Full methods were not accessible, so this paper is not treated as a reproduced baseline or evidence of a specific missing capability.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4" name="Shape 664"/>
          <p:cNvSpPr/>
          <p:nvPr>
            <p:ph type="sldImg"/>
          </p:nvPr>
        </p:nvSpPr>
        <p:spPr>
          <a:prstGeom prst="rect">
            <a:avLst/>
          </a:prstGeom>
        </p:spPr>
        <p:txBody>
          <a:bodyPr/>
          <a:lstStyle/>
          <a:p>
            <a:pPr/>
          </a:p>
        </p:txBody>
      </p:sp>
      <p:sp>
        <p:nvSpPr>
          <p:cNvPr id="665" name="Shape 665"/>
          <p:cNvSpPr/>
          <p:nvPr>
            <p:ph type="body" sz="quarter" idx="1"/>
          </p:nvPr>
        </p:nvSpPr>
        <p:spPr>
          <a:prstGeom prst="rect">
            <a:avLst/>
          </a:prstGeom>
        </p:spPr>
        <p:txBody>
          <a:bodyPr/>
          <a:lstStyle/>
          <a:p>
            <a:pPr/>
            <a:r>
              <a:t>Discussion topics: how benign drift differs from slow attacks; why CAN and V2X remain independent; how confidence-only timing is evaluated; why three signatures are corroboration under stated identity and fault assumptions; what an unresolved evidence gap means; how signed receipts differ from retained payloads; and how the investigator’s read-only permissions will be tested. Existing integration work [1, 3] is acknowledged. The research contribution must be demonstrated through matched baselines and ablations rather than asserted from the architecture alone.</a:t>
            </a:r>
          </a:p>
          <a:p>
            <a:pPr/>
          </a:p>
          <a:p>
            <a:pPr/>
            <a:r>
              <a:t>References</a:t>
            </a:r>
          </a:p>
          <a:p>
            <a:pPr/>
            <a:r>
              <a:t>[1] Z. Shen et al., “Securing autonomous vehicles: a dual-domain intrusion detection system for intra-vehicle and external networks,” Peer-to-Peer Networking and Applications, 2026. </a:t>
            </a:r>
            <a:r>
              <a:rPr u="sng">
                <a:solidFill>
                  <a:srgbClr val="0000FF"/>
                </a:solidFill>
                <a:uFill>
                  <a:solidFill>
                    <a:srgbClr val="0000FF"/>
                  </a:solidFill>
                </a:uFill>
                <a:hlinkClick r:id="rId3" invalidUrl="" action="" tgtFrame="" tooltip="" history="1" highlightClick="0" endSnd="0"/>
              </a:rPr>
              <a:t>https://doi.org/10.1007/s12083-026-02214-w</a:t>
            </a:r>
            <a:r>
              <a:t> Published 25 March 2026, volume 19, article 67. Primary publisher: </a:t>
            </a:r>
            <a:r>
              <a:rPr u="sng">
                <a:solidFill>
                  <a:srgbClr val="0000FF"/>
                </a:solidFill>
                <a:uFill>
                  <a:solidFill>
                    <a:srgbClr val="0000FF"/>
                  </a:solidFill>
                </a:uFill>
                <a:hlinkClick r:id="rId4" invalidUrl="" action="" tgtFrame="" tooltip="" history="1" highlightClick="0" endSnd="0"/>
              </a:rPr>
              <a:t>https://link.springer.com/article/10.1007/s12083-026-02214-w</a:t>
            </a:r>
          </a:p>
          <a:p>
            <a:pPr/>
          </a:p>
          <a:p>
            <a:pPr/>
            <a:r>
              <a:t>[3] M. Golam, J.-M. Lee and D.-S. Kim, "Language Agent Model-Driven Distributed Consensus for Advanced IoV Threat Response Management," APCC, 2025. </a:t>
            </a:r>
            <a:r>
              <a:rPr u="sng">
                <a:solidFill>
                  <a:srgbClr val="0000FF"/>
                </a:solidFill>
                <a:uFill>
                  <a:solidFill>
                    <a:srgbClr val="0000FF"/>
                  </a:solidFill>
                </a:uFill>
                <a:hlinkClick r:id="rId5" invalidUrl="" action="" tgtFrame="" tooltip="" history="1" highlightClick="0" endSnd="0"/>
              </a:rPr>
              <a:t>https://doi.org/10.34385/proc.97.w4-3-6</a:t>
            </a:r>
            <a:r>
              <a:t> . Figure 1 and Section II-A describe CAN, V2X and GPS input fusion. </a:t>
            </a:r>
            <a:r>
              <a:rPr u="sng">
                <a:solidFill>
                  <a:srgbClr val="0000FF"/>
                </a:solidFill>
                <a:uFill>
                  <a:solidFill>
                    <a:srgbClr val="0000FF"/>
                  </a:solidFill>
                </a:uFill>
                <a:hlinkClick r:id="rId6" invalidUrl="" action="" tgtFrame="" tooltip="" history="1" highlightClick="0" endSnd="0"/>
              </a:rPr>
              <a:t>https://www.ieice.org/publications/proceedings/bin/pdf_link.php?fname=W4-3-6.pdf&amp;iconf=APCC&amp;lang=E&amp;number=W4-3-6&amp;vol=97&amp;year=2025</a:t>
            </a:r>
          </a:p>
          <a:p>
            <a:pPr/>
          </a:p>
          <a:p>
            <a:pPr/>
            <a:r>
              <a:t>[6] X. Sui, S. Duan and H. Zhang, “BG: A Modular Treatment of BFT Consensus Toward a Unified Theory of BFT Replication,” IEEE TIFS, vol. 19, pp. 44–58, 2024. </a:t>
            </a:r>
            <a:r>
              <a:rPr u="sng">
                <a:solidFill>
                  <a:srgbClr val="0000FF"/>
                </a:solidFill>
                <a:uFill>
                  <a:solidFill>
                    <a:srgbClr val="0000FF"/>
                  </a:solidFill>
                </a:uFill>
                <a:hlinkClick r:id="rId7" invalidUrl="" action="" tgtFrame="" tooltip="" history="1" highlightClick="0" endSnd="0"/>
              </a:rPr>
              <a:t>https://ieeexplore.ieee.org/document/10262091/</a:t>
            </a:r>
            <a:r>
              <a:t> Author manuscript: </a:t>
            </a:r>
            <a:r>
              <a:rPr u="sng">
                <a:solidFill>
                  <a:srgbClr val="0000FF"/>
                </a:solidFill>
                <a:uFill>
                  <a:solidFill>
                    <a:srgbClr val="0000FF"/>
                  </a:solidFill>
                </a:uFill>
                <a:hlinkClick r:id="rId8" invalidUrl="" action="" tgtFrame="" tooltip="" history="1" highlightClick="0" endSnd="0"/>
              </a:rPr>
              <a:t>https://eprint.iacr.org/2022/1433</a:t>
            </a:r>
            <a:r>
              <a:t> . Journal volume year is 2024; the earlier manuscript is 2022.</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1" name="Shape 331"/>
          <p:cNvSpPr/>
          <p:nvPr>
            <p:ph type="sldImg"/>
          </p:nvPr>
        </p:nvSpPr>
        <p:spPr>
          <a:prstGeom prst="rect">
            <a:avLst/>
          </a:prstGeom>
        </p:spPr>
        <p:txBody>
          <a:bodyPr/>
          <a:lstStyle/>
          <a:p>
            <a:pPr/>
          </a:p>
        </p:txBody>
      </p:sp>
      <p:sp>
        <p:nvSpPr>
          <p:cNvPr id="332" name="Shape 332"/>
          <p:cNvSpPr/>
          <p:nvPr>
            <p:ph type="body" sz="quarter" idx="1"/>
          </p:nvPr>
        </p:nvSpPr>
        <p:spPr>
          <a:prstGeom prst="rect">
            <a:avLst/>
          </a:prstGeom>
        </p:spPr>
        <p:txBody>
          <a:bodyPr/>
          <a:lstStyle/>
          <a:p>
            <a:r>
              <a:t>Image supplied by the user: GhostTrace Forensics Command Centre.png. Concept illustration only. All displayed case counts, accuracy, precision, recall, F1, latency, benchmark charts, operational status and other numerical values are illustrative and are not project experimental results. The image is not a screenshot of a completed VerdictTrace implementation. Its four screens illustrate dashboard, integration, AI investigation and evaluation ideas. The current proposal retains deterministic evidence verification, bounded read-only AI investigation and human review.</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2"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3" name="Body Level One…"/>
          <p:cNvSpPr txBox="1"/>
          <p:nvPr>
            <p:ph type="body" sz="quarter" idx="1"/>
          </p:nvPr>
        </p:nvSpPr>
        <p:spPr>
          <a:xfrm>
            <a:off x="1524000" y="3602037"/>
            <a:ext cx="9144000" cy="1655765"/>
          </a:xfrm>
          <a:prstGeom prst="rect">
            <a:avLst/>
          </a:prstGeom>
        </p:spPr>
        <p:txBody>
          <a:bodyPr/>
          <a:lstStyle>
            <a:lvl1pPr marL="0" indent="0" algn="ctr">
              <a:defRPr sz="2400"/>
            </a:lvl1pPr>
            <a:lvl2pPr marL="0" algn="ctr">
              <a:defRPr sz="2400"/>
            </a:lvl2pPr>
            <a:lvl3pPr marL="0" algn="ctr">
              <a:defRPr sz="2400"/>
            </a:lvl3pPr>
            <a:lvl4pPr marL="0" algn="ctr">
              <a:defRPr sz="2400"/>
            </a:lvl4pPr>
            <a:lvl5pPr marL="0" algn="ctr">
              <a:defRPr sz="2400"/>
            </a:lvl5pPr>
          </a:lstStyle>
          <a:p>
            <a:pPr/>
            <a:r>
              <a:t>Body Level One</a:t>
            </a:r>
          </a:p>
          <a:p>
            <a:pPr lvl="1"/>
            <a:r>
              <a:t>Body Level Two</a:t>
            </a:r>
          </a:p>
          <a:p>
            <a:pPr lvl="2"/>
            <a:r>
              <a:t>Body Level Three</a:t>
            </a:r>
          </a:p>
          <a:p>
            <a:pPr lvl="3"/>
            <a:r>
              <a:t>Body Level Four</a:t>
            </a:r>
          </a:p>
          <a:p>
            <a:pPr lvl="4"/>
            <a:r>
              <a:t>Body Level Five</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1" name="Title Text"/>
          <p:cNvSpPr txBox="1"/>
          <p:nvPr>
            <p:ph type="title"/>
          </p:nvPr>
        </p:nvSpPr>
        <p:spPr>
          <a:prstGeom prst="rect">
            <a:avLst/>
          </a:prstGeom>
        </p:spPr>
        <p:txBody>
          <a:bodyPr/>
          <a:lstStyle/>
          <a:p>
            <a:pPr/>
            <a:r>
              <a:t>Title Text</a:t>
            </a:r>
          </a:p>
        </p:txBody>
      </p:sp>
      <p:sp>
        <p:nvSpPr>
          <p:cNvPr id="22"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30"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1" name="Body Level One…"/>
          <p:cNvSpPr txBox="1"/>
          <p:nvPr>
            <p:ph type="body" sz="quarter" idx="1"/>
          </p:nvPr>
        </p:nvSpPr>
        <p:spPr>
          <a:xfrm>
            <a:off x="831850" y="4589462"/>
            <a:ext cx="10515600" cy="1500190"/>
          </a:xfrm>
          <a:prstGeom prst="rect">
            <a:avLst/>
          </a:prstGeom>
        </p:spPr>
        <p:txBody>
          <a:bodyPr/>
          <a:lstStyle>
            <a:lvl1pPr marL="0" indent="0">
              <a:defRPr sz="2400">
                <a:solidFill>
                  <a:srgbClr val="888888"/>
                </a:solidFill>
              </a:defRPr>
            </a:lvl1pPr>
            <a:lvl2pPr marL="0">
              <a:defRPr sz="2400">
                <a:solidFill>
                  <a:srgbClr val="888888"/>
                </a:solidFill>
              </a:defRPr>
            </a:lvl2pPr>
            <a:lvl3pPr marL="0">
              <a:defRPr sz="2400">
                <a:solidFill>
                  <a:srgbClr val="888888"/>
                </a:solidFill>
              </a:defRPr>
            </a:lvl3pPr>
            <a:lvl4pPr marL="0">
              <a:defRPr sz="2400">
                <a:solidFill>
                  <a:srgbClr val="888888"/>
                </a:solidFill>
              </a:defRPr>
            </a:lvl4pPr>
            <a:lvl5pPr marL="0">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9" name="Title Text"/>
          <p:cNvSpPr txBox="1"/>
          <p:nvPr>
            <p:ph type="title"/>
          </p:nvPr>
        </p:nvSpPr>
        <p:spPr>
          <a:prstGeom prst="rect">
            <a:avLst/>
          </a:prstGeom>
        </p:spPr>
        <p:txBody>
          <a:bodyPr/>
          <a:lstStyle/>
          <a:p>
            <a:pPr/>
            <a:r>
              <a:t>Title Text</a:t>
            </a:r>
          </a:p>
        </p:txBody>
      </p:sp>
      <p:sp>
        <p:nvSpPr>
          <p:cNvPr id="40"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8" name="Title Text"/>
          <p:cNvSpPr txBox="1"/>
          <p:nvPr>
            <p:ph type="title"/>
          </p:nvPr>
        </p:nvSpPr>
        <p:spPr>
          <a:xfrm>
            <a:off x="839787" y="365125"/>
            <a:ext cx="10515601" cy="1325563"/>
          </a:xfrm>
          <a:prstGeom prst="rect">
            <a:avLst/>
          </a:prstGeom>
        </p:spPr>
        <p:txBody>
          <a:bodyPr/>
          <a:lstStyle/>
          <a:p>
            <a:pPr/>
            <a:r>
              <a:t>Title Text</a:t>
            </a:r>
          </a:p>
        </p:txBody>
      </p:sp>
      <p:sp>
        <p:nvSpPr>
          <p:cNvPr id="49" name="Body Level One…"/>
          <p:cNvSpPr txBox="1"/>
          <p:nvPr>
            <p:ph type="body" sz="quarter" idx="1"/>
          </p:nvPr>
        </p:nvSpPr>
        <p:spPr>
          <a:xfrm>
            <a:off x="839787" y="1681163"/>
            <a:ext cx="5157790" cy="823915"/>
          </a:xfrm>
          <a:prstGeom prst="rect">
            <a:avLst/>
          </a:prstGeom>
        </p:spPr>
        <p:txBody>
          <a:bodyPr anchor="b"/>
          <a:lstStyle>
            <a:lvl1pPr marL="0" indent="0">
              <a:defRPr b="1" sz="2400"/>
            </a:lvl1pPr>
            <a:lvl2pPr marL="0">
              <a:defRPr b="1" sz="2400"/>
            </a:lvl2pPr>
            <a:lvl3pPr marL="0">
              <a:defRPr b="1" sz="2400"/>
            </a:lvl3pPr>
            <a:lvl4pPr marL="0">
              <a:defRPr b="1" sz="2400"/>
            </a:lvl4pPr>
            <a:lvl5pPr marL="0">
              <a:defRPr b="1" sz="2400"/>
            </a:lvl5pPr>
          </a:lstStyle>
          <a:p>
            <a:pPr/>
            <a:r>
              <a:t>Body Level One</a:t>
            </a:r>
          </a:p>
          <a:p>
            <a:pPr lvl="1"/>
            <a:r>
              <a:t>Body Level Two</a:t>
            </a:r>
          </a:p>
          <a:p>
            <a:pPr lvl="2"/>
            <a:r>
              <a:t>Body Level Three</a:t>
            </a:r>
          </a:p>
          <a:p>
            <a:pPr lvl="3"/>
            <a:r>
              <a:t>Body Level Four</a:t>
            </a:r>
          </a:p>
          <a:p>
            <a:pPr lvl="4"/>
            <a:r>
              <a:t>Body Level Five</a:t>
            </a:r>
          </a:p>
        </p:txBody>
      </p:sp>
      <p:sp>
        <p:nvSpPr>
          <p:cNvPr id="50" name="Text Placeholder 4"/>
          <p:cNvSpPr/>
          <p:nvPr>
            <p:ph type="body" sz="quarter" idx="21"/>
          </p:nvPr>
        </p:nvSpPr>
        <p:spPr>
          <a:xfrm>
            <a:off x="6172200" y="1681163"/>
            <a:ext cx="5183188" cy="823914"/>
          </a:xfrm>
          <a:prstGeom prst="rect">
            <a:avLst/>
          </a:prstGeom>
        </p:spPr>
        <p:txBody>
          <a:bodyPr anchor="b"/>
          <a:lstStyle/>
          <a:p>
            <a:pPr/>
          </a:p>
        </p:txBody>
      </p:sp>
      <p:sp>
        <p:nvSpPr>
          <p:cNvPr id="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8" name="Title Text"/>
          <p:cNvSpPr txBox="1"/>
          <p:nvPr>
            <p:ph type="title"/>
          </p:nvPr>
        </p:nvSpPr>
        <p:spPr>
          <a:prstGeom prst="rect">
            <a:avLst/>
          </a:prstGeom>
        </p:spPr>
        <p:txBody>
          <a:bodyPr/>
          <a:lstStyle/>
          <a:p>
            <a:pPr/>
            <a:r>
              <a:t>Title Text</a:t>
            </a:r>
          </a:p>
        </p:txBody>
      </p:sp>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pic>
        <p:nvPicPr>
          <p:cNvPr id="66" name="Picture 2" descr="Picture 2"/>
          <p:cNvPicPr>
            <a:picLocks noChangeAspect="1"/>
          </p:cNvPicPr>
          <p:nvPr/>
        </p:nvPicPr>
        <p:blipFill>
          <a:blip r:embed="rId2">
            <a:extLst/>
          </a:blip>
          <a:stretch>
            <a:fillRect/>
          </a:stretch>
        </p:blipFill>
        <p:spPr>
          <a:xfrm>
            <a:off x="10167335" y="365125"/>
            <a:ext cx="1162053" cy="533400"/>
          </a:xfrm>
          <a:prstGeom prst="rect">
            <a:avLst/>
          </a:prstGeom>
          <a:ln w="12700">
            <a:miter lim="400000"/>
          </a:ln>
        </p:spPr>
      </p:pic>
      <p:sp>
        <p:nvSpPr>
          <p:cNvPr id="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4" name="Title Text"/>
          <p:cNvSpPr txBox="1"/>
          <p:nvPr>
            <p:ph type="title"/>
          </p:nvPr>
        </p:nvSpPr>
        <p:spPr>
          <a:xfrm>
            <a:off x="839787" y="457200"/>
            <a:ext cx="3932240" cy="1600200"/>
          </a:xfrm>
          <a:prstGeom prst="rect">
            <a:avLst/>
          </a:prstGeom>
        </p:spPr>
        <p:txBody>
          <a:bodyPr anchor="b"/>
          <a:lstStyle>
            <a:lvl1pPr>
              <a:defRPr sz="3200"/>
            </a:lvl1pPr>
          </a:lstStyle>
          <a:p>
            <a:pPr/>
            <a:r>
              <a:t>Title Text</a:t>
            </a:r>
          </a:p>
        </p:txBody>
      </p:sp>
      <p:sp>
        <p:nvSpPr>
          <p:cNvPr id="75" name="Body Level One…"/>
          <p:cNvSpPr txBox="1"/>
          <p:nvPr>
            <p:ph type="body" sz="half" idx="1"/>
          </p:nvPr>
        </p:nvSpPr>
        <p:spPr>
          <a:xfrm>
            <a:off x="5183187" y="987425"/>
            <a:ext cx="6172203" cy="4873625"/>
          </a:xfrm>
          <a:prstGeom prst="rect">
            <a:avLst/>
          </a:prstGeom>
        </p:spPr>
        <p:txBody>
          <a:bodyPr/>
          <a:lstStyle>
            <a:lvl1pPr>
              <a:defRPr sz="3200"/>
            </a:lvl1pPr>
            <a:lvl2pPr>
              <a:defRPr sz="3200"/>
            </a:lvl2pPr>
            <a:lvl3pPr>
              <a:defRPr sz="3200"/>
            </a:lvl3pPr>
            <a:lvl4pPr>
              <a:defRPr sz="3200"/>
            </a:lvl4pPr>
            <a:lvl5pPr>
              <a:defRPr sz="3200"/>
            </a:lvl5pPr>
          </a:lstStyle>
          <a:p>
            <a:pPr/>
            <a:r>
              <a:t>Body Level One</a:t>
            </a:r>
          </a:p>
          <a:p>
            <a:pPr lvl="1"/>
            <a:r>
              <a:t>Body Level Two</a:t>
            </a:r>
          </a:p>
          <a:p>
            <a:pPr lvl="2"/>
            <a:r>
              <a:t>Body Level Three</a:t>
            </a:r>
          </a:p>
          <a:p>
            <a:pPr lvl="3"/>
            <a:r>
              <a:t>Body Level Four</a:t>
            </a:r>
          </a:p>
          <a:p>
            <a:pPr lvl="4"/>
            <a:r>
              <a:t>Body Level Five</a:t>
            </a:r>
          </a:p>
        </p:txBody>
      </p:sp>
      <p:sp>
        <p:nvSpPr>
          <p:cNvPr id="76" name="Text Placeholder 3"/>
          <p:cNvSpPr/>
          <p:nvPr>
            <p:ph type="body" sz="quarter" idx="21"/>
          </p:nvPr>
        </p:nvSpPr>
        <p:spPr>
          <a:xfrm>
            <a:off x="839787" y="2057400"/>
            <a:ext cx="3932238" cy="3811588"/>
          </a:xfrm>
          <a:prstGeom prst="rect">
            <a:avLst/>
          </a:prstGeom>
        </p:spPr>
        <p:txBody>
          <a:bodyPr/>
          <a:lstStyle/>
          <a:p>
            <a:pPr/>
          </a:p>
        </p:txBody>
      </p:sp>
      <p:sp>
        <p:nvSpPr>
          <p:cNvPr id="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4" name="Title Text"/>
          <p:cNvSpPr txBox="1"/>
          <p:nvPr>
            <p:ph type="title"/>
          </p:nvPr>
        </p:nvSpPr>
        <p:spPr>
          <a:xfrm>
            <a:off x="839787" y="457200"/>
            <a:ext cx="3932240" cy="1600200"/>
          </a:xfrm>
          <a:prstGeom prst="rect">
            <a:avLst/>
          </a:prstGeom>
        </p:spPr>
        <p:txBody>
          <a:bodyPr anchor="b"/>
          <a:lstStyle>
            <a:lvl1pPr>
              <a:defRPr sz="3200"/>
            </a:lvl1pPr>
          </a:lstStyle>
          <a:p>
            <a:pPr/>
            <a:r>
              <a:t>Title Text</a:t>
            </a:r>
          </a:p>
        </p:txBody>
      </p:sp>
      <p:sp>
        <p:nvSpPr>
          <p:cNvPr id="85" name="Picture Placeholder 2"/>
          <p:cNvSpPr/>
          <p:nvPr>
            <p:ph type="pic" sz="half" idx="21"/>
          </p:nvPr>
        </p:nvSpPr>
        <p:spPr>
          <a:xfrm>
            <a:off x="5183187" y="987425"/>
            <a:ext cx="6172203" cy="4873625"/>
          </a:xfrm>
          <a:prstGeom prst="rect">
            <a:avLst/>
          </a:prstGeom>
        </p:spPr>
        <p:txBody>
          <a:bodyPr lIns="91439" tIns="45719" rIns="91439" bIns="45719">
            <a:noAutofit/>
          </a:bodyPr>
          <a:lstStyle/>
          <a:p>
            <a:pPr/>
          </a:p>
        </p:txBody>
      </p:sp>
      <p:sp>
        <p:nvSpPr>
          <p:cNvPr id="86" name="Body Level One…"/>
          <p:cNvSpPr txBox="1"/>
          <p:nvPr>
            <p:ph type="body" sz="quarter" idx="1"/>
          </p:nvPr>
        </p:nvSpPr>
        <p:spPr>
          <a:xfrm>
            <a:off x="839787" y="2057400"/>
            <a:ext cx="3932240" cy="3811588"/>
          </a:xfrm>
          <a:prstGeom prst="rect">
            <a:avLst/>
          </a:prstGeom>
        </p:spPr>
        <p:txBody>
          <a:bodyPr/>
          <a:lstStyle>
            <a:lvl1pPr marL="0" indent="0">
              <a:defRPr sz="1600"/>
            </a:lvl1pPr>
            <a:lvl2pPr marL="0">
              <a:defRPr sz="1600"/>
            </a:lvl2pPr>
            <a:lvl3pPr marL="0">
              <a:defRPr sz="1600"/>
            </a:lvl3pPr>
            <a:lvl4pPr marL="0">
              <a:defRPr sz="1600"/>
            </a:lvl4pPr>
            <a:lvl5pPr marL="0">
              <a:defRPr sz="1600"/>
            </a:lvl5pPr>
          </a:lstStyle>
          <a:p>
            <a:pPr/>
            <a:r>
              <a:t>Body Level One</a:t>
            </a:r>
          </a:p>
          <a:p>
            <a:pPr lvl="1"/>
            <a:r>
              <a:t>Body Level Two</a:t>
            </a:r>
          </a:p>
          <a:p>
            <a:pPr lvl="2"/>
            <a:r>
              <a:t>Body Level Three</a:t>
            </a:r>
          </a:p>
          <a:p>
            <a:pPr lvl="3"/>
            <a:r>
              <a:t>Body Level Four</a:t>
            </a:r>
          </a:p>
          <a:p>
            <a:pPr lvl="4"/>
            <a:r>
              <a:t>Body Level Five</a:t>
            </a:r>
          </a:p>
        </p:txBody>
      </p:sp>
      <p:sp>
        <p:nvSpPr>
          <p:cNvPr id="8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Picture 2" descr="Picture 2"/>
          <p:cNvPicPr>
            <a:picLocks noChangeAspect="1"/>
          </p:cNvPicPr>
          <p:nvPr/>
        </p:nvPicPr>
        <p:blipFill>
          <a:blip r:embed="rId2">
            <a:extLst/>
          </a:blip>
          <a:stretch>
            <a:fillRect/>
          </a:stretch>
        </p:blipFill>
        <p:spPr>
          <a:xfrm>
            <a:off x="10167335" y="365125"/>
            <a:ext cx="1162053" cy="533400"/>
          </a:xfrm>
          <a:prstGeom prst="rect">
            <a:avLst/>
          </a:prstGeom>
          <a:ln w="12700">
            <a:miter lim="400000"/>
          </a:ln>
        </p:spPr>
      </p:pic>
      <p:sp>
        <p:nvSpPr>
          <p:cNvPr id="3"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Title Text</a:t>
            </a:r>
          </a:p>
        </p:txBody>
      </p:sp>
      <p:sp>
        <p:nvSpPr>
          <p:cNvPr id="4"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5" name="Slide Number"/>
          <p:cNvSpPr txBox="1"/>
          <p:nvPr>
            <p:ph type="sldNum" sz="quarter" idx="2"/>
          </p:nvPr>
        </p:nvSpPr>
        <p:spPr>
          <a:xfrm>
            <a:off x="11080149" y="6404294"/>
            <a:ext cx="273652" cy="269237"/>
          </a:xfrm>
          <a:prstGeom prst="rect">
            <a:avLst/>
          </a:prstGeom>
          <a:ln w="12700">
            <a:miter lim="400000"/>
          </a:ln>
        </p:spPr>
        <p:txBody>
          <a:bodyPr wrap="none" lIns="45718" tIns="45718" rIns="45718" bIns="45718" anchor="ctr">
            <a:spAutoFit/>
          </a:bodyPr>
          <a:lstStyle>
            <a:lvl1pPr algn="r">
              <a:defRPr sz="1200">
                <a:solidFill>
                  <a:srgbClr val="888888"/>
                </a:solidFill>
                <a:latin typeface="+mn-lt"/>
                <a:ea typeface="+mn-ea"/>
                <a:cs typeface="+mn-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Tx/>
        <a:buFontTx/>
        <a:buNone/>
        <a:tabLst/>
        <a:defRPr b="0" baseline="0" cap="none" i="0" spc="0" strike="noStrike" sz="2800" u="none">
          <a:solidFill>
            <a:srgbClr val="000000"/>
          </a:solidFill>
          <a:uFillTx/>
          <a:latin typeface="Calibri"/>
          <a:ea typeface="Calibri"/>
          <a:cs typeface="Calibri"/>
          <a:sym typeface="Calibri"/>
        </a:defRPr>
      </a:lvl1pPr>
      <a:lvl2pPr marL="228600" marR="0" indent="0" algn="l" defTabSz="914400" rtl="0" latinLnBrk="0">
        <a:lnSpc>
          <a:spcPct val="90000"/>
        </a:lnSpc>
        <a:spcBef>
          <a:spcPts val="1000"/>
        </a:spcBef>
        <a:spcAft>
          <a:spcPts val="0"/>
        </a:spcAft>
        <a:buClrTx/>
        <a:buSzTx/>
        <a:buFontTx/>
        <a:buNone/>
        <a:tabLst/>
        <a:defRPr b="0" baseline="0" cap="none" i="0" spc="0" strike="noStrike" sz="2800" u="none">
          <a:solidFill>
            <a:srgbClr val="000000"/>
          </a:solidFill>
          <a:uFillTx/>
          <a:latin typeface="Calibri"/>
          <a:ea typeface="Calibri"/>
          <a:cs typeface="Calibri"/>
          <a:sym typeface="Calibri"/>
        </a:defRPr>
      </a:lvl2pPr>
      <a:lvl3pPr marL="228600" marR="0" indent="0" algn="l" defTabSz="914400" rtl="0" latinLnBrk="0">
        <a:lnSpc>
          <a:spcPct val="90000"/>
        </a:lnSpc>
        <a:spcBef>
          <a:spcPts val="1000"/>
        </a:spcBef>
        <a:spcAft>
          <a:spcPts val="0"/>
        </a:spcAft>
        <a:buClrTx/>
        <a:buSzTx/>
        <a:buFontTx/>
        <a:buNone/>
        <a:tabLst/>
        <a:defRPr b="0" baseline="0" cap="none" i="0" spc="0" strike="noStrike" sz="2800" u="none">
          <a:solidFill>
            <a:srgbClr val="000000"/>
          </a:solidFill>
          <a:uFillTx/>
          <a:latin typeface="Calibri"/>
          <a:ea typeface="Calibri"/>
          <a:cs typeface="Calibri"/>
          <a:sym typeface="Calibri"/>
        </a:defRPr>
      </a:lvl3pPr>
      <a:lvl4pPr marL="228600" marR="0" indent="0" algn="l" defTabSz="914400" rtl="0" latinLnBrk="0">
        <a:lnSpc>
          <a:spcPct val="90000"/>
        </a:lnSpc>
        <a:spcBef>
          <a:spcPts val="1000"/>
        </a:spcBef>
        <a:spcAft>
          <a:spcPts val="0"/>
        </a:spcAft>
        <a:buClrTx/>
        <a:buSzTx/>
        <a:buFontTx/>
        <a:buNone/>
        <a:tabLst/>
        <a:defRPr b="0" baseline="0" cap="none" i="0" spc="0" strike="noStrike" sz="2800" u="none">
          <a:solidFill>
            <a:srgbClr val="000000"/>
          </a:solidFill>
          <a:uFillTx/>
          <a:latin typeface="Calibri"/>
          <a:ea typeface="Calibri"/>
          <a:cs typeface="Calibri"/>
          <a:sym typeface="Calibri"/>
        </a:defRPr>
      </a:lvl4pPr>
      <a:lvl5pPr marL="228600" marR="0" indent="0" algn="l" defTabSz="914400" rtl="0" latinLnBrk="0">
        <a:lnSpc>
          <a:spcPct val="90000"/>
        </a:lnSpc>
        <a:spcBef>
          <a:spcPts val="1000"/>
        </a:spcBef>
        <a:spcAft>
          <a:spcPts val="0"/>
        </a:spcAft>
        <a:buClrTx/>
        <a:buSzTx/>
        <a:buFontTx/>
        <a:buNone/>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vt-grid.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www.nhtsa.gov/press-releases/consent-order-cruise-crash-reporting"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doi.org/10.1371/journal.pone.0296879" TargetMode="External"/><Relationship Id="rId4" Type="http://schemas.openxmlformats.org/officeDocument/2006/relationships/hyperlink" Target="https://www.unb.ca/cic/datasets/iov-dataset-2024.html" TargetMode="External"/><Relationship Id="rId5" Type="http://schemas.openxmlformats.org/officeDocument/2006/relationships/hyperlink" Target="https://veremi-dataset.github.io/veremi-nextgen" TargetMode="External"/></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doi.org/10.1007/s12083-026-02214-w" TargetMode="External"/><Relationship Id="rId4" Type="http://schemas.openxmlformats.org/officeDocument/2006/relationships/hyperlink" Target="https://doi.org/10.1109/DAC63849.2025.11132541" TargetMode="External"/><Relationship Id="rId5" Type="http://schemas.openxmlformats.org/officeDocument/2006/relationships/hyperlink" Target="https://doi.org/10.34385/proc.97.w4-3-6" TargetMode="External"/><Relationship Id="rId6" Type="http://schemas.openxmlformats.org/officeDocument/2006/relationships/hyperlink" Target="https://doi.org/10.1145/3719027.3765024" TargetMode="External"/><Relationship Id="rId7" Type="http://schemas.openxmlformats.org/officeDocument/2006/relationships/hyperlink" Target="https://journals.plos.org/plosone/article?id=10.1371/journal.pone.0296879" TargetMode="External"/><Relationship Id="rId8" Type="http://schemas.openxmlformats.org/officeDocument/2006/relationships/hyperlink" Target="https://ieeexplore.ieee.org/document/10262091/" TargetMode="External"/></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doi.org/10.1007/s10994-022-06177-w" TargetMode="External"/><Relationship Id="rId4" Type="http://schemas.openxmlformats.org/officeDocument/2006/relationships/hyperlink" Target="https://arxiv.org/abs/2308.05557" TargetMode="External"/><Relationship Id="rId5" Type="http://schemas.openxmlformats.org/officeDocument/2006/relationships/hyperlink" Target="https://doi.org/10.1109/ACCESS.2022.3213843" TargetMode="External"/><Relationship Id="rId6" Type="http://schemas.openxmlformats.org/officeDocument/2006/relationships/hyperlink" Target="https://www.usenix.org/conference/usenixsecurity21/presentation/yang-limin" TargetMode="External"/><Relationship Id="rId7" Type="http://schemas.openxmlformats.org/officeDocument/2006/relationships/hyperlink" Target="https://doi.org/10.1109/ICCES48766.2020.9138061" TargetMode="External"/></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vt-grid.png"/><Relationship Id="rId4" Type="http://schemas.openxmlformats.org/officeDocument/2006/relationships/image" Target="../media/vt-forensic.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Rectangle 1"/>
          <p:cNvSpPr txBox="1"/>
          <p:nvPr/>
        </p:nvSpPr>
        <p:spPr>
          <a:xfrm>
            <a:off x="1143000" y="1162050"/>
            <a:ext cx="990600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342889" indent="-342889">
              <a:defRPr b="1" sz="2400">
                <a:solidFill>
                  <a:srgbClr val="FF0000"/>
                </a:solidFill>
                <a:latin typeface="Trebuchet MS"/>
                <a:ea typeface="Trebuchet MS"/>
                <a:cs typeface="Trebuchet MS"/>
                <a:sym typeface="Trebuchet MS"/>
              </a:defRPr>
            </a:lvl1pPr>
          </a:lstStyle>
          <a:p>
            <a:pPr/>
            <a:r>
              <a:t>UE24CS320A - Capstone Project </a:t>
            </a:r>
          </a:p>
        </p:txBody>
      </p:sp>
      <p:sp>
        <p:nvSpPr>
          <p:cNvPr id="97" name="text-1"/>
          <p:cNvSpPr txBox="1"/>
          <p:nvPr/>
        </p:nvSpPr>
        <p:spPr>
          <a:xfrm>
            <a:off x="1143000" y="1828800"/>
            <a:ext cx="9906000" cy="546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700">
                <a:solidFill>
                  <a:srgbClr val="0033CC"/>
                </a:solidFill>
                <a:latin typeface="Trebuchet MS"/>
                <a:ea typeface="Trebuchet MS"/>
                <a:cs typeface="Trebuchet MS"/>
                <a:sym typeface="Trebuchet MS"/>
              </a:defRPr>
            </a:lvl1pPr>
          </a:lstStyle>
          <a:p>
            <a:pPr/>
            <a:r>
              <a:t>VerdictTrace</a:t>
            </a:r>
          </a:p>
        </p:txBody>
      </p:sp>
      <p:sp>
        <p:nvSpPr>
          <p:cNvPr id="98" name="text-2"/>
          <p:cNvSpPr txBox="1"/>
          <p:nvPr/>
        </p:nvSpPr>
        <p:spPr>
          <a:xfrm>
            <a:off x="1143000" y="2466975"/>
            <a:ext cx="10001250" cy="1181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700">
                <a:solidFill>
                  <a:srgbClr val="0033CC"/>
                </a:solidFill>
                <a:latin typeface="Trebuchet MS"/>
                <a:ea typeface="Trebuchet MS"/>
                <a:cs typeface="Trebuchet MS"/>
                <a:sym typeface="Trebuchet MS"/>
              </a:defRPr>
            </a:pPr>
            <a:r>
              <a:t>Tamper-Evident, Quorum-Based</a:t>
            </a:r>
          </a:p>
          <a:p>
            <a:pPr>
              <a:defRPr sz="2700">
                <a:solidFill>
                  <a:srgbClr val="0033CC"/>
                </a:solidFill>
                <a:latin typeface="Trebuchet MS"/>
                <a:ea typeface="Trebuchet MS"/>
                <a:cs typeface="Trebuchet MS"/>
                <a:sym typeface="Trebuchet MS"/>
              </a:defRPr>
            </a:pPr>
            <a:r>
              <a:t>Cross-Layer Drift Attribution for</a:t>
            </a:r>
          </a:p>
          <a:p>
            <a:pPr>
              <a:defRPr sz="2700">
                <a:solidFill>
                  <a:srgbClr val="0033CC"/>
                </a:solidFill>
                <a:latin typeface="Trebuchet MS"/>
                <a:ea typeface="Trebuchet MS"/>
                <a:cs typeface="Trebuchet MS"/>
                <a:sym typeface="Trebuchet MS"/>
              </a:defRPr>
            </a:pPr>
            <a:r>
              <a:t>Connected Vehicle Fleets</a:t>
            </a:r>
          </a:p>
        </p:txBody>
      </p:sp>
      <p:sp>
        <p:nvSpPr>
          <p:cNvPr id="99" name="text-3"/>
          <p:cNvSpPr txBox="1"/>
          <p:nvPr/>
        </p:nvSpPr>
        <p:spPr>
          <a:xfrm>
            <a:off x="1143000" y="3962400"/>
            <a:ext cx="7810500" cy="292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20345A"/>
                </a:solidFill>
                <a:latin typeface="Trebuchet MS"/>
                <a:ea typeface="Trebuchet MS"/>
                <a:cs typeface="Trebuchet MS"/>
                <a:sym typeface="Trebuchet MS"/>
              </a:defRPr>
            </a:lvl1pPr>
          </a:lstStyle>
          <a:p>
            <a:pPr/>
            <a:r>
              <a:t>Project Guide: Prof. Saravanaraj S</a:t>
            </a:r>
          </a:p>
        </p:txBody>
      </p:sp>
      <p:sp>
        <p:nvSpPr>
          <p:cNvPr id="100" name="text-4"/>
          <p:cNvSpPr txBox="1"/>
          <p:nvPr/>
        </p:nvSpPr>
        <p:spPr>
          <a:xfrm>
            <a:off x="9334500" y="3981450"/>
            <a:ext cx="142875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a:solidFill>
                  <a:srgbClr val="0033CC"/>
                </a:solidFill>
                <a:latin typeface="Trebuchet MS"/>
                <a:ea typeface="Trebuchet MS"/>
                <a:cs typeface="Trebuchet MS"/>
                <a:sym typeface="Trebuchet MS"/>
              </a:defRPr>
            </a:lvl1pPr>
          </a:lstStyle>
          <a:p>
            <a:pPr/>
            <a:r>
              <a:t>Batch 51</a:t>
            </a:r>
          </a:p>
        </p:txBody>
      </p:sp>
      <p:sp>
        <p:nvSpPr>
          <p:cNvPr id="101" name="line-5"/>
          <p:cNvSpPr/>
          <p:nvPr/>
        </p:nvSpPr>
        <p:spPr>
          <a:xfrm>
            <a:off x="1143000" y="4410075"/>
            <a:ext cx="9620250" cy="0"/>
          </a:xfrm>
          <a:prstGeom prst="line">
            <a:avLst/>
          </a:prstGeom>
          <a:ln w="19050">
            <a:solidFill>
              <a:srgbClr val="33CCCC"/>
            </a:solidFill>
          </a:ln>
        </p:spPr>
        <p:txBody>
          <a:bodyPr lIns="0" tIns="0" rIns="0" bIns="0"/>
          <a:lstStyle/>
          <a:p>
            <a:pPr/>
          </a:p>
        </p:txBody>
      </p:sp>
      <p:sp>
        <p:nvSpPr>
          <p:cNvPr id="102" name="text-6"/>
          <p:cNvSpPr txBox="1"/>
          <p:nvPr/>
        </p:nvSpPr>
        <p:spPr>
          <a:xfrm>
            <a:off x="1143000" y="4610100"/>
            <a:ext cx="6429375"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0345A"/>
                </a:solidFill>
                <a:latin typeface="Trebuchet MS"/>
                <a:ea typeface="Trebuchet MS"/>
                <a:cs typeface="Trebuchet MS"/>
                <a:sym typeface="Trebuchet MS"/>
              </a:defRPr>
            </a:lvl1pPr>
          </a:lstStyle>
          <a:p>
            <a:pPr/>
            <a:r>
              <a:t>Dhanush Sai Suprapadha</a:t>
            </a:r>
          </a:p>
        </p:txBody>
      </p:sp>
      <p:sp>
        <p:nvSpPr>
          <p:cNvPr id="103" name="text-7"/>
          <p:cNvSpPr txBox="1"/>
          <p:nvPr/>
        </p:nvSpPr>
        <p:spPr>
          <a:xfrm>
            <a:off x="8001000" y="4610100"/>
            <a:ext cx="276225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a:solidFill>
                  <a:srgbClr val="20345A"/>
                </a:solidFill>
                <a:latin typeface="Trebuchet MS"/>
                <a:ea typeface="Trebuchet MS"/>
                <a:cs typeface="Trebuchet MS"/>
                <a:sym typeface="Trebuchet MS"/>
              </a:defRPr>
            </a:lvl1pPr>
          </a:lstStyle>
          <a:p>
            <a:pPr/>
            <a:r>
              <a:t>PES2UG24CS154</a:t>
            </a:r>
          </a:p>
        </p:txBody>
      </p:sp>
      <p:sp>
        <p:nvSpPr>
          <p:cNvPr id="104" name="text-8"/>
          <p:cNvSpPr txBox="1"/>
          <p:nvPr/>
        </p:nvSpPr>
        <p:spPr>
          <a:xfrm>
            <a:off x="1143000" y="4943475"/>
            <a:ext cx="6429375"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0345A"/>
                </a:solidFill>
                <a:latin typeface="Trebuchet MS"/>
                <a:ea typeface="Trebuchet MS"/>
                <a:cs typeface="Trebuchet MS"/>
                <a:sym typeface="Trebuchet MS"/>
              </a:defRPr>
            </a:lvl1pPr>
          </a:lstStyle>
          <a:p>
            <a:pPr/>
            <a:r>
              <a:t>Gurubelli Yekambar Eshwar Rao</a:t>
            </a:r>
          </a:p>
        </p:txBody>
      </p:sp>
      <p:sp>
        <p:nvSpPr>
          <p:cNvPr id="105" name="text-9"/>
          <p:cNvSpPr txBox="1"/>
          <p:nvPr/>
        </p:nvSpPr>
        <p:spPr>
          <a:xfrm>
            <a:off x="8001000" y="4943475"/>
            <a:ext cx="276225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a:solidFill>
                  <a:srgbClr val="20345A"/>
                </a:solidFill>
                <a:latin typeface="Trebuchet MS"/>
                <a:ea typeface="Trebuchet MS"/>
                <a:cs typeface="Trebuchet MS"/>
                <a:sym typeface="Trebuchet MS"/>
              </a:defRPr>
            </a:lvl1pPr>
          </a:lstStyle>
          <a:p>
            <a:pPr/>
            <a:r>
              <a:t>PES2UG24CS173</a:t>
            </a:r>
          </a:p>
        </p:txBody>
      </p:sp>
      <p:sp>
        <p:nvSpPr>
          <p:cNvPr id="106" name="text-10"/>
          <p:cNvSpPr txBox="1"/>
          <p:nvPr/>
        </p:nvSpPr>
        <p:spPr>
          <a:xfrm>
            <a:off x="1143000" y="5276850"/>
            <a:ext cx="6429375"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0345A"/>
                </a:solidFill>
                <a:latin typeface="Trebuchet MS"/>
                <a:ea typeface="Trebuchet MS"/>
                <a:cs typeface="Trebuchet MS"/>
                <a:sym typeface="Trebuchet MS"/>
              </a:defRPr>
            </a:lvl1pPr>
          </a:lstStyle>
          <a:p>
            <a:pPr/>
            <a:r>
              <a:t>Amruta Karoshi</a:t>
            </a:r>
          </a:p>
        </p:txBody>
      </p:sp>
      <p:sp>
        <p:nvSpPr>
          <p:cNvPr id="107" name="text-11"/>
          <p:cNvSpPr txBox="1"/>
          <p:nvPr/>
        </p:nvSpPr>
        <p:spPr>
          <a:xfrm>
            <a:off x="8001000" y="5276850"/>
            <a:ext cx="276225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a:solidFill>
                  <a:srgbClr val="20345A"/>
                </a:solidFill>
                <a:latin typeface="Trebuchet MS"/>
                <a:ea typeface="Trebuchet MS"/>
                <a:cs typeface="Trebuchet MS"/>
                <a:sym typeface="Trebuchet MS"/>
              </a:defRPr>
            </a:lvl1pPr>
          </a:lstStyle>
          <a:p>
            <a:pPr/>
            <a:r>
              <a:t>PES2UG24CS675</a:t>
            </a:r>
          </a:p>
        </p:txBody>
      </p:sp>
      <p:sp>
        <p:nvSpPr>
          <p:cNvPr id="108" name="text-12"/>
          <p:cNvSpPr txBox="1"/>
          <p:nvPr/>
        </p:nvSpPr>
        <p:spPr>
          <a:xfrm>
            <a:off x="1143000" y="5610225"/>
            <a:ext cx="6429375"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0345A"/>
                </a:solidFill>
                <a:latin typeface="Trebuchet MS"/>
                <a:ea typeface="Trebuchet MS"/>
                <a:cs typeface="Trebuchet MS"/>
                <a:sym typeface="Trebuchet MS"/>
              </a:defRPr>
            </a:lvl1pPr>
          </a:lstStyle>
          <a:p>
            <a:pPr/>
            <a:r>
              <a:t>Shreya R D</a:t>
            </a:r>
          </a:p>
        </p:txBody>
      </p:sp>
      <p:sp>
        <p:nvSpPr>
          <p:cNvPr id="109" name="text-13"/>
          <p:cNvSpPr txBox="1"/>
          <p:nvPr/>
        </p:nvSpPr>
        <p:spPr>
          <a:xfrm>
            <a:off x="8001000" y="5610225"/>
            <a:ext cx="276225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a:solidFill>
                  <a:srgbClr val="20345A"/>
                </a:solidFill>
                <a:latin typeface="Trebuchet MS"/>
                <a:ea typeface="Trebuchet MS"/>
                <a:cs typeface="Trebuchet MS"/>
                <a:sym typeface="Trebuchet MS"/>
              </a:defRPr>
            </a:lvl1pPr>
          </a:lstStyle>
          <a:p>
            <a:pPr/>
            <a:r>
              <a:t>PES2UG24CS680</a:t>
            </a:r>
          </a:p>
        </p:txBody>
      </p:sp>
      <p:sp>
        <p:nvSpPr>
          <p:cNvPr id="110" name="text-14"/>
          <p:cNvSpPr txBox="1"/>
          <p:nvPr/>
        </p:nvSpPr>
        <p:spPr>
          <a:xfrm>
            <a:off x="1143000" y="6257925"/>
            <a:ext cx="666750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53627A"/>
                </a:solidFill>
                <a:latin typeface="Trebuchet MS"/>
                <a:ea typeface="Trebuchet MS"/>
                <a:cs typeface="Trebuchet MS"/>
                <a:sym typeface="Trebuchet MS"/>
              </a:defRPr>
            </a:lvl1pPr>
          </a:lstStyle>
          <a:p>
            <a:pPr/>
            <a:r>
              <a:t>Phase I / Review 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revision-110"/>
          <p:cNvSpPr txBox="1"/>
          <p:nvPr/>
        </p:nvSpPr>
        <p:spPr>
          <a:xfrm>
            <a:off x="857250" y="1123950"/>
            <a:ext cx="98107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Outline</a:t>
            </a:r>
          </a:p>
        </p:txBody>
      </p:sp>
      <p:sp>
        <p:nvSpPr>
          <p:cNvPr id="115" name="Rectangle"/>
          <p:cNvSpPr/>
          <p:nvPr/>
        </p:nvSpPr>
        <p:spPr>
          <a:xfrm>
            <a:off x="3048000" y="1581150"/>
            <a:ext cx="7620000" cy="36195"/>
          </a:xfrm>
          <a:prstGeom prst="rect">
            <a:avLst/>
          </a:prstGeom>
          <a:solidFill>
            <a:srgbClr val="33CCCC"/>
          </a:solidFill>
          <a:ln w="12700">
            <a:miter lim="400000"/>
          </a:ln>
        </p:spPr>
        <p:txBody>
          <a:bodyPr lIns="0" tIns="0" rIns="0" bIns="0"/>
          <a:lstStyle/>
          <a:p>
            <a:pPr>
              <a:defRPr>
                <a:latin typeface="+mn-lt"/>
                <a:ea typeface="+mn-ea"/>
                <a:cs typeface="+mn-cs"/>
                <a:sym typeface="Helvetica"/>
              </a:defRPr>
            </a:pPr>
          </a:p>
        </p:txBody>
      </p:sp>
      <p:sp>
        <p:nvSpPr>
          <p:cNvPr id="116" name="revision-111"/>
          <p:cNvSpPr txBox="1"/>
          <p:nvPr/>
        </p:nvSpPr>
        <p:spPr>
          <a:xfrm>
            <a:off x="1143000" y="2028825"/>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03</a:t>
            </a:r>
          </a:p>
        </p:txBody>
      </p:sp>
      <p:sp>
        <p:nvSpPr>
          <p:cNvPr id="117" name="revision-112"/>
          <p:cNvSpPr txBox="1"/>
          <p:nvPr/>
        </p:nvSpPr>
        <p:spPr>
          <a:xfrm>
            <a:off x="1971675" y="2028825"/>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Problem Statement</a:t>
            </a:r>
          </a:p>
        </p:txBody>
      </p:sp>
      <p:sp>
        <p:nvSpPr>
          <p:cNvPr id="118" name="revision-113"/>
          <p:cNvSpPr txBox="1"/>
          <p:nvPr/>
        </p:nvSpPr>
        <p:spPr>
          <a:xfrm>
            <a:off x="1143000" y="2571750"/>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04</a:t>
            </a:r>
          </a:p>
        </p:txBody>
      </p:sp>
      <p:sp>
        <p:nvSpPr>
          <p:cNvPr id="119" name="revision-114"/>
          <p:cNvSpPr txBox="1"/>
          <p:nvPr/>
        </p:nvSpPr>
        <p:spPr>
          <a:xfrm>
            <a:off x="1971675" y="2571750"/>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CAN and V2X Project Components</a:t>
            </a:r>
          </a:p>
        </p:txBody>
      </p:sp>
      <p:sp>
        <p:nvSpPr>
          <p:cNvPr id="120" name="revision-115"/>
          <p:cNvSpPr txBox="1"/>
          <p:nvPr/>
        </p:nvSpPr>
        <p:spPr>
          <a:xfrm>
            <a:off x="1143000" y="3114675"/>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05</a:t>
            </a:r>
          </a:p>
        </p:txBody>
      </p:sp>
      <p:sp>
        <p:nvSpPr>
          <p:cNvPr id="121" name="revision-116"/>
          <p:cNvSpPr txBox="1"/>
          <p:nvPr/>
        </p:nvSpPr>
        <p:spPr>
          <a:xfrm>
            <a:off x="1971675" y="3114675"/>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Proposed Architecture</a:t>
            </a:r>
          </a:p>
        </p:txBody>
      </p:sp>
      <p:sp>
        <p:nvSpPr>
          <p:cNvPr id="122" name="revision-117"/>
          <p:cNvSpPr txBox="1"/>
          <p:nvPr/>
        </p:nvSpPr>
        <p:spPr>
          <a:xfrm>
            <a:off x="1143000" y="3657600"/>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06</a:t>
            </a:r>
          </a:p>
        </p:txBody>
      </p:sp>
      <p:sp>
        <p:nvSpPr>
          <p:cNvPr id="123" name="revision-118"/>
          <p:cNvSpPr txBox="1"/>
          <p:nvPr/>
        </p:nvSpPr>
        <p:spPr>
          <a:xfrm>
            <a:off x="1971675" y="3657600"/>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CAN/V2X Related Work</a:t>
            </a:r>
          </a:p>
        </p:txBody>
      </p:sp>
      <p:sp>
        <p:nvSpPr>
          <p:cNvPr id="124" name="revision-119"/>
          <p:cNvSpPr txBox="1"/>
          <p:nvPr/>
        </p:nvSpPr>
        <p:spPr>
          <a:xfrm>
            <a:off x="1143000" y="4200525"/>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07</a:t>
            </a:r>
          </a:p>
        </p:txBody>
      </p:sp>
      <p:sp>
        <p:nvSpPr>
          <p:cNvPr id="125" name="revision-120"/>
          <p:cNvSpPr txBox="1"/>
          <p:nvPr/>
        </p:nvSpPr>
        <p:spPr>
          <a:xfrm>
            <a:off x="1971675" y="4200525"/>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Scope and Feasibility</a:t>
            </a:r>
          </a:p>
        </p:txBody>
      </p:sp>
      <p:sp>
        <p:nvSpPr>
          <p:cNvPr id="126" name="revision-121"/>
          <p:cNvSpPr txBox="1"/>
          <p:nvPr/>
        </p:nvSpPr>
        <p:spPr>
          <a:xfrm>
            <a:off x="1143000" y="4743450"/>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08</a:t>
            </a:r>
          </a:p>
        </p:txBody>
      </p:sp>
      <p:sp>
        <p:nvSpPr>
          <p:cNvPr id="127" name="revision-122"/>
          <p:cNvSpPr txBox="1"/>
          <p:nvPr/>
        </p:nvSpPr>
        <p:spPr>
          <a:xfrm>
            <a:off x="1971675" y="4743450"/>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CAN/V2X Applications</a:t>
            </a:r>
          </a:p>
        </p:txBody>
      </p:sp>
      <p:sp>
        <p:nvSpPr>
          <p:cNvPr id="128" name="revision-123"/>
          <p:cNvSpPr txBox="1"/>
          <p:nvPr/>
        </p:nvSpPr>
        <p:spPr>
          <a:xfrm>
            <a:off x="1143000" y="5286375"/>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09</a:t>
            </a:r>
          </a:p>
        </p:txBody>
      </p:sp>
      <p:sp>
        <p:nvSpPr>
          <p:cNvPr id="129" name="revision-124"/>
          <p:cNvSpPr txBox="1"/>
          <p:nvPr/>
        </p:nvSpPr>
        <p:spPr>
          <a:xfrm>
            <a:off x="1971675" y="5286375"/>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Implementation Challenges</a:t>
            </a:r>
          </a:p>
        </p:txBody>
      </p:sp>
      <p:sp>
        <p:nvSpPr>
          <p:cNvPr id="130" name="revision-125"/>
          <p:cNvSpPr txBox="1"/>
          <p:nvPr/>
        </p:nvSpPr>
        <p:spPr>
          <a:xfrm>
            <a:off x="1143000" y="5829300"/>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10</a:t>
            </a:r>
          </a:p>
        </p:txBody>
      </p:sp>
      <p:sp>
        <p:nvSpPr>
          <p:cNvPr id="131" name="revision-126"/>
          <p:cNvSpPr txBox="1"/>
          <p:nvPr/>
        </p:nvSpPr>
        <p:spPr>
          <a:xfrm>
            <a:off x="1971675" y="5829300"/>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Background</a:t>
            </a:r>
          </a:p>
        </p:txBody>
      </p:sp>
      <p:sp>
        <p:nvSpPr>
          <p:cNvPr id="132" name="revision-127"/>
          <p:cNvSpPr txBox="1"/>
          <p:nvPr/>
        </p:nvSpPr>
        <p:spPr>
          <a:xfrm>
            <a:off x="6381750" y="2028825"/>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11</a:t>
            </a:r>
          </a:p>
        </p:txBody>
      </p:sp>
      <p:sp>
        <p:nvSpPr>
          <p:cNvPr id="133" name="revision-128"/>
          <p:cNvSpPr txBox="1"/>
          <p:nvPr/>
        </p:nvSpPr>
        <p:spPr>
          <a:xfrm>
            <a:off x="7210425" y="2028825"/>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Research Gap</a:t>
            </a:r>
          </a:p>
        </p:txBody>
      </p:sp>
      <p:sp>
        <p:nvSpPr>
          <p:cNvPr id="134" name="revision-129"/>
          <p:cNvSpPr txBox="1"/>
          <p:nvPr/>
        </p:nvSpPr>
        <p:spPr>
          <a:xfrm>
            <a:off x="6381750" y="2571750"/>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12–16</a:t>
            </a:r>
          </a:p>
        </p:txBody>
      </p:sp>
      <p:sp>
        <p:nvSpPr>
          <p:cNvPr id="135" name="revision-130"/>
          <p:cNvSpPr txBox="1"/>
          <p:nvPr/>
        </p:nvSpPr>
        <p:spPr>
          <a:xfrm>
            <a:off x="7210425" y="2571750"/>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GhostTrace Research and Evaluation</a:t>
            </a:r>
          </a:p>
        </p:txBody>
      </p:sp>
      <p:sp>
        <p:nvSpPr>
          <p:cNvPr id="136" name="revision-131"/>
          <p:cNvSpPr txBox="1"/>
          <p:nvPr/>
        </p:nvSpPr>
        <p:spPr>
          <a:xfrm>
            <a:off x="6381750" y="3114675"/>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17</a:t>
            </a:r>
          </a:p>
        </p:txBody>
      </p:sp>
      <p:sp>
        <p:nvSpPr>
          <p:cNvPr id="137" name="revision-132"/>
          <p:cNvSpPr txBox="1"/>
          <p:nvPr/>
        </p:nvSpPr>
        <p:spPr>
          <a:xfrm>
            <a:off x="7210425" y="3114675"/>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Bounded AI Investigation</a:t>
            </a:r>
          </a:p>
        </p:txBody>
      </p:sp>
      <p:sp>
        <p:nvSpPr>
          <p:cNvPr id="138" name="revision-133"/>
          <p:cNvSpPr txBox="1"/>
          <p:nvPr/>
        </p:nvSpPr>
        <p:spPr>
          <a:xfrm>
            <a:off x="6381750" y="3657600"/>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18</a:t>
            </a:r>
          </a:p>
        </p:txBody>
      </p:sp>
      <p:sp>
        <p:nvSpPr>
          <p:cNvPr id="139" name="revision-134"/>
          <p:cNvSpPr txBox="1"/>
          <p:nvPr/>
        </p:nvSpPr>
        <p:spPr>
          <a:xfrm>
            <a:off x="7210425" y="3657600"/>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Datasets and Evaluation</a:t>
            </a:r>
          </a:p>
        </p:txBody>
      </p:sp>
      <p:sp>
        <p:nvSpPr>
          <p:cNvPr id="140" name="revision-135"/>
          <p:cNvSpPr txBox="1"/>
          <p:nvPr/>
        </p:nvSpPr>
        <p:spPr>
          <a:xfrm>
            <a:off x="6381750" y="4200525"/>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19</a:t>
            </a:r>
          </a:p>
        </p:txBody>
      </p:sp>
      <p:sp>
        <p:nvSpPr>
          <p:cNvPr id="141" name="revision-136"/>
          <p:cNvSpPr txBox="1"/>
          <p:nvPr/>
        </p:nvSpPr>
        <p:spPr>
          <a:xfrm>
            <a:off x="7210425" y="4200525"/>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Expected Deliverables</a:t>
            </a:r>
          </a:p>
        </p:txBody>
      </p:sp>
      <p:sp>
        <p:nvSpPr>
          <p:cNvPr id="142" name="revision-137"/>
          <p:cNvSpPr txBox="1"/>
          <p:nvPr/>
        </p:nvSpPr>
        <p:spPr>
          <a:xfrm>
            <a:off x="6381750" y="4743450"/>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20</a:t>
            </a:r>
          </a:p>
        </p:txBody>
      </p:sp>
      <p:sp>
        <p:nvSpPr>
          <p:cNvPr id="143" name="revision-138"/>
          <p:cNvSpPr txBox="1"/>
          <p:nvPr/>
        </p:nvSpPr>
        <p:spPr>
          <a:xfrm>
            <a:off x="7210425" y="4743450"/>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Timeline and Team Responsibilities</a:t>
            </a:r>
          </a:p>
        </p:txBody>
      </p:sp>
      <p:sp>
        <p:nvSpPr>
          <p:cNvPr id="144" name="revision-139"/>
          <p:cNvSpPr txBox="1"/>
          <p:nvPr/>
        </p:nvSpPr>
        <p:spPr>
          <a:xfrm>
            <a:off x="6381750" y="5286375"/>
            <a:ext cx="7429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21–22</a:t>
            </a:r>
          </a:p>
        </p:txBody>
      </p:sp>
      <p:sp>
        <p:nvSpPr>
          <p:cNvPr id="145" name="revision-140"/>
          <p:cNvSpPr txBox="1"/>
          <p:nvPr/>
        </p:nvSpPr>
        <p:spPr>
          <a:xfrm>
            <a:off x="7210425" y="5286375"/>
            <a:ext cx="3981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References</a:t>
            </a:r>
          </a:p>
        </p:txBody>
      </p:sp>
      <p:sp>
        <p:nvSpPr>
          <p:cNvPr id="146"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02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revision-1"/>
          <p:cNvSpPr txBox="1"/>
          <p:nvPr/>
        </p:nvSpPr>
        <p:spPr>
          <a:xfrm>
            <a:off x="857250" y="1123950"/>
            <a:ext cx="98107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Problem Statement</a:t>
            </a:r>
          </a:p>
        </p:txBody>
      </p:sp>
      <p:sp>
        <p:nvSpPr>
          <p:cNvPr id="151" name="Rectangle"/>
          <p:cNvSpPr/>
          <p:nvPr/>
        </p:nvSpPr>
        <p:spPr>
          <a:xfrm>
            <a:off x="3048000" y="1581150"/>
            <a:ext cx="7620000" cy="36195"/>
          </a:xfrm>
          <a:prstGeom prst="rect">
            <a:avLst/>
          </a:prstGeom>
          <a:solidFill>
            <a:srgbClr val="33CCCC"/>
          </a:solidFill>
          <a:ln w="12700">
            <a:miter lim="400000"/>
          </a:ln>
        </p:spPr>
        <p:txBody>
          <a:bodyPr lIns="0" tIns="0" rIns="0" bIns="0"/>
          <a:lstStyle/>
          <a:p>
            <a:pPr>
              <a:defRPr>
                <a:latin typeface="+mn-lt"/>
                <a:ea typeface="+mn-ea"/>
                <a:cs typeface="+mn-cs"/>
                <a:sym typeface="Helvetica"/>
              </a:defRPr>
            </a:pPr>
          </a:p>
        </p:txBody>
      </p:sp>
      <p:sp>
        <p:nvSpPr>
          <p:cNvPr id="152" name="revision-2"/>
          <p:cNvSpPr txBox="1"/>
          <p:nvPr/>
        </p:nvSpPr>
        <p:spPr>
          <a:xfrm>
            <a:off x="1143000" y="1847850"/>
            <a:ext cx="9906000" cy="762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Modern connected vehicles use Controller Area Network (CAN) internally and Vehicle-to-Everything (V2X) for external communication. Software faults, legitimate operational changes and malicious attacks can produce similar abnormal behaviour, complicating identification and investigation.</a:t>
            </a:r>
          </a:p>
        </p:txBody>
      </p:sp>
      <p:sp>
        <p:nvSpPr>
          <p:cNvPr id="153" name="revision-3"/>
          <p:cNvSpPr txBox="1"/>
          <p:nvPr/>
        </p:nvSpPr>
        <p:spPr>
          <a:xfrm>
            <a:off x="1143000" y="2867025"/>
            <a:ext cx="9906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33CC"/>
                </a:solidFill>
                <a:latin typeface="Trebuchet MS"/>
                <a:ea typeface="Trebuchet MS"/>
                <a:cs typeface="Trebuchet MS"/>
                <a:sym typeface="Trebuchet MS"/>
              </a:defRPr>
            </a:lvl1pPr>
          </a:lstStyle>
          <a:p>
            <a:pPr/>
            <a:r>
              <a:t>1. Difficulty Identifying the Actual Cause</a:t>
            </a:r>
          </a:p>
        </p:txBody>
      </p:sp>
      <p:sp>
        <p:nvSpPr>
          <p:cNvPr id="154" name="revision-4"/>
          <p:cNvSpPr txBox="1"/>
          <p:nvPr/>
        </p:nvSpPr>
        <p:spPr>
          <a:xfrm>
            <a:off x="1143000" y="3209925"/>
            <a:ext cx="99060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20345A"/>
                </a:solidFill>
                <a:latin typeface="Trebuchet MS"/>
                <a:ea typeface="Trebuchet MS"/>
                <a:cs typeface="Trebuchet MS"/>
                <a:sym typeface="Trebuchet MS"/>
              </a:defRPr>
            </a:pPr>
            <a:r>
              <a:t>CAN injection, falsified V2X messages and legitimate software changes can look alike.</a:t>
            </a:r>
          </a:p>
          <a:p>
            <a:pPr>
              <a:defRPr sz="1600">
                <a:solidFill>
                  <a:srgbClr val="20345A"/>
                </a:solidFill>
                <a:latin typeface="Trebuchet MS"/>
                <a:ea typeface="Trebuchet MS"/>
                <a:cs typeface="Trebuchet MS"/>
                <a:sym typeface="Trebuchet MS"/>
              </a:defRPr>
            </a:pPr>
            <a:r>
              <a:t>An unusual event alone does not establish its underlying cause.</a:t>
            </a:r>
          </a:p>
        </p:txBody>
      </p:sp>
      <p:sp>
        <p:nvSpPr>
          <p:cNvPr id="155" name="revision-5"/>
          <p:cNvSpPr txBox="1"/>
          <p:nvPr/>
        </p:nvSpPr>
        <p:spPr>
          <a:xfrm>
            <a:off x="1143000" y="3810000"/>
            <a:ext cx="9906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33CC"/>
                </a:solidFill>
                <a:latin typeface="Trebuchet MS"/>
                <a:ea typeface="Trebuchet MS"/>
                <a:cs typeface="Trebuchet MS"/>
                <a:sym typeface="Trebuchet MS"/>
              </a:defRPr>
            </a:lvl1pPr>
          </a:lstStyle>
          <a:p>
            <a:pPr/>
            <a:r>
              <a:t>2. Unreliable and Conflicting Vehicle Information</a:t>
            </a:r>
          </a:p>
        </p:txBody>
      </p:sp>
      <p:sp>
        <p:nvSpPr>
          <p:cNvPr id="156" name="revision-6"/>
          <p:cNvSpPr txBox="1"/>
          <p:nvPr/>
        </p:nvSpPr>
        <p:spPr>
          <a:xfrm>
            <a:off x="1143000" y="4152900"/>
            <a:ext cx="99060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20345A"/>
                </a:solidFill>
                <a:latin typeface="Trebuchet MS"/>
                <a:ea typeface="Trebuchet MS"/>
                <a:cs typeface="Trebuchet MS"/>
                <a:sym typeface="Trebuchet MS"/>
              </a:defRPr>
            </a:pPr>
            <a:r>
              <a:t>Compromised sources may send misleading reports. Missing, delayed or conflicting</a:t>
            </a:r>
          </a:p>
          <a:p>
            <a:pPr>
              <a:defRPr sz="1600">
                <a:solidFill>
                  <a:srgbClr val="20345A"/>
                </a:solidFill>
                <a:latin typeface="Trebuchet MS"/>
                <a:ea typeface="Trebuchet MS"/>
                <a:cs typeface="Trebuchet MS"/>
                <a:sym typeface="Trebuchet MS"/>
              </a:defRPr>
            </a:pPr>
            <a:r>
              <a:t>CAN/V2X observations weaken security assessments and fleet corroboration.</a:t>
            </a:r>
          </a:p>
        </p:txBody>
      </p:sp>
      <p:sp>
        <p:nvSpPr>
          <p:cNvPr id="157" name="revision-7"/>
          <p:cNvSpPr txBox="1"/>
          <p:nvPr/>
        </p:nvSpPr>
        <p:spPr>
          <a:xfrm>
            <a:off x="1143000" y="4752975"/>
            <a:ext cx="9906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33CC"/>
                </a:solidFill>
                <a:latin typeface="Trebuchet MS"/>
                <a:ea typeface="Trebuchet MS"/>
                <a:cs typeface="Trebuchet MS"/>
                <a:sym typeface="Trebuchet MS"/>
              </a:defRPr>
            </a:lvl1pPr>
          </a:lstStyle>
          <a:p>
            <a:pPr/>
            <a:r>
              <a:t>3. Lack of Independently Verifiable Evidence</a:t>
            </a:r>
          </a:p>
        </p:txBody>
      </p:sp>
      <p:sp>
        <p:nvSpPr>
          <p:cNvPr id="158" name="revision-8"/>
          <p:cNvSpPr txBox="1"/>
          <p:nvPr/>
        </p:nvSpPr>
        <p:spPr>
          <a:xfrm>
            <a:off x="1143000" y="5095875"/>
            <a:ext cx="99060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20345A"/>
                </a:solidFill>
                <a:latin typeface="Trebuchet MS"/>
                <a:ea typeface="Trebuchet MS"/>
                <a:cs typeface="Trebuchet MS"/>
                <a:sym typeface="Trebuchet MS"/>
              </a:defRPr>
            </a:pPr>
            <a:r>
              <a:t>Records may be altered, deleted or unavailable during an incident or outage,</a:t>
            </a:r>
          </a:p>
          <a:p>
            <a:pPr>
              <a:defRPr sz="1600">
                <a:solidFill>
                  <a:srgbClr val="20345A"/>
                </a:solidFill>
                <a:latin typeface="Trebuchet MS"/>
                <a:ea typeface="Trebuchet MS"/>
                <a:cs typeface="Trebuchet MS"/>
                <a:sym typeface="Trebuchet MS"/>
              </a:defRPr>
            </a:pPr>
            <a:r>
              <a:t>making forensic reconstruction and verification difficult.</a:t>
            </a:r>
          </a:p>
        </p:txBody>
      </p:sp>
      <p:sp>
        <p:nvSpPr>
          <p:cNvPr id="159" name="revision-9"/>
          <p:cNvSpPr txBox="1"/>
          <p:nvPr/>
        </p:nvSpPr>
        <p:spPr>
          <a:xfrm>
            <a:off x="1143000" y="5715000"/>
            <a:ext cx="99060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087E8B"/>
                </a:solidFill>
                <a:latin typeface="Trebuchet MS"/>
                <a:ea typeface="Trebuchet MS"/>
                <a:cs typeface="Trebuchet MS"/>
                <a:sym typeface="Trebuchet MS"/>
              </a:defRPr>
            </a:lvl1pPr>
          </a:lstStyle>
          <a:p>
            <a:pPr/>
            <a:r>
              <a:t>Core Research Problem</a:t>
            </a:r>
          </a:p>
        </p:txBody>
      </p:sp>
      <p:sp>
        <p:nvSpPr>
          <p:cNvPr id="160" name="revision-10"/>
          <p:cNvSpPr txBox="1"/>
          <p:nvPr/>
        </p:nvSpPr>
        <p:spPr>
          <a:xfrm>
            <a:off x="1143000" y="6029325"/>
            <a:ext cx="99060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0345A"/>
                </a:solidFill>
                <a:latin typeface="Trebuchet MS"/>
                <a:ea typeface="Trebuchet MS"/>
                <a:cs typeface="Trebuchet MS"/>
                <a:sym typeface="Trebuchet MS"/>
              </a:defRPr>
            </a:pPr>
            <a:r>
              <a:t>How can connected vehicles distinguish benign abnormalities from malicious attacks,</a:t>
            </a:r>
          </a:p>
          <a:p>
            <a:pPr>
              <a:defRPr b="1" sz="1600">
                <a:solidFill>
                  <a:srgbClr val="20345A"/>
                </a:solidFill>
                <a:latin typeface="Trebuchet MS"/>
                <a:ea typeface="Trebuchet MS"/>
                <a:cs typeface="Trebuchet MS"/>
                <a:sym typeface="Trebuchet MS"/>
              </a:defRPr>
            </a:pPr>
            <a:r>
              <a:t>identify supported causes and preserve independently verifiable evidence for investigation?</a:t>
            </a:r>
          </a:p>
        </p:txBody>
      </p:sp>
      <p:sp>
        <p:nvSpPr>
          <p:cNvPr id="161"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03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5" name="image2.png" descr="image2.png"/>
          <p:cNvPicPr>
            <a:picLocks noChangeAspect="1"/>
          </p:cNvPicPr>
          <p:nvPr/>
        </p:nvPicPr>
        <p:blipFill>
          <a:blip r:embed="rId3">
            <a:extLst/>
          </a:blip>
          <a:stretch>
            <a:fillRect/>
          </a:stretch>
        </p:blipFill>
        <p:spPr>
          <a:xfrm>
            <a:off x="27948" y="28575"/>
            <a:ext cx="12136104" cy="6480910"/>
          </a:xfrm>
          <a:prstGeom prst="rect">
            <a:avLst/>
          </a:prstGeom>
          <a:ln w="12700">
            <a:miter lim="400000"/>
          </a:ln>
        </p:spPr>
      </p:pic>
      <p:sp>
        <p:nvSpPr>
          <p:cNvPr id="166"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04</a:t>
            </a:r>
          </a:p>
        </p:txBody>
      </p:sp>
      <p:sp>
        <p:nvSpPr>
          <p:cNvPr id="167" name="revision-144"/>
          <p:cNvSpPr txBox="1"/>
          <p:nvPr/>
        </p:nvSpPr>
        <p:spPr>
          <a:xfrm>
            <a:off x="381000" y="6515100"/>
            <a:ext cx="9810750" cy="190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3627A"/>
                </a:solidFill>
                <a:latin typeface="Trebuchet MS"/>
                <a:ea typeface="Trebuchet MS"/>
                <a:cs typeface="Trebuchet MS"/>
                <a:sym typeface="Trebuchet MS"/>
              </a:defRPr>
            </a:lvl1pPr>
          </a:lstStyle>
          <a:p>
            <a:pPr/>
            <a:r>
              <a:t>Concept illustration: planned CAN bench hardware and laptop-simulated V2X.</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revision-text-1"/>
          <p:cNvSpPr txBox="1"/>
          <p:nvPr/>
        </p:nvSpPr>
        <p:spPr>
          <a:xfrm>
            <a:off x="1524000" y="1165224"/>
            <a:ext cx="91440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2400">
                <a:solidFill>
                  <a:srgbClr val="FF0000"/>
                </a:solidFill>
                <a:latin typeface="Trebuchet MS"/>
                <a:ea typeface="Trebuchet MS"/>
                <a:cs typeface="Trebuchet MS"/>
                <a:sym typeface="Trebuchet MS"/>
              </a:defRPr>
            </a:lvl1pPr>
          </a:lstStyle>
          <a:p>
            <a:pPr/>
            <a:r>
              <a:t>Proposed Architecture</a:t>
            </a:r>
          </a:p>
        </p:txBody>
      </p:sp>
      <p:sp>
        <p:nvSpPr>
          <p:cNvPr id="172" name="revision-shape-2"/>
          <p:cNvSpPr/>
          <p:nvPr/>
        </p:nvSpPr>
        <p:spPr>
          <a:xfrm>
            <a:off x="3048000" y="1581150"/>
            <a:ext cx="7620000" cy="28575"/>
          </a:xfrm>
          <a:prstGeom prst="rect">
            <a:avLst/>
          </a:prstGeom>
          <a:solidFill>
            <a:srgbClr val="33CCCC"/>
          </a:solidFill>
          <a:ln w="12700">
            <a:miter lim="400000"/>
          </a:ln>
        </p:spPr>
        <p:txBody>
          <a:bodyPr lIns="0" tIns="0" rIns="0" bIns="0"/>
          <a:lstStyle/>
          <a:p>
            <a:pPr>
              <a:defRPr>
                <a:latin typeface="Calibri"/>
                <a:ea typeface="Calibri"/>
                <a:cs typeface="Calibri"/>
                <a:sym typeface="Calibri"/>
              </a:defRPr>
            </a:pPr>
          </a:p>
        </p:txBody>
      </p:sp>
      <p:sp>
        <p:nvSpPr>
          <p:cNvPr id="173" name="revision-text-4"/>
          <p:cNvSpPr txBox="1"/>
          <p:nvPr/>
        </p:nvSpPr>
        <p:spPr>
          <a:xfrm>
            <a:off x="762000" y="1839912"/>
            <a:ext cx="1076325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20345A"/>
                </a:solidFill>
                <a:latin typeface="Trebuchet MS"/>
                <a:ea typeface="Trebuchet MS"/>
                <a:cs typeface="Trebuchet MS"/>
                <a:sym typeface="Trebuchet MS"/>
              </a:defRPr>
            </a:lvl1pPr>
          </a:lstStyle>
          <a:p>
            <a:pPr/>
            <a:r>
              <a:t>Independent CAN and V2X detection with verified evidence for investigation</a:t>
            </a:r>
          </a:p>
        </p:txBody>
      </p:sp>
      <p:sp>
        <p:nvSpPr>
          <p:cNvPr id="174" name="revision-shape-5"/>
          <p:cNvSpPr/>
          <p:nvPr/>
        </p:nvSpPr>
        <p:spPr>
          <a:xfrm>
            <a:off x="666750" y="2638425"/>
            <a:ext cx="7010400" cy="2228850"/>
          </a:xfrm>
          <a:prstGeom prst="roundRect">
            <a:avLst>
              <a:gd name="adj" fmla="val 3419"/>
            </a:avLst>
          </a:prstGeom>
          <a:ln>
            <a:solidFill>
              <a:srgbClr val="C9D9EA"/>
            </a:solidFill>
          </a:ln>
        </p:spPr>
        <p:txBody>
          <a:bodyPr lIns="0" tIns="0" rIns="0" bIns="0"/>
          <a:lstStyle/>
          <a:p>
            <a:pPr>
              <a:defRPr>
                <a:latin typeface="Calibri"/>
                <a:ea typeface="Calibri"/>
                <a:cs typeface="Calibri"/>
                <a:sym typeface="Calibri"/>
              </a:defRPr>
            </a:pPr>
          </a:p>
        </p:txBody>
      </p:sp>
      <p:sp>
        <p:nvSpPr>
          <p:cNvPr id="175" name="revision-shape-6"/>
          <p:cNvSpPr/>
          <p:nvPr/>
        </p:nvSpPr>
        <p:spPr>
          <a:xfrm>
            <a:off x="8020050" y="2638425"/>
            <a:ext cx="3524250" cy="2228850"/>
          </a:xfrm>
          <a:prstGeom prst="roundRect">
            <a:avLst>
              <a:gd name="adj" fmla="val 3419"/>
            </a:avLst>
          </a:prstGeom>
          <a:ln>
            <a:solidFill>
              <a:srgbClr val="E5CFAB"/>
            </a:solidFill>
          </a:ln>
        </p:spPr>
        <p:txBody>
          <a:bodyPr lIns="0" tIns="0" rIns="0" bIns="0"/>
          <a:lstStyle/>
          <a:p>
            <a:pPr>
              <a:defRPr>
                <a:latin typeface="Calibri"/>
                <a:ea typeface="Calibri"/>
                <a:cs typeface="Calibri"/>
                <a:sym typeface="Calibri"/>
              </a:defRPr>
            </a:pPr>
          </a:p>
        </p:txBody>
      </p:sp>
      <p:sp>
        <p:nvSpPr>
          <p:cNvPr id="176" name="revision-text-7"/>
          <p:cNvSpPr txBox="1"/>
          <p:nvPr/>
        </p:nvSpPr>
        <p:spPr>
          <a:xfrm>
            <a:off x="819150" y="2716211"/>
            <a:ext cx="3286125"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87CC1"/>
                </a:solidFill>
                <a:latin typeface="Trebuchet MS"/>
                <a:ea typeface="Trebuchet MS"/>
                <a:cs typeface="Trebuchet MS"/>
                <a:sym typeface="Trebuchet MS"/>
              </a:defRPr>
            </a:lvl1pPr>
          </a:lstStyle>
          <a:p>
            <a:pPr/>
            <a:r>
              <a:t>VEHICLE EDGE</a:t>
            </a:r>
          </a:p>
        </p:txBody>
      </p:sp>
      <p:sp>
        <p:nvSpPr>
          <p:cNvPr id="177" name="revision-text-8"/>
          <p:cNvSpPr txBox="1"/>
          <p:nvPr/>
        </p:nvSpPr>
        <p:spPr>
          <a:xfrm>
            <a:off x="8191500" y="2716211"/>
            <a:ext cx="314325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A96D16"/>
                </a:solidFill>
                <a:latin typeface="Trebuchet MS"/>
                <a:ea typeface="Trebuchet MS"/>
                <a:cs typeface="Trebuchet MS"/>
                <a:sym typeface="Trebuchet MS"/>
              </a:defRPr>
            </a:lvl1pPr>
          </a:lstStyle>
          <a:p>
            <a:pPr/>
            <a:r>
              <a:t>FLEET CORROBORATION</a:t>
            </a:r>
          </a:p>
        </p:txBody>
      </p:sp>
      <p:sp>
        <p:nvSpPr>
          <p:cNvPr id="178" name="Rounded Rectangle"/>
          <p:cNvSpPr/>
          <p:nvPr/>
        </p:nvSpPr>
        <p:spPr>
          <a:xfrm>
            <a:off x="819150" y="3038475"/>
            <a:ext cx="1247775" cy="638175"/>
          </a:xfrm>
          <a:prstGeom prst="roundRect">
            <a:avLst>
              <a:gd name="adj" fmla="val 11940"/>
            </a:avLst>
          </a:prstGeom>
          <a:solidFill>
            <a:srgbClr val="E8F2FF"/>
          </a:solidFill>
          <a:ln w="14288">
            <a:solidFill>
              <a:srgbClr val="287CC1"/>
            </a:solidFill>
          </a:ln>
        </p:spPr>
        <p:txBody>
          <a:bodyPr lIns="0" tIns="0" rIns="0" bIns="0" anchor="ctr"/>
          <a:lstStyle/>
          <a:p>
            <a:pPr algn="ctr">
              <a:defRPr b="1" sz="1600">
                <a:solidFill>
                  <a:srgbClr val="287CC1"/>
                </a:solidFill>
                <a:latin typeface="Trebuchet MS"/>
                <a:ea typeface="Trebuchet MS"/>
                <a:cs typeface="Trebuchet MS"/>
                <a:sym typeface="Trebuchet MS"/>
              </a:defRPr>
            </a:pPr>
          </a:p>
        </p:txBody>
      </p:sp>
      <p:sp>
        <p:nvSpPr>
          <p:cNvPr id="179" name="CAN traffic"/>
          <p:cNvSpPr txBox="1"/>
          <p:nvPr/>
        </p:nvSpPr>
        <p:spPr>
          <a:xfrm>
            <a:off x="877185" y="3198812"/>
            <a:ext cx="1131705" cy="3175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ctr">
              <a:defRPr b="1" sz="1600">
                <a:solidFill>
                  <a:srgbClr val="287CC1"/>
                </a:solidFill>
                <a:latin typeface="Trebuchet MS"/>
                <a:ea typeface="Trebuchet MS"/>
                <a:cs typeface="Trebuchet MS"/>
                <a:sym typeface="Trebuchet MS"/>
              </a:defRPr>
            </a:lvl1pPr>
          </a:lstStyle>
          <a:p>
            <a:pPr/>
            <a:r>
              <a:t>CAN traffic</a:t>
            </a:r>
          </a:p>
        </p:txBody>
      </p:sp>
      <p:sp>
        <p:nvSpPr>
          <p:cNvPr id="180" name="revision-shape-10"/>
          <p:cNvSpPr/>
          <p:nvPr/>
        </p:nvSpPr>
        <p:spPr>
          <a:xfrm>
            <a:off x="2390775" y="3000375"/>
            <a:ext cx="1962150" cy="733425"/>
          </a:xfrm>
          <a:prstGeom prst="roundRect">
            <a:avLst>
              <a:gd name="adj" fmla="val 10390"/>
            </a:avLst>
          </a:prstGeom>
          <a:solidFill>
            <a:srgbClr val="E8F2FF"/>
          </a:solidFill>
          <a:ln w="14288">
            <a:solidFill>
              <a:srgbClr val="287CC1"/>
            </a:solidFill>
          </a:ln>
        </p:spPr>
        <p:txBody>
          <a:bodyPr lIns="0" tIns="0" rIns="0" bIns="0"/>
          <a:lstStyle/>
          <a:p>
            <a:pPr>
              <a:defRPr>
                <a:latin typeface="Calibri"/>
                <a:ea typeface="Calibri"/>
                <a:cs typeface="Calibri"/>
                <a:sym typeface="Calibri"/>
              </a:defRPr>
            </a:pPr>
          </a:p>
        </p:txBody>
      </p:sp>
      <p:sp>
        <p:nvSpPr>
          <p:cNvPr id="181" name="revision-text-11"/>
          <p:cNvSpPr txBox="1"/>
          <p:nvPr/>
        </p:nvSpPr>
        <p:spPr>
          <a:xfrm>
            <a:off x="2476500" y="3108324"/>
            <a:ext cx="179070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287CC1"/>
                </a:solidFill>
                <a:latin typeface="Trebuchet MS"/>
                <a:ea typeface="Trebuchet MS"/>
                <a:cs typeface="Trebuchet MS"/>
                <a:sym typeface="Trebuchet MS"/>
              </a:defRPr>
            </a:lvl1pPr>
          </a:lstStyle>
          <a:p>
            <a:pPr/>
            <a:r>
              <a:t>CAN detector</a:t>
            </a:r>
          </a:p>
        </p:txBody>
      </p:sp>
      <p:sp>
        <p:nvSpPr>
          <p:cNvPr id="182" name="revision-text-12"/>
          <p:cNvSpPr txBox="1"/>
          <p:nvPr/>
        </p:nvSpPr>
        <p:spPr>
          <a:xfrm>
            <a:off x="2476500" y="3448047"/>
            <a:ext cx="1790700"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20345A"/>
                </a:solidFill>
                <a:latin typeface="Trebuchet MS"/>
                <a:ea typeface="Trebuchet MS"/>
                <a:cs typeface="Trebuchet MS"/>
                <a:sym typeface="Trebuchet MS"/>
              </a:defRPr>
            </a:lvl1pPr>
          </a:lstStyle>
          <a:p>
            <a:pPr/>
            <a:r>
              <a:t>Drift + attack evidence</a:t>
            </a:r>
          </a:p>
        </p:txBody>
      </p:sp>
      <p:sp>
        <p:nvSpPr>
          <p:cNvPr id="183" name="Rounded Rectangle"/>
          <p:cNvSpPr/>
          <p:nvPr/>
        </p:nvSpPr>
        <p:spPr>
          <a:xfrm>
            <a:off x="819150" y="4019550"/>
            <a:ext cx="1247775" cy="638175"/>
          </a:xfrm>
          <a:prstGeom prst="roundRect">
            <a:avLst>
              <a:gd name="adj" fmla="val 11940"/>
            </a:avLst>
          </a:prstGeom>
          <a:solidFill>
            <a:srgbClr val="E5F6F4"/>
          </a:solidFill>
          <a:ln w="14288">
            <a:solidFill>
              <a:srgbClr val="008B91"/>
            </a:solidFill>
          </a:ln>
        </p:spPr>
        <p:txBody>
          <a:bodyPr lIns="0" tIns="0" rIns="0" bIns="0" anchor="ctr"/>
          <a:lstStyle/>
          <a:p>
            <a:pPr algn="ctr">
              <a:defRPr b="1" sz="1600">
                <a:solidFill>
                  <a:srgbClr val="008B91"/>
                </a:solidFill>
                <a:latin typeface="Trebuchet MS"/>
                <a:ea typeface="Trebuchet MS"/>
                <a:cs typeface="Trebuchet MS"/>
                <a:sym typeface="Trebuchet MS"/>
              </a:defRPr>
            </a:pPr>
          </a:p>
        </p:txBody>
      </p:sp>
      <p:sp>
        <p:nvSpPr>
          <p:cNvPr id="184" name="V2X traffic"/>
          <p:cNvSpPr txBox="1"/>
          <p:nvPr/>
        </p:nvSpPr>
        <p:spPr>
          <a:xfrm>
            <a:off x="877185" y="4179887"/>
            <a:ext cx="1131705" cy="3175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ctr">
              <a:defRPr b="1" sz="1600">
                <a:solidFill>
                  <a:srgbClr val="008B91"/>
                </a:solidFill>
                <a:latin typeface="Trebuchet MS"/>
                <a:ea typeface="Trebuchet MS"/>
                <a:cs typeface="Trebuchet MS"/>
                <a:sym typeface="Trebuchet MS"/>
              </a:defRPr>
            </a:lvl1pPr>
          </a:lstStyle>
          <a:p>
            <a:pPr/>
            <a:r>
              <a:t>V2X traffic</a:t>
            </a:r>
          </a:p>
        </p:txBody>
      </p:sp>
      <p:sp>
        <p:nvSpPr>
          <p:cNvPr id="185" name="revision-shape-14"/>
          <p:cNvSpPr/>
          <p:nvPr/>
        </p:nvSpPr>
        <p:spPr>
          <a:xfrm>
            <a:off x="2390775" y="3981450"/>
            <a:ext cx="1962150" cy="733425"/>
          </a:xfrm>
          <a:prstGeom prst="roundRect">
            <a:avLst>
              <a:gd name="adj" fmla="val 10390"/>
            </a:avLst>
          </a:prstGeom>
          <a:solidFill>
            <a:srgbClr val="E5F6F4"/>
          </a:solidFill>
          <a:ln w="14288">
            <a:solidFill>
              <a:srgbClr val="008B91"/>
            </a:solidFill>
          </a:ln>
        </p:spPr>
        <p:txBody>
          <a:bodyPr lIns="0" tIns="0" rIns="0" bIns="0"/>
          <a:lstStyle/>
          <a:p>
            <a:pPr>
              <a:defRPr>
                <a:latin typeface="Calibri"/>
                <a:ea typeface="Calibri"/>
                <a:cs typeface="Calibri"/>
                <a:sym typeface="Calibri"/>
              </a:defRPr>
            </a:pPr>
          </a:p>
        </p:txBody>
      </p:sp>
      <p:sp>
        <p:nvSpPr>
          <p:cNvPr id="186" name="revision-text-15"/>
          <p:cNvSpPr txBox="1"/>
          <p:nvPr/>
        </p:nvSpPr>
        <p:spPr>
          <a:xfrm>
            <a:off x="2476500" y="4089397"/>
            <a:ext cx="179070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008B91"/>
                </a:solidFill>
                <a:latin typeface="Trebuchet MS"/>
                <a:ea typeface="Trebuchet MS"/>
                <a:cs typeface="Trebuchet MS"/>
                <a:sym typeface="Trebuchet MS"/>
              </a:defRPr>
            </a:lvl1pPr>
          </a:lstStyle>
          <a:p>
            <a:pPr/>
            <a:r>
              <a:t>V2X detector</a:t>
            </a:r>
          </a:p>
        </p:txBody>
      </p:sp>
      <p:sp>
        <p:nvSpPr>
          <p:cNvPr id="187" name="revision-text-16"/>
          <p:cNvSpPr txBox="1"/>
          <p:nvPr/>
        </p:nvSpPr>
        <p:spPr>
          <a:xfrm>
            <a:off x="2476500" y="4429122"/>
            <a:ext cx="1790700"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300">
                <a:solidFill>
                  <a:srgbClr val="20345A"/>
                </a:solidFill>
                <a:latin typeface="Trebuchet MS"/>
                <a:ea typeface="Trebuchet MS"/>
                <a:cs typeface="Trebuchet MS"/>
                <a:sym typeface="Trebuchet MS"/>
              </a:defRPr>
            </a:lvl1pPr>
          </a:lstStyle>
          <a:p>
            <a:pPr/>
            <a:r>
              <a:t>Drift + attack evidence</a:t>
            </a:r>
          </a:p>
        </p:txBody>
      </p:sp>
      <p:sp>
        <p:nvSpPr>
          <p:cNvPr id="188" name="revision-shape-17"/>
          <p:cNvSpPr/>
          <p:nvPr/>
        </p:nvSpPr>
        <p:spPr>
          <a:xfrm>
            <a:off x="4810125" y="3343275"/>
            <a:ext cx="2590800" cy="1057275"/>
          </a:xfrm>
          <a:prstGeom prst="roundRect">
            <a:avLst>
              <a:gd name="adj" fmla="val 7207"/>
            </a:avLst>
          </a:prstGeom>
          <a:solidFill>
            <a:srgbClr val="F0EAFB"/>
          </a:solidFill>
          <a:ln w="14288">
            <a:solidFill>
              <a:srgbClr val="7850B7"/>
            </a:solidFill>
          </a:ln>
        </p:spPr>
        <p:txBody>
          <a:bodyPr lIns="0" tIns="0" rIns="0" bIns="0"/>
          <a:lstStyle/>
          <a:p>
            <a:pPr>
              <a:defRPr>
                <a:latin typeface="Calibri"/>
                <a:ea typeface="Calibri"/>
                <a:cs typeface="Calibri"/>
                <a:sym typeface="Calibri"/>
              </a:defRPr>
            </a:pPr>
          </a:p>
        </p:txBody>
      </p:sp>
      <p:sp>
        <p:nvSpPr>
          <p:cNvPr id="189" name="revision-text-18"/>
          <p:cNvSpPr txBox="1"/>
          <p:nvPr/>
        </p:nvSpPr>
        <p:spPr>
          <a:xfrm>
            <a:off x="4895850" y="3438522"/>
            <a:ext cx="241935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7850B7"/>
                </a:solidFill>
                <a:latin typeface="Trebuchet MS"/>
                <a:ea typeface="Trebuchet MS"/>
                <a:cs typeface="Trebuchet MS"/>
                <a:sym typeface="Trebuchet MS"/>
              </a:defRPr>
            </a:lvl1pPr>
          </a:lstStyle>
          <a:p>
            <a:pPr/>
            <a:r>
              <a:t>Local attribution</a:t>
            </a:r>
          </a:p>
        </p:txBody>
      </p:sp>
      <p:sp>
        <p:nvSpPr>
          <p:cNvPr id="190" name="revision-text-19"/>
          <p:cNvSpPr txBox="1"/>
          <p:nvPr/>
        </p:nvSpPr>
        <p:spPr>
          <a:xfrm>
            <a:off x="4895850" y="3857623"/>
            <a:ext cx="241935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20345A"/>
                </a:solidFill>
                <a:latin typeface="Trebuchet MS"/>
                <a:ea typeface="Trebuchet MS"/>
                <a:cs typeface="Trebuchet MS"/>
                <a:sym typeface="Trebuchet MS"/>
              </a:defRPr>
            </a:pPr>
            <a:r>
              <a:t>Layer, cause and confidence</a:t>
            </a:r>
          </a:p>
          <a:p>
            <a:pPr algn="ctr">
              <a:defRPr sz="1300">
                <a:solidFill>
                  <a:srgbClr val="20345A"/>
                </a:solidFill>
                <a:latin typeface="Trebuchet MS"/>
                <a:ea typeface="Trebuchet MS"/>
                <a:cs typeface="Trebuchet MS"/>
                <a:sym typeface="Trebuchet MS"/>
              </a:defRPr>
            </a:pPr>
            <a:r>
              <a:t>Versioned verdict policy</a:t>
            </a:r>
          </a:p>
        </p:txBody>
      </p:sp>
      <p:sp>
        <p:nvSpPr>
          <p:cNvPr id="191" name="revision-shape-23"/>
          <p:cNvSpPr/>
          <p:nvPr/>
        </p:nvSpPr>
        <p:spPr>
          <a:xfrm>
            <a:off x="8210550" y="3000375"/>
            <a:ext cx="3143250" cy="923925"/>
          </a:xfrm>
          <a:prstGeom prst="roundRect">
            <a:avLst>
              <a:gd name="adj" fmla="val 8247"/>
            </a:avLst>
          </a:prstGeom>
          <a:solidFill>
            <a:srgbClr val="FFF3DC"/>
          </a:solidFill>
          <a:ln w="14288">
            <a:solidFill>
              <a:srgbClr val="A96D16"/>
            </a:solidFill>
          </a:ln>
        </p:spPr>
        <p:txBody>
          <a:bodyPr lIns="0" tIns="0" rIns="0" bIns="0"/>
          <a:lstStyle/>
          <a:p>
            <a:pPr>
              <a:defRPr>
                <a:latin typeface="Calibri"/>
                <a:ea typeface="Calibri"/>
                <a:cs typeface="Calibri"/>
                <a:sym typeface="Calibri"/>
              </a:defRPr>
            </a:pPr>
          </a:p>
        </p:txBody>
      </p:sp>
      <p:sp>
        <p:nvSpPr>
          <p:cNvPr id="192" name="revision-text-24"/>
          <p:cNvSpPr txBox="1"/>
          <p:nvPr/>
        </p:nvSpPr>
        <p:spPr>
          <a:xfrm>
            <a:off x="8296275" y="3101974"/>
            <a:ext cx="29718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A96D16"/>
                </a:solidFill>
                <a:latin typeface="Trebuchet MS"/>
                <a:ea typeface="Trebuchet MS"/>
                <a:cs typeface="Trebuchet MS"/>
                <a:sym typeface="Trebuchet MS"/>
              </a:defRPr>
            </a:lvl1pPr>
          </a:lstStyle>
          <a:p>
            <a:pPr/>
            <a:r>
              <a:t>Signed fleet verdicts</a:t>
            </a:r>
          </a:p>
        </p:txBody>
      </p:sp>
      <p:sp>
        <p:nvSpPr>
          <p:cNvPr id="193" name="revision-text-25"/>
          <p:cNvSpPr txBox="1"/>
          <p:nvPr/>
        </p:nvSpPr>
        <p:spPr>
          <a:xfrm>
            <a:off x="8296275" y="3448048"/>
            <a:ext cx="297180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20345A"/>
                </a:solidFill>
                <a:latin typeface="Trebuchet MS"/>
                <a:ea typeface="Trebuchet MS"/>
                <a:cs typeface="Trebuchet MS"/>
                <a:sym typeface="Trebuchet MS"/>
              </a:defRPr>
            </a:pPr>
            <a:r>
              <a:t>Verdict, confidence + metadata</a:t>
            </a:r>
          </a:p>
          <a:p>
            <a:pPr algn="ctr">
              <a:defRPr sz="1300">
                <a:solidFill>
                  <a:srgbClr val="20345A"/>
                </a:solidFill>
                <a:latin typeface="Trebuchet MS"/>
                <a:ea typeface="Trebuchet MS"/>
                <a:cs typeface="Trebuchet MS"/>
                <a:sym typeface="Trebuchet MS"/>
              </a:defRPr>
            </a:pPr>
            <a:r>
              <a:t>3 of 4 matching votes required</a:t>
            </a:r>
          </a:p>
        </p:txBody>
      </p:sp>
      <p:sp>
        <p:nvSpPr>
          <p:cNvPr id="194" name="Rounded Rectangle"/>
          <p:cNvSpPr/>
          <p:nvPr/>
        </p:nvSpPr>
        <p:spPr>
          <a:xfrm>
            <a:off x="8153400" y="4229100"/>
            <a:ext cx="1571625" cy="476250"/>
          </a:xfrm>
          <a:prstGeom prst="roundRect">
            <a:avLst>
              <a:gd name="adj" fmla="val 16000"/>
            </a:avLst>
          </a:prstGeom>
          <a:solidFill>
            <a:srgbClr val="EAF6EF"/>
          </a:solidFill>
          <a:ln w="14288">
            <a:solidFill>
              <a:srgbClr val="258462"/>
            </a:solidFill>
          </a:ln>
        </p:spPr>
        <p:txBody>
          <a:bodyPr lIns="0" tIns="0" rIns="0" bIns="0" anchor="ctr"/>
          <a:lstStyle/>
          <a:p>
            <a:pPr algn="ctr">
              <a:defRPr b="1" sz="1500">
                <a:solidFill>
                  <a:srgbClr val="258462"/>
                </a:solidFill>
                <a:latin typeface="Trebuchet MS"/>
                <a:ea typeface="Trebuchet MS"/>
                <a:cs typeface="Trebuchet MS"/>
                <a:sym typeface="Trebuchet MS"/>
              </a:defRPr>
            </a:pPr>
          </a:p>
        </p:txBody>
      </p:sp>
      <p:sp>
        <p:nvSpPr>
          <p:cNvPr id="195" name="Supported"/>
          <p:cNvSpPr txBox="1"/>
          <p:nvPr/>
        </p:nvSpPr>
        <p:spPr>
          <a:xfrm>
            <a:off x="8211435" y="4321172"/>
            <a:ext cx="1455556" cy="2921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ctr">
              <a:defRPr b="1" sz="1500">
                <a:solidFill>
                  <a:srgbClr val="258462"/>
                </a:solidFill>
                <a:latin typeface="Trebuchet MS"/>
                <a:ea typeface="Trebuchet MS"/>
                <a:cs typeface="Trebuchet MS"/>
                <a:sym typeface="Trebuchet MS"/>
              </a:defRPr>
            </a:lvl1pPr>
          </a:lstStyle>
          <a:p>
            <a:pPr/>
            <a:r>
              <a:t>Supported</a:t>
            </a:r>
          </a:p>
        </p:txBody>
      </p:sp>
      <p:sp>
        <p:nvSpPr>
          <p:cNvPr id="196" name="Rounded Rectangle"/>
          <p:cNvSpPr/>
          <p:nvPr/>
        </p:nvSpPr>
        <p:spPr>
          <a:xfrm>
            <a:off x="9867900" y="4229100"/>
            <a:ext cx="1552575" cy="476250"/>
          </a:xfrm>
          <a:prstGeom prst="roundRect">
            <a:avLst>
              <a:gd name="adj" fmla="val 16000"/>
            </a:avLst>
          </a:prstGeom>
          <a:solidFill>
            <a:srgbClr val="FFF3DC"/>
          </a:solidFill>
          <a:ln w="14288">
            <a:solidFill>
              <a:srgbClr val="A96D16"/>
            </a:solidFill>
          </a:ln>
        </p:spPr>
        <p:txBody>
          <a:bodyPr lIns="0" tIns="0" rIns="0" bIns="0" anchor="ctr"/>
          <a:lstStyle/>
          <a:p>
            <a:pPr algn="ctr">
              <a:defRPr b="1" sz="1500">
                <a:solidFill>
                  <a:srgbClr val="A96D16"/>
                </a:solidFill>
                <a:latin typeface="Trebuchet MS"/>
                <a:ea typeface="Trebuchet MS"/>
                <a:cs typeface="Trebuchet MS"/>
                <a:sym typeface="Trebuchet MS"/>
              </a:defRPr>
            </a:pPr>
          </a:p>
        </p:txBody>
      </p:sp>
      <p:sp>
        <p:nvSpPr>
          <p:cNvPr id="197" name="Local-only"/>
          <p:cNvSpPr txBox="1"/>
          <p:nvPr/>
        </p:nvSpPr>
        <p:spPr>
          <a:xfrm>
            <a:off x="9925935" y="4321172"/>
            <a:ext cx="1436506" cy="2921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ctr">
              <a:defRPr b="1" sz="1500">
                <a:solidFill>
                  <a:srgbClr val="A96D16"/>
                </a:solidFill>
                <a:latin typeface="Trebuchet MS"/>
                <a:ea typeface="Trebuchet MS"/>
                <a:cs typeface="Trebuchet MS"/>
                <a:sym typeface="Trebuchet MS"/>
              </a:defRPr>
            </a:lvl1pPr>
          </a:lstStyle>
          <a:p>
            <a:pPr/>
            <a:r>
              <a:t>Local-only</a:t>
            </a:r>
          </a:p>
        </p:txBody>
      </p:sp>
      <p:sp>
        <p:nvSpPr>
          <p:cNvPr id="198" name="revision-shape-28"/>
          <p:cNvSpPr/>
          <p:nvPr/>
        </p:nvSpPr>
        <p:spPr>
          <a:xfrm>
            <a:off x="4810125" y="5276850"/>
            <a:ext cx="2590800" cy="895350"/>
          </a:xfrm>
          <a:prstGeom prst="roundRect">
            <a:avLst>
              <a:gd name="adj" fmla="val 8511"/>
            </a:avLst>
          </a:prstGeom>
          <a:solidFill>
            <a:srgbClr val="E5F6F4"/>
          </a:solidFill>
          <a:ln w="14288">
            <a:solidFill>
              <a:srgbClr val="008B91"/>
            </a:solidFill>
          </a:ln>
        </p:spPr>
        <p:txBody>
          <a:bodyPr lIns="0" tIns="0" rIns="0" bIns="0"/>
          <a:lstStyle/>
          <a:p>
            <a:pPr>
              <a:defRPr>
                <a:latin typeface="Calibri"/>
                <a:ea typeface="Calibri"/>
                <a:cs typeface="Calibri"/>
                <a:sym typeface="Calibri"/>
              </a:defRPr>
            </a:pPr>
          </a:p>
        </p:txBody>
      </p:sp>
      <p:sp>
        <p:nvSpPr>
          <p:cNvPr id="199" name="revision-text-29"/>
          <p:cNvSpPr txBox="1"/>
          <p:nvPr/>
        </p:nvSpPr>
        <p:spPr>
          <a:xfrm>
            <a:off x="4895850" y="5372097"/>
            <a:ext cx="241935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08B91"/>
                </a:solidFill>
                <a:latin typeface="Trebuchet MS"/>
                <a:ea typeface="Trebuchet MS"/>
                <a:cs typeface="Trebuchet MS"/>
                <a:sym typeface="Trebuchet MS"/>
              </a:defRPr>
            </a:lvl1pPr>
          </a:lstStyle>
          <a:p>
            <a:pPr/>
            <a:r>
              <a:t>GhostTrace</a:t>
            </a:r>
          </a:p>
        </p:txBody>
      </p:sp>
      <p:sp>
        <p:nvSpPr>
          <p:cNvPr id="200" name="revision-text-30"/>
          <p:cNvSpPr txBox="1"/>
          <p:nvPr/>
        </p:nvSpPr>
        <p:spPr>
          <a:xfrm>
            <a:off x="4895850" y="5710235"/>
            <a:ext cx="241935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20345A"/>
                </a:solidFill>
                <a:latin typeface="Trebuchet MS"/>
                <a:ea typeface="Trebuchet MS"/>
                <a:cs typeface="Trebuchet MS"/>
                <a:sym typeface="Trebuchet MS"/>
              </a:defRPr>
            </a:pPr>
            <a:r>
              <a:t>Hash chain + witness receipts</a:t>
            </a:r>
          </a:p>
          <a:p>
            <a:pPr algn="ctr">
              <a:defRPr sz="1300">
                <a:solidFill>
                  <a:srgbClr val="20345A"/>
                </a:solidFill>
                <a:latin typeface="Trebuchet MS"/>
                <a:ea typeface="Trebuchet MS"/>
                <a:cs typeface="Trebuchet MS"/>
                <a:sym typeface="Trebuchet MS"/>
              </a:defRPr>
            </a:pPr>
            <a:r>
              <a:t>Queued sync + stored evidence</a:t>
            </a:r>
          </a:p>
        </p:txBody>
      </p:sp>
      <p:sp>
        <p:nvSpPr>
          <p:cNvPr id="201" name="revision-shape-31"/>
          <p:cNvSpPr/>
          <p:nvPr/>
        </p:nvSpPr>
        <p:spPr>
          <a:xfrm>
            <a:off x="7800975" y="5276850"/>
            <a:ext cx="2095500" cy="895350"/>
          </a:xfrm>
          <a:prstGeom prst="roundRect">
            <a:avLst>
              <a:gd name="adj" fmla="val 8511"/>
            </a:avLst>
          </a:prstGeom>
          <a:solidFill>
            <a:srgbClr val="F0EAFB"/>
          </a:solidFill>
          <a:ln w="14288">
            <a:solidFill>
              <a:srgbClr val="7850B7"/>
            </a:solidFill>
          </a:ln>
        </p:spPr>
        <p:txBody>
          <a:bodyPr lIns="0" tIns="0" rIns="0" bIns="0"/>
          <a:lstStyle/>
          <a:p>
            <a:pPr>
              <a:defRPr>
                <a:latin typeface="Calibri"/>
                <a:ea typeface="Calibri"/>
                <a:cs typeface="Calibri"/>
                <a:sym typeface="Calibri"/>
              </a:defRPr>
            </a:pPr>
          </a:p>
        </p:txBody>
      </p:sp>
      <p:sp>
        <p:nvSpPr>
          <p:cNvPr id="202" name="revision-text-32"/>
          <p:cNvSpPr txBox="1"/>
          <p:nvPr/>
        </p:nvSpPr>
        <p:spPr>
          <a:xfrm>
            <a:off x="7886700" y="5378447"/>
            <a:ext cx="192405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7850B7"/>
                </a:solidFill>
                <a:latin typeface="Trebuchet MS"/>
                <a:ea typeface="Trebuchet MS"/>
                <a:cs typeface="Trebuchet MS"/>
                <a:sym typeface="Trebuchet MS"/>
              </a:defRPr>
            </a:lvl1pPr>
          </a:lstStyle>
          <a:p>
            <a:pPr/>
            <a:r>
              <a:t>AI investigator</a:t>
            </a:r>
          </a:p>
        </p:txBody>
      </p:sp>
      <p:sp>
        <p:nvSpPr>
          <p:cNvPr id="203" name="revision-text-33"/>
          <p:cNvSpPr txBox="1"/>
          <p:nvPr/>
        </p:nvSpPr>
        <p:spPr>
          <a:xfrm>
            <a:off x="7886700" y="5710235"/>
            <a:ext cx="192405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20345A"/>
                </a:solidFill>
                <a:latin typeface="Trebuchet MS"/>
                <a:ea typeface="Trebuchet MS"/>
                <a:cs typeface="Trebuchet MS"/>
                <a:sym typeface="Trebuchet MS"/>
              </a:defRPr>
            </a:pPr>
            <a:r>
              <a:t>Read-only queries</a:t>
            </a:r>
          </a:p>
          <a:p>
            <a:pPr algn="ctr">
              <a:defRPr sz="1300">
                <a:solidFill>
                  <a:srgbClr val="20345A"/>
                </a:solidFill>
                <a:latin typeface="Trebuchet MS"/>
                <a:ea typeface="Trebuchet MS"/>
                <a:cs typeface="Trebuchet MS"/>
                <a:sym typeface="Trebuchet MS"/>
              </a:defRPr>
            </a:pPr>
            <a:r>
              <a:t>Cited hypotheses</a:t>
            </a:r>
          </a:p>
        </p:txBody>
      </p:sp>
      <p:sp>
        <p:nvSpPr>
          <p:cNvPr id="204" name="revision-shape-34"/>
          <p:cNvSpPr/>
          <p:nvPr/>
        </p:nvSpPr>
        <p:spPr>
          <a:xfrm>
            <a:off x="10287000" y="5276850"/>
            <a:ext cx="1247775" cy="895350"/>
          </a:xfrm>
          <a:prstGeom prst="roundRect">
            <a:avLst>
              <a:gd name="adj" fmla="val 8511"/>
            </a:avLst>
          </a:prstGeom>
          <a:solidFill>
            <a:srgbClr val="E8F2FF"/>
          </a:solidFill>
          <a:ln w="14288">
            <a:solidFill>
              <a:srgbClr val="287CC1"/>
            </a:solidFill>
          </a:ln>
        </p:spPr>
        <p:txBody>
          <a:bodyPr lIns="0" tIns="0" rIns="0" bIns="0"/>
          <a:lstStyle/>
          <a:p>
            <a:pPr>
              <a:defRPr>
                <a:latin typeface="Calibri"/>
                <a:ea typeface="Calibri"/>
                <a:cs typeface="Calibri"/>
                <a:sym typeface="Calibri"/>
              </a:defRPr>
            </a:pPr>
          </a:p>
        </p:txBody>
      </p:sp>
      <p:sp>
        <p:nvSpPr>
          <p:cNvPr id="205" name="revision-text-35"/>
          <p:cNvSpPr txBox="1"/>
          <p:nvPr/>
        </p:nvSpPr>
        <p:spPr>
          <a:xfrm>
            <a:off x="10372725" y="5397497"/>
            <a:ext cx="1076325"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287CC1"/>
                </a:solidFill>
                <a:latin typeface="Trebuchet MS"/>
                <a:ea typeface="Trebuchet MS"/>
                <a:cs typeface="Trebuchet MS"/>
                <a:sym typeface="Trebuchet MS"/>
              </a:defRPr>
            </a:lvl1pPr>
          </a:lstStyle>
          <a:p>
            <a:pPr/>
            <a:r>
              <a:t>SOC</a:t>
            </a:r>
          </a:p>
        </p:txBody>
      </p:sp>
      <p:sp>
        <p:nvSpPr>
          <p:cNvPr id="206" name="revision-text-36"/>
          <p:cNvSpPr txBox="1"/>
          <p:nvPr/>
        </p:nvSpPr>
        <p:spPr>
          <a:xfrm>
            <a:off x="10372725" y="5710235"/>
            <a:ext cx="1076325"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20345A"/>
                </a:solidFill>
                <a:latin typeface="Trebuchet MS"/>
                <a:ea typeface="Trebuchet MS"/>
                <a:cs typeface="Trebuchet MS"/>
                <a:sym typeface="Trebuchet MS"/>
              </a:defRPr>
            </a:pPr>
            <a:r>
              <a:t>Review case</a:t>
            </a:r>
          </a:p>
          <a:p>
            <a:pPr algn="ctr">
              <a:defRPr sz="1300">
                <a:solidFill>
                  <a:srgbClr val="20345A"/>
                </a:solidFill>
                <a:latin typeface="Trebuchet MS"/>
                <a:ea typeface="Trebuchet MS"/>
                <a:cs typeface="Trebuchet MS"/>
                <a:sym typeface="Trebuchet MS"/>
              </a:defRPr>
            </a:pPr>
            <a:r>
              <a:t>Issue report</a:t>
            </a:r>
          </a:p>
        </p:txBody>
      </p:sp>
      <p:sp>
        <p:nvSpPr>
          <p:cNvPr id="207" name="Connection Line"/>
          <p:cNvSpPr/>
          <p:nvPr/>
        </p:nvSpPr>
        <p:spPr>
          <a:xfrm>
            <a:off x="2074066" y="3360677"/>
            <a:ext cx="309566" cy="1531"/>
          </a:xfrm>
          <a:prstGeom prst="line">
            <a:avLst/>
          </a:prstGeom>
          <a:ln w="17145">
            <a:solidFill>
              <a:srgbClr val="287CC1"/>
            </a:solidFill>
            <a:tailEnd type="triangle"/>
          </a:ln>
        </p:spPr>
        <p:txBody>
          <a:bodyPr lIns="0" tIns="0" rIns="0" bIns="0"/>
          <a:lstStyle/>
          <a:p>
            <a:pPr/>
          </a:p>
        </p:txBody>
      </p:sp>
      <p:sp>
        <p:nvSpPr>
          <p:cNvPr id="208" name="Connection Line"/>
          <p:cNvSpPr/>
          <p:nvPr/>
        </p:nvSpPr>
        <p:spPr>
          <a:xfrm>
            <a:off x="2074066" y="4341752"/>
            <a:ext cx="309566" cy="1531"/>
          </a:xfrm>
          <a:prstGeom prst="line">
            <a:avLst/>
          </a:prstGeom>
          <a:ln w="17145">
            <a:solidFill>
              <a:srgbClr val="008B91"/>
            </a:solidFill>
            <a:tailEnd type="triangle"/>
          </a:ln>
        </p:spPr>
        <p:txBody>
          <a:bodyPr lIns="0" tIns="0" rIns="0" bIns="0"/>
          <a:lstStyle/>
          <a:p>
            <a:pPr/>
          </a:p>
        </p:txBody>
      </p:sp>
      <p:cxnSp>
        <p:nvCxnSpPr>
          <p:cNvPr id="209" name="Connection Line"/>
          <p:cNvCxnSpPr>
            <a:stCxn id="180" idx="0"/>
            <a:endCxn id="188" idx="0"/>
          </p:cNvCxnSpPr>
          <p:nvPr/>
        </p:nvCxnSpPr>
        <p:spPr>
          <a:xfrm>
            <a:off x="3378200" y="3365500"/>
            <a:ext cx="2730500" cy="508000"/>
          </a:xfrm>
          <a:prstGeom prst="bentConnector5">
            <a:avLst>
              <a:gd name="adj1" fmla="val 45116"/>
              <a:gd name="adj2" fmla="val 50000"/>
              <a:gd name="adj3" fmla="val 42790"/>
            </a:avLst>
          </a:prstGeom>
          <a:ln w="17145">
            <a:solidFill>
              <a:srgbClr val="287CC1"/>
            </a:solidFill>
            <a:tailEnd type="triangle"/>
          </a:ln>
        </p:spPr>
      </p:cxnSp>
      <p:cxnSp>
        <p:nvCxnSpPr>
          <p:cNvPr id="210" name="Connection Line"/>
          <p:cNvCxnSpPr>
            <a:stCxn id="185" idx="0"/>
            <a:endCxn id="188" idx="0"/>
          </p:cNvCxnSpPr>
          <p:nvPr/>
        </p:nvCxnSpPr>
        <p:spPr>
          <a:xfrm flipV="1">
            <a:off x="3378200" y="3873500"/>
            <a:ext cx="2730500" cy="469900"/>
          </a:xfrm>
          <a:prstGeom prst="bentConnector5">
            <a:avLst>
              <a:gd name="adj1" fmla="val 45116"/>
              <a:gd name="adj2" fmla="val 48648"/>
              <a:gd name="adj3" fmla="val 42790"/>
            </a:avLst>
          </a:prstGeom>
          <a:ln w="17145">
            <a:solidFill>
              <a:srgbClr val="008B91"/>
            </a:solidFill>
            <a:tailEnd type="triangle"/>
          </a:ln>
        </p:spPr>
      </p:cxnSp>
      <p:cxnSp>
        <p:nvCxnSpPr>
          <p:cNvPr id="211" name="Connection Line"/>
          <p:cNvCxnSpPr>
            <a:stCxn id="188" idx="0"/>
            <a:endCxn id="191" idx="0"/>
          </p:cNvCxnSpPr>
          <p:nvPr/>
        </p:nvCxnSpPr>
        <p:spPr>
          <a:xfrm flipV="1">
            <a:off x="6108700" y="3467100"/>
            <a:ext cx="3670300" cy="406400"/>
          </a:xfrm>
          <a:prstGeom prst="bentConnector3">
            <a:avLst>
              <a:gd name="adj1" fmla="val 46366"/>
            </a:avLst>
          </a:prstGeom>
          <a:ln w="17145">
            <a:solidFill>
              <a:srgbClr val="53627A"/>
            </a:solidFill>
            <a:tailEnd type="triangle"/>
          </a:ln>
        </p:spPr>
      </p:cxnSp>
      <p:sp>
        <p:nvSpPr>
          <p:cNvPr id="212" name="Line"/>
          <p:cNvSpPr/>
          <p:nvPr/>
        </p:nvSpPr>
        <p:spPr>
          <a:xfrm>
            <a:off x="9784554" y="3929062"/>
            <a:ext cx="4" cy="147640"/>
          </a:xfrm>
          <a:prstGeom prst="line">
            <a:avLst/>
          </a:prstGeom>
          <a:ln w="17145">
            <a:solidFill>
              <a:srgbClr val="258462"/>
            </a:solidFill>
          </a:ln>
        </p:spPr>
        <p:txBody>
          <a:bodyPr lIns="0" tIns="0" rIns="0" bIns="0"/>
          <a:lstStyle/>
          <a:p>
            <a:pPr/>
          </a:p>
        </p:txBody>
      </p:sp>
      <p:sp>
        <p:nvSpPr>
          <p:cNvPr id="213" name="Line"/>
          <p:cNvSpPr/>
          <p:nvPr/>
        </p:nvSpPr>
        <p:spPr>
          <a:xfrm flipH="1">
            <a:off x="8939214" y="4079081"/>
            <a:ext cx="842964" cy="3"/>
          </a:xfrm>
          <a:prstGeom prst="line">
            <a:avLst/>
          </a:prstGeom>
          <a:ln w="17145">
            <a:solidFill>
              <a:srgbClr val="258462"/>
            </a:solidFill>
          </a:ln>
        </p:spPr>
        <p:txBody>
          <a:bodyPr lIns="0" tIns="0" rIns="0" bIns="0"/>
          <a:lstStyle/>
          <a:p>
            <a:pPr/>
          </a:p>
        </p:txBody>
      </p:sp>
      <p:sp>
        <p:nvSpPr>
          <p:cNvPr id="214" name="Line"/>
          <p:cNvSpPr/>
          <p:nvPr/>
        </p:nvSpPr>
        <p:spPr>
          <a:xfrm>
            <a:off x="8936829" y="4081462"/>
            <a:ext cx="4" cy="138115"/>
          </a:xfrm>
          <a:prstGeom prst="line">
            <a:avLst/>
          </a:prstGeom>
          <a:ln w="17145">
            <a:solidFill>
              <a:srgbClr val="258462"/>
            </a:solidFill>
            <a:tailEnd type="triangle"/>
          </a:ln>
        </p:spPr>
        <p:txBody>
          <a:bodyPr lIns="0" tIns="0" rIns="0" bIns="0"/>
          <a:lstStyle/>
          <a:p>
            <a:pPr/>
          </a:p>
        </p:txBody>
      </p:sp>
      <p:sp>
        <p:nvSpPr>
          <p:cNvPr id="215" name="Line"/>
          <p:cNvSpPr/>
          <p:nvPr/>
        </p:nvSpPr>
        <p:spPr>
          <a:xfrm>
            <a:off x="9786938" y="4079081"/>
            <a:ext cx="862014" cy="2"/>
          </a:xfrm>
          <a:prstGeom prst="line">
            <a:avLst/>
          </a:prstGeom>
          <a:ln w="17145">
            <a:solidFill>
              <a:srgbClr val="A96D16"/>
            </a:solidFill>
          </a:ln>
        </p:spPr>
        <p:txBody>
          <a:bodyPr lIns="0" tIns="0" rIns="0" bIns="0"/>
          <a:lstStyle/>
          <a:p>
            <a:pPr/>
          </a:p>
        </p:txBody>
      </p:sp>
      <p:sp>
        <p:nvSpPr>
          <p:cNvPr id="216" name="Line"/>
          <p:cNvSpPr/>
          <p:nvPr/>
        </p:nvSpPr>
        <p:spPr>
          <a:xfrm>
            <a:off x="10651329" y="4081462"/>
            <a:ext cx="4" cy="138115"/>
          </a:xfrm>
          <a:prstGeom prst="line">
            <a:avLst/>
          </a:prstGeom>
          <a:ln w="17145">
            <a:solidFill>
              <a:srgbClr val="A96D16"/>
            </a:solidFill>
            <a:tailEnd type="triangle"/>
          </a:ln>
        </p:spPr>
        <p:txBody>
          <a:bodyPr lIns="0" tIns="0" rIns="0" bIns="0"/>
          <a:lstStyle/>
          <a:p>
            <a:pPr/>
          </a:p>
        </p:txBody>
      </p:sp>
      <p:sp>
        <p:nvSpPr>
          <p:cNvPr id="217" name="revision-text-44"/>
          <p:cNvSpPr txBox="1"/>
          <p:nvPr/>
        </p:nvSpPr>
        <p:spPr>
          <a:xfrm>
            <a:off x="8439150" y="3963985"/>
            <a:ext cx="3810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58462"/>
                </a:solidFill>
                <a:latin typeface="Trebuchet MS"/>
                <a:ea typeface="Trebuchet MS"/>
                <a:cs typeface="Trebuchet MS"/>
                <a:sym typeface="Trebuchet MS"/>
              </a:defRPr>
            </a:lvl1pPr>
          </a:lstStyle>
          <a:p>
            <a:pPr/>
            <a:r>
              <a:t>Yes</a:t>
            </a:r>
          </a:p>
        </p:txBody>
      </p:sp>
      <p:sp>
        <p:nvSpPr>
          <p:cNvPr id="218" name="revision-text-45"/>
          <p:cNvSpPr txBox="1"/>
          <p:nvPr/>
        </p:nvSpPr>
        <p:spPr>
          <a:xfrm>
            <a:off x="10772775" y="3963985"/>
            <a:ext cx="66675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A96D16"/>
                </a:solidFill>
                <a:latin typeface="Trebuchet MS"/>
                <a:ea typeface="Trebuchet MS"/>
                <a:cs typeface="Trebuchet MS"/>
                <a:sym typeface="Trebuchet MS"/>
              </a:defRPr>
            </a:lvl1pPr>
          </a:lstStyle>
          <a:p>
            <a:pPr/>
            <a:r>
              <a:t>No / split</a:t>
            </a:r>
          </a:p>
        </p:txBody>
      </p:sp>
      <p:cxnSp>
        <p:nvCxnSpPr>
          <p:cNvPr id="219" name="Connection Line"/>
          <p:cNvCxnSpPr>
            <a:stCxn id="188" idx="0"/>
            <a:endCxn id="198" idx="0"/>
          </p:cNvCxnSpPr>
          <p:nvPr/>
        </p:nvCxnSpPr>
        <p:spPr>
          <a:xfrm>
            <a:off x="6105525" y="3871912"/>
            <a:ext cx="0" cy="1852613"/>
          </a:xfrm>
          <a:prstGeom prst="straightConnector1">
            <a:avLst/>
          </a:prstGeom>
          <a:ln w="17145">
            <a:solidFill>
              <a:srgbClr val="008B91"/>
            </a:solidFill>
            <a:tailEnd type="triangle"/>
          </a:ln>
        </p:spPr>
      </p:cxnSp>
      <p:sp>
        <p:nvSpPr>
          <p:cNvPr id="220" name="Line"/>
          <p:cNvSpPr/>
          <p:nvPr/>
        </p:nvSpPr>
        <p:spPr>
          <a:xfrm>
            <a:off x="8936831" y="4710112"/>
            <a:ext cx="2" cy="290515"/>
          </a:xfrm>
          <a:prstGeom prst="line">
            <a:avLst/>
          </a:prstGeom>
          <a:ln w="17145">
            <a:solidFill>
              <a:srgbClr val="008B91"/>
            </a:solidFill>
          </a:ln>
        </p:spPr>
        <p:txBody>
          <a:bodyPr lIns="0" tIns="0" rIns="0" bIns="0"/>
          <a:lstStyle/>
          <a:p>
            <a:pPr/>
          </a:p>
        </p:txBody>
      </p:sp>
      <p:sp>
        <p:nvSpPr>
          <p:cNvPr id="221" name="Line"/>
          <p:cNvSpPr/>
          <p:nvPr/>
        </p:nvSpPr>
        <p:spPr>
          <a:xfrm flipH="1">
            <a:off x="7129464" y="5003006"/>
            <a:ext cx="1804986" cy="2"/>
          </a:xfrm>
          <a:prstGeom prst="line">
            <a:avLst/>
          </a:prstGeom>
          <a:ln w="17145">
            <a:solidFill>
              <a:srgbClr val="008B91"/>
            </a:solidFill>
          </a:ln>
        </p:spPr>
        <p:txBody>
          <a:bodyPr lIns="0" tIns="0" rIns="0" bIns="0"/>
          <a:lstStyle/>
          <a:p>
            <a:pPr/>
          </a:p>
        </p:txBody>
      </p:sp>
      <p:sp>
        <p:nvSpPr>
          <p:cNvPr id="222" name="Line"/>
          <p:cNvSpPr/>
          <p:nvPr/>
        </p:nvSpPr>
        <p:spPr>
          <a:xfrm>
            <a:off x="7127081" y="5005387"/>
            <a:ext cx="3" cy="261937"/>
          </a:xfrm>
          <a:prstGeom prst="line">
            <a:avLst/>
          </a:prstGeom>
          <a:ln w="17145">
            <a:solidFill>
              <a:srgbClr val="008B91"/>
            </a:solidFill>
            <a:tailEnd type="triangle"/>
          </a:ln>
        </p:spPr>
        <p:txBody>
          <a:bodyPr lIns="0" tIns="0" rIns="0" bIns="0"/>
          <a:lstStyle/>
          <a:p>
            <a:pPr/>
          </a:p>
        </p:txBody>
      </p:sp>
      <p:sp>
        <p:nvSpPr>
          <p:cNvPr id="223" name="Line"/>
          <p:cNvSpPr/>
          <p:nvPr/>
        </p:nvSpPr>
        <p:spPr>
          <a:xfrm>
            <a:off x="10651331" y="4710112"/>
            <a:ext cx="2" cy="290515"/>
          </a:xfrm>
          <a:prstGeom prst="line">
            <a:avLst/>
          </a:prstGeom>
          <a:ln w="17145">
            <a:solidFill>
              <a:srgbClr val="008B91"/>
            </a:solidFill>
          </a:ln>
        </p:spPr>
        <p:txBody>
          <a:bodyPr lIns="0" tIns="0" rIns="0" bIns="0"/>
          <a:lstStyle/>
          <a:p>
            <a:pPr/>
          </a:p>
        </p:txBody>
      </p:sp>
      <p:sp>
        <p:nvSpPr>
          <p:cNvPr id="224" name="Line"/>
          <p:cNvSpPr/>
          <p:nvPr/>
        </p:nvSpPr>
        <p:spPr>
          <a:xfrm flipH="1">
            <a:off x="8939214" y="5003006"/>
            <a:ext cx="1709736" cy="2"/>
          </a:xfrm>
          <a:prstGeom prst="line">
            <a:avLst/>
          </a:prstGeom>
          <a:ln w="17145">
            <a:solidFill>
              <a:srgbClr val="008B91"/>
            </a:solidFill>
          </a:ln>
        </p:spPr>
        <p:txBody>
          <a:bodyPr lIns="0" tIns="0" rIns="0" bIns="0"/>
          <a:lstStyle/>
          <a:p>
            <a:pPr/>
          </a:p>
        </p:txBody>
      </p:sp>
      <p:sp>
        <p:nvSpPr>
          <p:cNvPr id="225" name="revision-text-53"/>
          <p:cNvSpPr txBox="1"/>
          <p:nvPr/>
        </p:nvSpPr>
        <p:spPr>
          <a:xfrm>
            <a:off x="5038725" y="4940297"/>
            <a:ext cx="1019175"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008B91"/>
                </a:solidFill>
                <a:latin typeface="Trebuchet MS"/>
                <a:ea typeface="Trebuchet MS"/>
                <a:cs typeface="Trebuchet MS"/>
                <a:sym typeface="Trebuchet MS"/>
              </a:defRPr>
            </a:lvl1pPr>
          </a:lstStyle>
          <a:p>
            <a:pPr/>
            <a:r>
              <a:t>local record</a:t>
            </a:r>
          </a:p>
        </p:txBody>
      </p:sp>
      <p:sp>
        <p:nvSpPr>
          <p:cNvPr id="226" name="revision-text-54"/>
          <p:cNvSpPr txBox="1"/>
          <p:nvPr/>
        </p:nvSpPr>
        <p:spPr>
          <a:xfrm>
            <a:off x="9944100" y="5029197"/>
            <a:ext cx="9906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008B91"/>
                </a:solidFill>
                <a:latin typeface="Trebuchet MS"/>
                <a:ea typeface="Trebuchet MS"/>
                <a:cs typeface="Trebuchet MS"/>
                <a:sym typeface="Trebuchet MS"/>
              </a:defRPr>
            </a:lvl1pPr>
          </a:lstStyle>
          <a:p>
            <a:pPr/>
            <a:r>
              <a:t>fleet status</a:t>
            </a:r>
          </a:p>
        </p:txBody>
      </p:sp>
      <p:cxnSp>
        <p:nvCxnSpPr>
          <p:cNvPr id="227" name="Connection Line"/>
          <p:cNvCxnSpPr>
            <a:stCxn id="198" idx="0"/>
            <a:endCxn id="201" idx="0"/>
          </p:cNvCxnSpPr>
          <p:nvPr/>
        </p:nvCxnSpPr>
        <p:spPr>
          <a:xfrm>
            <a:off x="6105525" y="5724525"/>
            <a:ext cx="2743200" cy="0"/>
          </a:xfrm>
          <a:prstGeom prst="straightConnector1">
            <a:avLst/>
          </a:prstGeom>
          <a:ln w="17145">
            <a:solidFill>
              <a:srgbClr val="008B91"/>
            </a:solidFill>
            <a:tailEnd type="triangle"/>
          </a:ln>
        </p:spPr>
      </p:cxnSp>
      <p:cxnSp>
        <p:nvCxnSpPr>
          <p:cNvPr id="228" name="Connection Line"/>
          <p:cNvCxnSpPr>
            <a:stCxn id="201" idx="0"/>
            <a:endCxn id="204" idx="0"/>
          </p:cNvCxnSpPr>
          <p:nvPr/>
        </p:nvCxnSpPr>
        <p:spPr>
          <a:xfrm>
            <a:off x="8848725" y="5724525"/>
            <a:ext cx="2062163" cy="0"/>
          </a:xfrm>
          <a:prstGeom prst="straightConnector1">
            <a:avLst/>
          </a:prstGeom>
          <a:ln w="17145">
            <a:solidFill>
              <a:srgbClr val="7850B7"/>
            </a:solidFill>
            <a:tailEnd type="triangle"/>
          </a:ln>
        </p:spPr>
      </p:cxnSp>
      <p:sp>
        <p:nvSpPr>
          <p:cNvPr id="229" name="revision-text-55"/>
          <p:cNvSpPr txBox="1"/>
          <p:nvPr/>
        </p:nvSpPr>
        <p:spPr>
          <a:xfrm>
            <a:off x="819150" y="4991097"/>
            <a:ext cx="3667125" cy="533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20345A"/>
                </a:solidFill>
                <a:latin typeface="Trebuchet MS"/>
                <a:ea typeface="Trebuchet MS"/>
                <a:cs typeface="Trebuchet MS"/>
                <a:sym typeface="Trebuchet MS"/>
              </a:defRPr>
            </a:lvl1pPr>
          </a:lstStyle>
          <a:p>
            <a:pPr/>
            <a:r>
              <a:t>Each layer retains its own verdict.</a:t>
            </a:r>
          </a:p>
        </p:txBody>
      </p:sp>
      <p:sp>
        <p:nvSpPr>
          <p:cNvPr id="230" name="revision-text-56"/>
          <p:cNvSpPr txBox="1"/>
          <p:nvPr/>
        </p:nvSpPr>
        <p:spPr>
          <a:xfrm>
            <a:off x="819150" y="5540372"/>
            <a:ext cx="3590925"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600">
                <a:solidFill>
                  <a:srgbClr val="53627A"/>
                </a:solidFill>
                <a:latin typeface="Trebuchet MS"/>
                <a:ea typeface="Trebuchet MS"/>
                <a:cs typeface="Trebuchet MS"/>
                <a:sym typeface="Trebuchet MS"/>
              </a:defRPr>
            </a:pPr>
            <a:r>
              <a:t>AI operates downstream.</a:t>
            </a:r>
          </a:p>
          <a:p>
            <a:pPr>
              <a:defRPr sz="1600">
                <a:solidFill>
                  <a:srgbClr val="53627A"/>
                </a:solidFill>
                <a:latin typeface="Trebuchet MS"/>
                <a:ea typeface="Trebuchet MS"/>
                <a:cs typeface="Trebuchet MS"/>
                <a:sym typeface="Trebuchet MS"/>
              </a:defRPr>
            </a:pPr>
            <a:r>
              <a:t>Vehicle control stays outside scope.</a:t>
            </a:r>
          </a:p>
        </p:txBody>
      </p:sp>
      <p:sp>
        <p:nvSpPr>
          <p:cNvPr id="231"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05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revision-11"/>
          <p:cNvSpPr txBox="1"/>
          <p:nvPr/>
        </p:nvSpPr>
        <p:spPr>
          <a:xfrm>
            <a:off x="857250" y="1123950"/>
            <a:ext cx="98107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Related Work - CAN and V2X</a:t>
            </a:r>
          </a:p>
        </p:txBody>
      </p:sp>
      <p:sp>
        <p:nvSpPr>
          <p:cNvPr id="236" name="Rectangle"/>
          <p:cNvSpPr/>
          <p:nvPr/>
        </p:nvSpPr>
        <p:spPr>
          <a:xfrm>
            <a:off x="3048000" y="1581150"/>
            <a:ext cx="7620000" cy="36195"/>
          </a:xfrm>
          <a:prstGeom prst="rect">
            <a:avLst/>
          </a:prstGeom>
          <a:solidFill>
            <a:srgbClr val="33CCCC"/>
          </a:solidFill>
          <a:ln w="12700">
            <a:miter lim="400000"/>
          </a:ln>
        </p:spPr>
        <p:txBody>
          <a:bodyPr lIns="0" tIns="0" rIns="0" bIns="0"/>
          <a:lstStyle/>
          <a:p>
            <a:pPr>
              <a:defRPr>
                <a:latin typeface="+mn-lt"/>
                <a:ea typeface="+mn-ea"/>
                <a:cs typeface="+mn-cs"/>
                <a:sym typeface="Helvetica"/>
              </a:defRPr>
            </a:pPr>
          </a:p>
        </p:txBody>
      </p:sp>
      <p:graphicFrame>
        <p:nvGraphicFramePr>
          <p:cNvPr id="237" name="Table 1"/>
          <p:cNvGraphicFramePr/>
          <p:nvPr/>
        </p:nvGraphicFramePr>
        <p:xfrm>
          <a:off x="1143000" y="2047875"/>
          <a:ext cx="9906000" cy="412432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381250"/>
                <a:gridCol w="3524250"/>
                <a:gridCol w="4000500"/>
              </a:tblGrid>
              <a:tr h="409575">
                <a:tc>
                  <a:txBody>
                    <a:bodyPr/>
                    <a:lstStyle/>
                    <a:p>
                      <a:pPr algn="l">
                        <a:defRPr b="0" sz="1800">
                          <a:solidFill>
                            <a:srgbClr val="000000"/>
                          </a:solidFill>
                        </a:defRPr>
                      </a:pPr>
                      <a:r>
                        <a:rPr b="1" sz="1600">
                          <a:solidFill>
                            <a:srgbClr val="FFFFFF"/>
                          </a:solidFill>
                          <a:latin typeface="Trebuchet MS"/>
                          <a:ea typeface="Trebuchet MS"/>
                          <a:cs typeface="Trebuchet MS"/>
                          <a:sym typeface="Trebuchet MS"/>
                        </a:rPr>
                        <a:t>Prior study</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20345A"/>
                    </a:solidFill>
                  </a:tcPr>
                </a:tc>
                <a:tc>
                  <a:txBody>
                    <a:bodyPr/>
                    <a:lstStyle/>
                    <a:p>
                      <a:pPr algn="l">
                        <a:defRPr b="0" sz="1800">
                          <a:solidFill>
                            <a:srgbClr val="000000"/>
                          </a:solidFill>
                        </a:defRPr>
                      </a:pPr>
                      <a:r>
                        <a:rPr b="1" sz="1600">
                          <a:solidFill>
                            <a:srgbClr val="FFFFFF"/>
                          </a:solidFill>
                          <a:latin typeface="Trebuchet MS"/>
                          <a:ea typeface="Trebuchet MS"/>
                          <a:cs typeface="Trebuchet MS"/>
                          <a:sym typeface="Trebuchet MS"/>
                        </a:rPr>
                        <a:t>Established work</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20345A"/>
                    </a:solidFill>
                  </a:tcPr>
                </a:tc>
                <a:tc>
                  <a:txBody>
                    <a:bodyPr/>
                    <a:lstStyle/>
                    <a:p>
                      <a:pPr algn="l">
                        <a:defRPr b="0" sz="1800">
                          <a:solidFill>
                            <a:srgbClr val="000000"/>
                          </a:solidFill>
                        </a:defRPr>
                      </a:pPr>
                      <a:r>
                        <a:rPr b="1" sz="1600">
                          <a:solidFill>
                            <a:srgbClr val="FFFFFF"/>
                          </a:solidFill>
                          <a:latin typeface="Trebuchet MS"/>
                          <a:ea typeface="Trebuchet MS"/>
                          <a:cs typeface="Trebuchet MS"/>
                          <a:sym typeface="Trebuchet MS"/>
                        </a:rPr>
                        <a:t>Our question to test</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20345A"/>
                    </a:solidFill>
                  </a:tcPr>
                </a:tc>
              </a:tr>
              <a:tr h="742950">
                <a:tc>
                  <a:txBody>
                    <a:bodyPr/>
                    <a:lstStyle/>
                    <a:p>
                      <a:pPr algn="l">
                        <a:defRPr sz="1800"/>
                      </a:pPr>
                      <a:r>
                        <a:rPr sz="1600">
                          <a:solidFill>
                            <a:srgbClr val="20345A"/>
                          </a:solidFill>
                          <a:latin typeface="Trebuchet MS"/>
                          <a:ea typeface="Trebuchet MS"/>
                          <a:cs typeface="Trebuchet MS"/>
                          <a:sym typeface="Trebuchet MS"/>
                        </a:rPr>
                        <a:t>Shen et al. (2026) [1]</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600">
                          <a:solidFill>
                            <a:srgbClr val="20345A"/>
                          </a:solidFill>
                          <a:latin typeface="Trebuchet MS"/>
                          <a:ea typeface="Trebuchet MS"/>
                          <a:cs typeface="Trebuchet MS"/>
                          <a:sym typeface="Trebuchet MS"/>
                        </a:rPr>
                        <a:t>Separate CAN and V2X
classification on synthetic data</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600">
                          <a:solidFill>
                            <a:srgbClr val="20345A"/>
                          </a:solidFill>
                          <a:latin typeface="Trebuchet MS"/>
                          <a:ea typeface="Trebuchet MS"/>
                          <a:cs typeface="Trebuchet MS"/>
                          <a:sym typeface="Trebuchet MS"/>
                        </a:rPr>
                        <a:t>Does matched cross-layer evidence
improve cause attribution?</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r>
              <a:tr h="742950">
                <a:tc>
                  <a:txBody>
                    <a:bodyPr/>
                    <a:lstStyle/>
                    <a:p>
                      <a:pPr algn="l">
                        <a:defRPr sz="1800"/>
                      </a:pPr>
                      <a:r>
                        <a:rPr sz="1600">
                          <a:solidFill>
                            <a:srgbClr val="20345A"/>
                          </a:solidFill>
                          <a:latin typeface="Trebuchet MS"/>
                          <a:ea typeface="Trebuchet MS"/>
                          <a:cs typeface="Trebuchet MS"/>
                          <a:sym typeface="Trebuchet MS"/>
                        </a:rPr>
                        <a:t>CND-IDS (2025) [2]</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c>
                  <a:txBody>
                    <a:bodyPr/>
                    <a:lstStyle/>
                    <a:p>
                      <a:pPr algn="l">
                        <a:defRPr sz="1800"/>
                      </a:pPr>
                      <a:r>
                        <a:rPr sz="1600">
                          <a:solidFill>
                            <a:srgbClr val="20345A"/>
                          </a:solidFill>
                          <a:latin typeface="Trebuchet MS"/>
                          <a:ea typeface="Trebuchet MS"/>
                          <a:cs typeface="Trebuchet MS"/>
                          <a:sym typeface="Trebuchet MS"/>
                        </a:rPr>
                        <a:t>Continual novelty detection</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c>
                  <a:txBody>
                    <a:bodyPr/>
                    <a:lstStyle/>
                    <a:p>
                      <a:pPr algn="l">
                        <a:defRPr sz="1800"/>
                      </a:pPr>
                      <a:r>
                        <a:rPr sz="1600">
                          <a:solidFill>
                            <a:srgbClr val="20345A"/>
                          </a:solidFill>
                          <a:latin typeface="Trebuchet MS"/>
                          <a:ea typeface="Trebuchet MS"/>
                          <a:cs typeface="Trebuchet MS"/>
                          <a:sym typeface="Trebuchet MS"/>
                        </a:rPr>
                        <a:t>Can benign-change false alarms fall
without losing attack recall?</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r>
              <a:tr h="742950">
                <a:tc>
                  <a:txBody>
                    <a:bodyPr/>
                    <a:lstStyle/>
                    <a:p>
                      <a:pPr algn="l">
                        <a:defRPr sz="1800"/>
                      </a:pPr>
                      <a:r>
                        <a:rPr sz="1600">
                          <a:solidFill>
                            <a:srgbClr val="20345A"/>
                          </a:solidFill>
                          <a:latin typeface="Trebuchet MS"/>
                          <a:ea typeface="Trebuchet MS"/>
                          <a:cs typeface="Trebuchet MS"/>
                          <a:sym typeface="Trebuchet MS"/>
                        </a:rPr>
                        <a:t>Golam et al. (2025) [3]</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600">
                          <a:solidFill>
                            <a:srgbClr val="20345A"/>
                          </a:solidFill>
                          <a:latin typeface="Trebuchet MS"/>
                          <a:ea typeface="Trebuchet MS"/>
                          <a:cs typeface="Trebuchet MS"/>
                          <a:sym typeface="Trebuchet MS"/>
                        </a:rPr>
                        <a:t>CAN/V2X/GPS agents and
distributed threat response</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600">
                          <a:solidFill>
                            <a:srgbClr val="20345A"/>
                          </a:solidFill>
                          <a:latin typeface="Trebuchet MS"/>
                          <a:ea typeface="Trebuchet MS"/>
                          <a:cs typeface="Trebuchet MS"/>
                          <a:sym typeface="Trebuchet MS"/>
                        </a:rPr>
                        <a:t>Do independent local verdicts and
source reliability add value?</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r>
              <a:tr h="742950">
                <a:tc>
                  <a:txBody>
                    <a:bodyPr/>
                    <a:lstStyle/>
                    <a:p>
                      <a:pPr algn="l">
                        <a:defRPr sz="1800"/>
                      </a:pPr>
                      <a:r>
                        <a:rPr sz="1600">
                          <a:solidFill>
                            <a:srgbClr val="20345A"/>
                          </a:solidFill>
                          <a:latin typeface="Trebuchet MS"/>
                          <a:ea typeface="Trebuchet MS"/>
                          <a:cs typeface="Trebuchet MS"/>
                          <a:sym typeface="Trebuchet MS"/>
                        </a:rPr>
                        <a:t>ROAD (2024) [5]</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c>
                  <a:txBody>
                    <a:bodyPr/>
                    <a:lstStyle/>
                    <a:p>
                      <a:pPr algn="l">
                        <a:defRPr sz="1800"/>
                      </a:pPr>
                      <a:r>
                        <a:rPr sz="1600">
                          <a:solidFill>
                            <a:srgbClr val="20345A"/>
                          </a:solidFill>
                          <a:latin typeface="Trebuchet MS"/>
                          <a:ea typeface="Trebuchet MS"/>
                          <a:cs typeface="Trebuchet MS"/>
                          <a:sym typeface="Trebuchet MS"/>
                        </a:rPr>
                        <a:t>Real CAN intrusion benchmark</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c>
                  <a:txBody>
                    <a:bodyPr/>
                    <a:lstStyle/>
                    <a:p>
                      <a:pPr algn="l">
                        <a:defRPr sz="1800"/>
                      </a:pPr>
                      <a:r>
                        <a:rPr sz="1600">
                          <a:solidFill>
                            <a:srgbClr val="20345A"/>
                          </a:solidFill>
                          <a:latin typeface="Trebuchet MS"/>
                          <a:ea typeface="Trebuchet MS"/>
                          <a:cs typeface="Trebuchet MS"/>
                          <a:sym typeface="Trebuchet MS"/>
                        </a:rPr>
                        <a:t>Establish a CAN baseline.
No synchronized V2X stream.</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r>
              <a:tr h="742950">
                <a:tc>
                  <a:txBody>
                    <a:bodyPr/>
                    <a:lstStyle/>
                    <a:p>
                      <a:pPr algn="l">
                        <a:defRPr sz="1800"/>
                      </a:pPr>
                      <a:r>
                        <a:rPr sz="1600">
                          <a:solidFill>
                            <a:srgbClr val="20345A"/>
                          </a:solidFill>
                          <a:latin typeface="Trebuchet MS"/>
                          <a:ea typeface="Trebuchet MS"/>
                          <a:cs typeface="Trebuchet MS"/>
                          <a:sym typeface="Trebuchet MS"/>
                        </a:rPr>
                        <a:t>Korycki &amp; Krawczyk
(2023) [7]</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600">
                          <a:solidFill>
                            <a:srgbClr val="20345A"/>
                          </a:solidFill>
                          <a:latin typeface="Trebuchet MS"/>
                          <a:ea typeface="Trebuchet MS"/>
                          <a:cs typeface="Trebuchet MS"/>
                          <a:sym typeface="Trebuchet MS"/>
                        </a:rPr>
                        <a:t>Poisoning can mimic
legitimate concept drift</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600">
                          <a:solidFill>
                            <a:srgbClr val="20345A"/>
                          </a:solidFill>
                          <a:latin typeface="Trebuchet MS"/>
                          <a:ea typeface="Trebuchet MS"/>
                          <a:cs typeface="Trebuchet MS"/>
                          <a:sym typeface="Trebuchet MS"/>
                        </a:rPr>
                        <a:t>Test matched fault/attack cases
with explicit unknown outcomes.</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r>
            </a:tbl>
          </a:graphicData>
        </a:graphic>
      </p:graphicFrame>
      <p:sp>
        <p:nvSpPr>
          <p:cNvPr id="238"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06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revision-13"/>
          <p:cNvSpPr txBox="1"/>
          <p:nvPr/>
        </p:nvSpPr>
        <p:spPr>
          <a:xfrm>
            <a:off x="857250" y="1123950"/>
            <a:ext cx="98107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Scope and Feasibility Study</a:t>
            </a:r>
          </a:p>
        </p:txBody>
      </p:sp>
      <p:sp>
        <p:nvSpPr>
          <p:cNvPr id="243" name="Rectangle"/>
          <p:cNvSpPr/>
          <p:nvPr/>
        </p:nvSpPr>
        <p:spPr>
          <a:xfrm>
            <a:off x="3048000" y="1581150"/>
            <a:ext cx="7620000" cy="36195"/>
          </a:xfrm>
          <a:prstGeom prst="rect">
            <a:avLst/>
          </a:prstGeom>
          <a:solidFill>
            <a:srgbClr val="33CCCC"/>
          </a:solidFill>
          <a:ln w="12700">
            <a:miter lim="400000"/>
          </a:ln>
        </p:spPr>
        <p:txBody>
          <a:bodyPr lIns="0" tIns="0" rIns="0" bIns="0"/>
          <a:lstStyle/>
          <a:p>
            <a:pPr>
              <a:defRPr>
                <a:latin typeface="+mn-lt"/>
                <a:ea typeface="+mn-ea"/>
                <a:cs typeface="+mn-cs"/>
                <a:sym typeface="Helvetica"/>
              </a:defRPr>
            </a:pPr>
          </a:p>
        </p:txBody>
      </p:sp>
      <p:sp>
        <p:nvSpPr>
          <p:cNvPr id="244" name="revision-14"/>
          <p:cNvSpPr txBox="1"/>
          <p:nvPr/>
        </p:nvSpPr>
        <p:spPr>
          <a:xfrm>
            <a:off x="1143000" y="1895475"/>
            <a:ext cx="4810125"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33CC"/>
                </a:solidFill>
                <a:latin typeface="Trebuchet MS"/>
                <a:ea typeface="Trebuchet MS"/>
                <a:cs typeface="Trebuchet MS"/>
                <a:sym typeface="Trebuchet MS"/>
              </a:defRPr>
            </a:lvl1pPr>
          </a:lstStyle>
          <a:p>
            <a:pPr/>
            <a:r>
              <a:t>CAN + V2X Project Scope</a:t>
            </a:r>
          </a:p>
        </p:txBody>
      </p:sp>
      <p:sp>
        <p:nvSpPr>
          <p:cNvPr id="245" name="revision-15"/>
          <p:cNvSpPr txBox="1"/>
          <p:nvPr/>
        </p:nvSpPr>
        <p:spPr>
          <a:xfrm>
            <a:off x="6381750" y="1895475"/>
            <a:ext cx="4714875"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33CC"/>
                </a:solidFill>
                <a:latin typeface="Trebuchet MS"/>
                <a:ea typeface="Trebuchet MS"/>
                <a:cs typeface="Trebuchet MS"/>
                <a:sym typeface="Trebuchet MS"/>
              </a:defRPr>
            </a:lvl1pPr>
          </a:lstStyle>
          <a:p>
            <a:pPr/>
            <a:r>
              <a:t>Feasibility &amp; Resources</a:t>
            </a:r>
          </a:p>
        </p:txBody>
      </p:sp>
      <p:sp>
        <p:nvSpPr>
          <p:cNvPr id="246" name="revision-16"/>
          <p:cNvSpPr txBox="1"/>
          <p:nvPr/>
        </p:nvSpPr>
        <p:spPr>
          <a:xfrm>
            <a:off x="1143000" y="2314575"/>
            <a:ext cx="481012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033CC"/>
                </a:solidFill>
                <a:latin typeface="Trebuchet MS"/>
                <a:ea typeface="Trebuchet MS"/>
                <a:cs typeface="Trebuchet MS"/>
                <a:sym typeface="Trebuchet MS"/>
              </a:defRPr>
            </a:lvl1pPr>
          </a:lstStyle>
          <a:p>
            <a:pPr/>
            <a:r>
              <a:t>Independent Detection</a:t>
            </a:r>
          </a:p>
        </p:txBody>
      </p:sp>
      <p:sp>
        <p:nvSpPr>
          <p:cNvPr id="247" name="revision-17"/>
          <p:cNvSpPr txBox="1"/>
          <p:nvPr/>
        </p:nvSpPr>
        <p:spPr>
          <a:xfrm>
            <a:off x="1143000" y="2581275"/>
            <a:ext cx="4810125"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20345A"/>
                </a:solidFill>
                <a:latin typeface="Trebuchet MS"/>
                <a:ea typeface="Trebuchet MS"/>
                <a:cs typeface="Trebuchet MS"/>
                <a:sym typeface="Trebuchet MS"/>
              </a:defRPr>
            </a:lvl1pPr>
          </a:lstStyle>
          <a:p>
            <a:pPr/>
            <a:r>
              <a:t>Preserve alerts from CAN and simulated V2X.</a:t>
            </a:r>
          </a:p>
        </p:txBody>
      </p:sp>
      <p:sp>
        <p:nvSpPr>
          <p:cNvPr id="248" name="revision-18"/>
          <p:cNvSpPr txBox="1"/>
          <p:nvPr/>
        </p:nvSpPr>
        <p:spPr>
          <a:xfrm>
            <a:off x="1143000" y="3095625"/>
            <a:ext cx="481012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033CC"/>
                </a:solidFill>
                <a:latin typeface="Trebuchet MS"/>
                <a:ea typeface="Trebuchet MS"/>
                <a:cs typeface="Trebuchet MS"/>
                <a:sym typeface="Trebuchet MS"/>
              </a:defRPr>
            </a:lvl1pPr>
          </a:lstStyle>
          <a:p>
            <a:pPr/>
            <a:r>
              <a:t>Cause Attribution</a:t>
            </a:r>
          </a:p>
        </p:txBody>
      </p:sp>
      <p:sp>
        <p:nvSpPr>
          <p:cNvPr id="249" name="revision-19"/>
          <p:cNvSpPr txBox="1"/>
          <p:nvPr/>
        </p:nvSpPr>
        <p:spPr>
          <a:xfrm>
            <a:off x="1143000" y="3362325"/>
            <a:ext cx="4810125" cy="406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20345A"/>
                </a:solidFill>
                <a:latin typeface="Trebuchet MS"/>
                <a:ea typeface="Trebuchet MS"/>
                <a:cs typeface="Trebuchet MS"/>
                <a:sym typeface="Trebuchet MS"/>
              </a:defRPr>
            </a:pPr>
            <a:r>
              <a:t>Distinguish faults, benign drift and attacks</a:t>
            </a:r>
          </a:p>
          <a:p>
            <a:pPr>
              <a:defRPr sz="1400">
                <a:solidFill>
                  <a:srgbClr val="20345A"/>
                </a:solidFill>
                <a:latin typeface="Trebuchet MS"/>
                <a:ea typeface="Trebuchet MS"/>
                <a:cs typeface="Trebuchet MS"/>
                <a:sym typeface="Trebuchet MS"/>
              </a:defRPr>
            </a:pPr>
            <a:r>
              <a:t>where matched evidence permits.</a:t>
            </a:r>
          </a:p>
        </p:txBody>
      </p:sp>
      <p:sp>
        <p:nvSpPr>
          <p:cNvPr id="250" name="revision-20"/>
          <p:cNvSpPr txBox="1"/>
          <p:nvPr/>
        </p:nvSpPr>
        <p:spPr>
          <a:xfrm>
            <a:off x="1143000" y="3876675"/>
            <a:ext cx="481012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033CC"/>
                </a:solidFill>
                <a:latin typeface="Trebuchet MS"/>
                <a:ea typeface="Trebuchet MS"/>
                <a:cs typeface="Trebuchet MS"/>
                <a:sym typeface="Trebuchet MS"/>
              </a:defRPr>
            </a:lvl1pPr>
          </a:lstStyle>
          <a:p>
            <a:pPr/>
            <a:r>
              <a:t>Trust-Aware Fusion</a:t>
            </a:r>
          </a:p>
        </p:txBody>
      </p:sp>
      <p:sp>
        <p:nvSpPr>
          <p:cNvPr id="251" name="revision-21"/>
          <p:cNvSpPr txBox="1"/>
          <p:nvPr/>
        </p:nvSpPr>
        <p:spPr>
          <a:xfrm>
            <a:off x="1143000" y="4143375"/>
            <a:ext cx="4810125" cy="406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20345A"/>
                </a:solidFill>
                <a:latin typeface="Trebuchet MS"/>
                <a:ea typeface="Trebuchet MS"/>
                <a:cs typeface="Trebuchet MS"/>
                <a:sym typeface="Trebuchet MS"/>
              </a:defRPr>
            </a:pPr>
            <a:r>
              <a:t>Check source reliability and conflicts.</a:t>
            </a:r>
          </a:p>
          <a:p>
            <a:pPr>
              <a:defRPr sz="1400">
                <a:solidFill>
                  <a:srgbClr val="20345A"/>
                </a:solidFill>
                <a:latin typeface="Trebuchet MS"/>
                <a:ea typeface="Trebuchet MS"/>
                <a:cs typeface="Trebuchet MS"/>
                <a:sym typeface="Trebuchet MS"/>
              </a:defRPr>
            </a:pPr>
            <a:r>
              <a:t>Return “insufficient evidence” when needed.</a:t>
            </a:r>
          </a:p>
        </p:txBody>
      </p:sp>
      <p:sp>
        <p:nvSpPr>
          <p:cNvPr id="252" name="revision-22"/>
          <p:cNvSpPr txBox="1"/>
          <p:nvPr/>
        </p:nvSpPr>
        <p:spPr>
          <a:xfrm>
            <a:off x="1143000" y="4657725"/>
            <a:ext cx="481012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033CC"/>
                </a:solidFill>
                <a:latin typeface="Trebuchet MS"/>
                <a:ea typeface="Trebuchet MS"/>
                <a:cs typeface="Trebuchet MS"/>
                <a:sym typeface="Trebuchet MS"/>
              </a:defRPr>
            </a:lvl1pPr>
          </a:lstStyle>
          <a:p>
            <a:pPr/>
            <a:r>
              <a:t>Bounded Prevention</a:t>
            </a:r>
          </a:p>
        </p:txBody>
      </p:sp>
      <p:sp>
        <p:nvSpPr>
          <p:cNvPr id="253" name="revision-23"/>
          <p:cNvSpPr txBox="1"/>
          <p:nvPr/>
        </p:nvSpPr>
        <p:spPr>
          <a:xfrm>
            <a:off x="1143000" y="4924425"/>
            <a:ext cx="4810125" cy="406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20345A"/>
                </a:solidFill>
                <a:latin typeface="Trebuchet MS"/>
                <a:ea typeface="Trebuchet MS"/>
                <a:cs typeface="Trebuchet MS"/>
                <a:sym typeface="Trebuchet MS"/>
              </a:defRPr>
            </a:pPr>
            <a:r>
              <a:t>Authorised CAN bench gateway / simulated</a:t>
            </a:r>
          </a:p>
          <a:p>
            <a:pPr>
              <a:defRPr sz="1400">
                <a:solidFill>
                  <a:srgbClr val="20345A"/>
                </a:solidFill>
                <a:latin typeface="Trebuchet MS"/>
                <a:ea typeface="Trebuchet MS"/>
                <a:cs typeface="Trebuchet MS"/>
                <a:sym typeface="Trebuchet MS"/>
              </a:defRPr>
            </a:pPr>
            <a:r>
              <a:t>V2X receiver filtering only. Measure false blocks.</a:t>
            </a:r>
          </a:p>
        </p:txBody>
      </p:sp>
      <p:sp>
        <p:nvSpPr>
          <p:cNvPr id="254" name="revision-24"/>
          <p:cNvSpPr txBox="1"/>
          <p:nvPr/>
        </p:nvSpPr>
        <p:spPr>
          <a:xfrm>
            <a:off x="1143000" y="5438775"/>
            <a:ext cx="481012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033CC"/>
                </a:solidFill>
                <a:latin typeface="Trebuchet MS"/>
                <a:ea typeface="Trebuchet MS"/>
                <a:cs typeface="Trebuchet MS"/>
                <a:sym typeface="Trebuchet MS"/>
              </a:defRPr>
            </a:lvl1pPr>
          </a:lstStyle>
          <a:p>
            <a:pPr/>
            <a:r>
              <a:t>Fleet Corroboration</a:t>
            </a:r>
          </a:p>
        </p:txBody>
      </p:sp>
      <p:sp>
        <p:nvSpPr>
          <p:cNvPr id="255" name="revision-25"/>
          <p:cNvSpPr txBox="1"/>
          <p:nvPr/>
        </p:nvSpPr>
        <p:spPr>
          <a:xfrm>
            <a:off x="1143000" y="5705475"/>
            <a:ext cx="4810125" cy="406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20345A"/>
                </a:solidFill>
                <a:latin typeface="Trebuchet MS"/>
                <a:ea typeface="Trebuchet MS"/>
                <a:cs typeface="Trebuchet MS"/>
                <a:sym typeface="Trebuchet MS"/>
              </a:defRPr>
            </a:pPr>
            <a:r>
              <a:t>Four simulated clients share signed event votes.</a:t>
            </a:r>
          </a:p>
          <a:p>
            <a:pPr>
              <a:defRPr sz="1400">
                <a:solidFill>
                  <a:srgbClr val="20345A"/>
                </a:solidFill>
                <a:latin typeface="Trebuchet MS"/>
                <a:ea typeface="Trebuchet MS"/>
                <a:cs typeface="Trebuchet MS"/>
                <a:sym typeface="Trebuchet MS"/>
              </a:defRPr>
            </a:pPr>
            <a:r>
              <a:t>Local verdicts persist below quorum.</a:t>
            </a:r>
          </a:p>
        </p:txBody>
      </p:sp>
      <p:sp>
        <p:nvSpPr>
          <p:cNvPr id="256" name="revision-28"/>
          <p:cNvSpPr txBox="1"/>
          <p:nvPr/>
        </p:nvSpPr>
        <p:spPr>
          <a:xfrm>
            <a:off x="6381750" y="2314575"/>
            <a:ext cx="4667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0033CC"/>
                </a:solidFill>
                <a:latin typeface="Trebuchet MS"/>
                <a:ea typeface="Trebuchet MS"/>
                <a:cs typeface="Trebuchet MS"/>
                <a:sym typeface="Trebuchet MS"/>
              </a:defRPr>
            </a:lvl1pPr>
          </a:lstStyle>
          <a:p>
            <a:pPr/>
            <a:r>
              <a:t>Available compute + CAN hardware</a:t>
            </a:r>
          </a:p>
        </p:txBody>
      </p:sp>
      <p:sp>
        <p:nvSpPr>
          <p:cNvPr id="257" name="revision-29"/>
          <p:cNvSpPr txBox="1"/>
          <p:nvPr/>
        </p:nvSpPr>
        <p:spPr>
          <a:xfrm>
            <a:off x="6381750" y="2657475"/>
            <a:ext cx="466725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20345A"/>
                </a:solidFill>
                <a:latin typeface="Trebuchet MS"/>
                <a:ea typeface="Trebuchet MS"/>
                <a:cs typeface="Trebuchet MS"/>
                <a:sym typeface="Trebuchet MS"/>
              </a:defRPr>
            </a:lvl1pPr>
          </a:lstStyle>
          <a:p>
            <a:pPr/>
            <a:r>
              <a:t>2 ESP32 + 2 MCP2515 modules, wired and terminated bus cables .</a:t>
            </a:r>
          </a:p>
        </p:txBody>
      </p:sp>
      <p:sp>
        <p:nvSpPr>
          <p:cNvPr id="258" name="revision-30"/>
          <p:cNvSpPr txBox="1"/>
          <p:nvPr/>
        </p:nvSpPr>
        <p:spPr>
          <a:xfrm>
            <a:off x="6381750" y="3267075"/>
            <a:ext cx="4667250" cy="2556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0033CC"/>
                </a:solidFill>
                <a:latin typeface="Trebuchet MS"/>
                <a:ea typeface="Trebuchet MS"/>
                <a:cs typeface="Trebuchet MS"/>
                <a:sym typeface="Trebuchet MS"/>
              </a:defRPr>
            </a:lvl1pPr>
          </a:lstStyle>
          <a:p>
            <a:pPr/>
            <a:r>
              <a:t>Under ₹2,000: core-board estimate</a:t>
            </a:r>
          </a:p>
        </p:txBody>
      </p:sp>
      <p:sp>
        <p:nvSpPr>
          <p:cNvPr id="259" name="revision-31"/>
          <p:cNvSpPr txBox="1"/>
          <p:nvPr/>
        </p:nvSpPr>
        <p:spPr>
          <a:xfrm>
            <a:off x="6381750" y="3609975"/>
            <a:ext cx="466725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20345A"/>
                </a:solidFill>
                <a:latin typeface="Trebuchet MS"/>
                <a:ea typeface="Trebuchet MS"/>
                <a:cs typeface="Trebuchet MS"/>
                <a:sym typeface="Trebuchet MS"/>
              </a:defRPr>
            </a:lvl1pPr>
          </a:lstStyle>
          <a:p>
            <a:pPr/>
            <a:r>
              <a:t>The cost mainly comes from ESP 32 boards , CAN components and API keys for better output.</a:t>
            </a:r>
          </a:p>
        </p:txBody>
      </p:sp>
      <p:sp>
        <p:nvSpPr>
          <p:cNvPr id="260" name="revision-32"/>
          <p:cNvSpPr txBox="1"/>
          <p:nvPr/>
        </p:nvSpPr>
        <p:spPr>
          <a:xfrm>
            <a:off x="6381750" y="4219575"/>
            <a:ext cx="4667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0033CC"/>
                </a:solidFill>
                <a:latin typeface="Trebuchet MS"/>
                <a:ea typeface="Trebuchet MS"/>
                <a:cs typeface="Trebuchet MS"/>
                <a:sym typeface="Trebuchet MS"/>
              </a:defRPr>
            </a:lvl1pPr>
          </a:lstStyle>
          <a:p>
            <a:pPr/>
            <a:r>
              <a:t>Research data + test environment</a:t>
            </a:r>
          </a:p>
        </p:txBody>
      </p:sp>
      <p:sp>
        <p:nvSpPr>
          <p:cNvPr id="261" name="revision-33"/>
          <p:cNvSpPr txBox="1"/>
          <p:nvPr/>
        </p:nvSpPr>
        <p:spPr>
          <a:xfrm>
            <a:off x="6381750" y="4562475"/>
            <a:ext cx="466725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20345A"/>
                </a:solidFill>
                <a:latin typeface="Trebuchet MS"/>
                <a:ea typeface="Trebuchet MS"/>
                <a:cs typeface="Trebuchet MS"/>
                <a:sym typeface="Trebuchet MS"/>
              </a:defRPr>
            </a:pPr>
            <a:r>
              <a:t>ROAD (2024), CICIoV2024, VeReMi NextGen (2026) +</a:t>
            </a:r>
            <a:br/>
            <a:r>
              <a:t>self generated simulations.</a:t>
            </a:r>
          </a:p>
        </p:txBody>
      </p:sp>
      <p:sp>
        <p:nvSpPr>
          <p:cNvPr id="262" name="revision-34"/>
          <p:cNvSpPr txBox="1"/>
          <p:nvPr/>
        </p:nvSpPr>
        <p:spPr>
          <a:xfrm>
            <a:off x="6381750" y="5172075"/>
            <a:ext cx="4667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rgbClr val="0033CC"/>
                </a:solidFill>
                <a:latin typeface="Trebuchet MS"/>
                <a:ea typeface="Trebuchet MS"/>
                <a:cs typeface="Trebuchet MS"/>
                <a:sym typeface="Trebuchet MS"/>
              </a:defRPr>
            </a:lvl1pPr>
          </a:lstStyle>
          <a:p>
            <a:pPr/>
            <a:r>
              <a:t>AI API Keys</a:t>
            </a:r>
          </a:p>
        </p:txBody>
      </p:sp>
      <p:sp>
        <p:nvSpPr>
          <p:cNvPr id="263" name="revision-35"/>
          <p:cNvSpPr txBox="1"/>
          <p:nvPr/>
        </p:nvSpPr>
        <p:spPr>
          <a:xfrm>
            <a:off x="6381750" y="5514975"/>
            <a:ext cx="4667250" cy="647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20345A"/>
                </a:solidFill>
                <a:latin typeface="Trebuchet MS"/>
                <a:ea typeface="Trebuchet MS"/>
                <a:cs typeface="Trebuchet MS"/>
                <a:sym typeface="Trebuchet MS"/>
              </a:defRPr>
            </a:pPr>
            <a:r>
              <a:t>NVIDIA development access and eligible Gemini</a:t>
            </a:r>
          </a:p>
          <a:p>
            <a:pPr>
              <a:defRPr sz="1500">
                <a:solidFill>
                  <a:srgbClr val="20345A"/>
                </a:solidFill>
                <a:latin typeface="Trebuchet MS"/>
                <a:ea typeface="Trebuchet MS"/>
                <a:cs typeface="Trebuchet MS"/>
                <a:sym typeface="Trebuchet MS"/>
              </a:defRPr>
            </a:pPr>
            <a:r>
              <a:t>free tier. Optional paid Claude Haiku API.</a:t>
            </a:r>
          </a:p>
          <a:p>
            <a:pPr>
              <a:defRPr sz="1500">
                <a:solidFill>
                  <a:srgbClr val="20345A"/>
                </a:solidFill>
                <a:latin typeface="Trebuchet MS"/>
                <a:ea typeface="Trebuchet MS"/>
                <a:cs typeface="Trebuchet MS"/>
                <a:sym typeface="Trebuchet MS"/>
              </a:defRPr>
            </a:pPr>
            <a:r>
              <a:t>Core detection and evidence checks work offline.</a:t>
            </a:r>
          </a:p>
        </p:txBody>
      </p:sp>
      <p:sp>
        <p:nvSpPr>
          <p:cNvPr id="264"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07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revision-37"/>
          <p:cNvSpPr txBox="1"/>
          <p:nvPr/>
        </p:nvSpPr>
        <p:spPr>
          <a:xfrm>
            <a:off x="857250" y="1123950"/>
            <a:ext cx="98107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Implementation Challenges</a:t>
            </a:r>
          </a:p>
        </p:txBody>
      </p:sp>
      <p:sp>
        <p:nvSpPr>
          <p:cNvPr id="269" name="Rectangle"/>
          <p:cNvSpPr/>
          <p:nvPr/>
        </p:nvSpPr>
        <p:spPr>
          <a:xfrm>
            <a:off x="3048000" y="1581150"/>
            <a:ext cx="7620000" cy="36195"/>
          </a:xfrm>
          <a:prstGeom prst="rect">
            <a:avLst/>
          </a:prstGeom>
          <a:solidFill>
            <a:srgbClr val="33CCCC"/>
          </a:solidFill>
          <a:ln w="12700">
            <a:miter lim="400000"/>
          </a:ln>
        </p:spPr>
        <p:txBody>
          <a:bodyPr lIns="0" tIns="0" rIns="0" bIns="0"/>
          <a:lstStyle/>
          <a:p>
            <a:pPr>
              <a:defRPr>
                <a:latin typeface="+mn-lt"/>
                <a:ea typeface="+mn-ea"/>
                <a:cs typeface="+mn-cs"/>
                <a:sym typeface="Helvetica"/>
              </a:defRPr>
            </a:pPr>
          </a:p>
        </p:txBody>
      </p:sp>
      <p:sp>
        <p:nvSpPr>
          <p:cNvPr id="270" name="revision-38"/>
          <p:cNvSpPr txBox="1"/>
          <p:nvPr/>
        </p:nvSpPr>
        <p:spPr>
          <a:xfrm>
            <a:off x="1143000" y="2333625"/>
            <a:ext cx="466725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33CC"/>
                </a:solidFill>
                <a:latin typeface="Trebuchet MS"/>
                <a:ea typeface="Trebuchet MS"/>
                <a:cs typeface="Trebuchet MS"/>
                <a:sym typeface="Trebuchet MS"/>
              </a:defRPr>
            </a:lvl1pPr>
          </a:lstStyle>
          <a:p>
            <a:pPr/>
            <a:r>
              <a:t>CAN-V2X Time Alignment</a:t>
            </a:r>
          </a:p>
        </p:txBody>
      </p:sp>
      <p:sp>
        <p:nvSpPr>
          <p:cNvPr id="271" name="revision-39"/>
          <p:cNvSpPr txBox="1"/>
          <p:nvPr/>
        </p:nvSpPr>
        <p:spPr>
          <a:xfrm>
            <a:off x="1143000" y="2676525"/>
            <a:ext cx="4667250" cy="800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20345A"/>
                </a:solidFill>
                <a:latin typeface="Trebuchet MS"/>
                <a:ea typeface="Trebuchet MS"/>
                <a:cs typeface="Trebuchet MS"/>
                <a:sym typeface="Trebuchet MS"/>
              </a:defRPr>
            </a:pPr>
            <a:r>
              <a:t>CAN and V2X events may have different</a:t>
            </a:r>
          </a:p>
          <a:p>
            <a:pPr>
              <a:defRPr>
                <a:solidFill>
                  <a:srgbClr val="20345A"/>
                </a:solidFill>
                <a:latin typeface="Trebuchet MS"/>
                <a:ea typeface="Trebuchet MS"/>
                <a:cs typeface="Trebuchet MS"/>
                <a:sym typeface="Trebuchet MS"/>
              </a:defRPr>
            </a:pPr>
            <a:r>
              <a:t>timestamps, making the same incident</a:t>
            </a:r>
          </a:p>
          <a:p>
            <a:pPr>
              <a:defRPr>
                <a:solidFill>
                  <a:srgbClr val="20345A"/>
                </a:solidFill>
                <a:latin typeface="Trebuchet MS"/>
                <a:ea typeface="Trebuchet MS"/>
                <a:cs typeface="Trebuchet MS"/>
                <a:sym typeface="Trebuchet MS"/>
              </a:defRPr>
            </a:pPr>
            <a:r>
              <a:t>harder to match.</a:t>
            </a:r>
          </a:p>
        </p:txBody>
      </p:sp>
      <p:sp>
        <p:nvSpPr>
          <p:cNvPr id="272" name="revision-40"/>
          <p:cNvSpPr txBox="1"/>
          <p:nvPr/>
        </p:nvSpPr>
        <p:spPr>
          <a:xfrm>
            <a:off x="6381750" y="2333625"/>
            <a:ext cx="466725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33CC"/>
                </a:solidFill>
                <a:latin typeface="Trebuchet MS"/>
                <a:ea typeface="Trebuchet MS"/>
                <a:cs typeface="Trebuchet MS"/>
                <a:sym typeface="Trebuchet MS"/>
              </a:defRPr>
            </a:lvl1pPr>
          </a:lstStyle>
          <a:p>
            <a:pPr/>
            <a:r>
              <a:t>CAN Test-Bench Setup</a:t>
            </a:r>
          </a:p>
        </p:txBody>
      </p:sp>
      <p:sp>
        <p:nvSpPr>
          <p:cNvPr id="273" name="revision-41"/>
          <p:cNvSpPr txBox="1"/>
          <p:nvPr/>
        </p:nvSpPr>
        <p:spPr>
          <a:xfrm>
            <a:off x="6381750" y="2676525"/>
            <a:ext cx="4667250" cy="800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20345A"/>
                </a:solidFill>
                <a:latin typeface="Trebuchet MS"/>
                <a:ea typeface="Trebuchet MS"/>
                <a:cs typeface="Trebuchet MS"/>
                <a:sym typeface="Trebuchet MS"/>
              </a:defRPr>
            </a:pPr>
            <a:r>
              <a:t>ESP32 and MCP2515 integration needs</a:t>
            </a:r>
          </a:p>
          <a:p>
            <a:pPr>
              <a:defRPr>
                <a:solidFill>
                  <a:srgbClr val="20345A"/>
                </a:solidFill>
                <a:latin typeface="Trebuchet MS"/>
                <a:ea typeface="Trebuchet MS"/>
                <a:cs typeface="Trebuchet MS"/>
                <a:sym typeface="Trebuchet MS"/>
              </a:defRPr>
            </a:pPr>
            <a:r>
              <a:t>reliable wiring, bus cable termination and</a:t>
            </a:r>
          </a:p>
          <a:p>
            <a:pPr>
              <a:defRPr>
                <a:solidFill>
                  <a:srgbClr val="20345A"/>
                </a:solidFill>
                <a:latin typeface="Trebuchet MS"/>
                <a:ea typeface="Trebuchet MS"/>
                <a:cs typeface="Trebuchet MS"/>
                <a:sym typeface="Trebuchet MS"/>
              </a:defRPr>
            </a:pPr>
            <a:r>
              <a:t>stable message capture.</a:t>
            </a:r>
          </a:p>
        </p:txBody>
      </p:sp>
      <p:sp>
        <p:nvSpPr>
          <p:cNvPr id="274" name="revision-42"/>
          <p:cNvSpPr txBox="1"/>
          <p:nvPr/>
        </p:nvSpPr>
        <p:spPr>
          <a:xfrm>
            <a:off x="1143000" y="4429125"/>
            <a:ext cx="466725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33CC"/>
                </a:solidFill>
                <a:latin typeface="Trebuchet MS"/>
                <a:ea typeface="Trebuchet MS"/>
                <a:cs typeface="Trebuchet MS"/>
                <a:sym typeface="Trebuchet MS"/>
              </a:defRPr>
            </a:lvl1pPr>
          </a:lstStyle>
          <a:p>
            <a:pPr/>
            <a:r>
              <a:t>Realistic Scenario Creation</a:t>
            </a:r>
          </a:p>
        </p:txBody>
      </p:sp>
      <p:sp>
        <p:nvSpPr>
          <p:cNvPr id="275" name="revision-43"/>
          <p:cNvSpPr txBox="1"/>
          <p:nvPr/>
        </p:nvSpPr>
        <p:spPr>
          <a:xfrm>
            <a:off x="1143000" y="4772025"/>
            <a:ext cx="4667250" cy="800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20345A"/>
                </a:solidFill>
                <a:latin typeface="Trebuchet MS"/>
                <a:ea typeface="Trebuchet MS"/>
                <a:cs typeface="Trebuchet MS"/>
                <a:sym typeface="Trebuchet MS"/>
              </a:defRPr>
            </a:pPr>
            <a:r>
              <a:t>Public CAN and V2X datasets are usually</a:t>
            </a:r>
          </a:p>
          <a:p>
            <a:pPr>
              <a:defRPr>
                <a:solidFill>
                  <a:srgbClr val="20345A"/>
                </a:solidFill>
                <a:latin typeface="Trebuchet MS"/>
                <a:ea typeface="Trebuchet MS"/>
                <a:cs typeface="Trebuchet MS"/>
                <a:sym typeface="Trebuchet MS"/>
              </a:defRPr>
            </a:pPr>
            <a:r>
              <a:t>independent. Linked fault-and-attack</a:t>
            </a:r>
          </a:p>
          <a:p>
            <a:pPr>
              <a:defRPr>
                <a:solidFill>
                  <a:srgbClr val="20345A"/>
                </a:solidFill>
                <a:latin typeface="Trebuchet MS"/>
                <a:ea typeface="Trebuchet MS"/>
                <a:cs typeface="Trebuchet MS"/>
                <a:sym typeface="Trebuchet MS"/>
              </a:defRPr>
            </a:pPr>
            <a:r>
              <a:t>examples need controlled simulation.</a:t>
            </a:r>
          </a:p>
        </p:txBody>
      </p:sp>
      <p:sp>
        <p:nvSpPr>
          <p:cNvPr id="276" name="revision-44"/>
          <p:cNvSpPr txBox="1"/>
          <p:nvPr/>
        </p:nvSpPr>
        <p:spPr>
          <a:xfrm>
            <a:off x="6381750" y="4429125"/>
            <a:ext cx="466725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33CC"/>
                </a:solidFill>
                <a:latin typeface="Trebuchet MS"/>
                <a:ea typeface="Trebuchet MS"/>
                <a:cs typeface="Trebuchet MS"/>
                <a:sym typeface="Trebuchet MS"/>
              </a:defRPr>
            </a:lvl1pPr>
          </a:lstStyle>
          <a:p>
            <a:pPr/>
            <a:r>
              <a:t>Cross-Layer and Fleet Integration</a:t>
            </a:r>
          </a:p>
        </p:txBody>
      </p:sp>
      <p:sp>
        <p:nvSpPr>
          <p:cNvPr id="277" name="revision-45"/>
          <p:cNvSpPr txBox="1"/>
          <p:nvPr/>
        </p:nvSpPr>
        <p:spPr>
          <a:xfrm>
            <a:off x="6381750" y="4772025"/>
            <a:ext cx="4667250" cy="800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20345A"/>
                </a:solidFill>
                <a:latin typeface="Trebuchet MS"/>
                <a:ea typeface="Trebuchet MS"/>
                <a:cs typeface="Trebuchet MS"/>
                <a:sym typeface="Trebuchet MS"/>
              </a:defRPr>
            </a:pPr>
            <a:r>
              <a:t>Detector outputs and signed vehicle</a:t>
            </a:r>
          </a:p>
          <a:p>
            <a:pPr>
              <a:defRPr>
                <a:solidFill>
                  <a:srgbClr val="20345A"/>
                </a:solidFill>
                <a:latin typeface="Trebuchet MS"/>
                <a:ea typeface="Trebuchet MS"/>
                <a:cs typeface="Trebuchet MS"/>
                <a:sym typeface="Trebuchet MS"/>
              </a:defRPr>
            </a:pPr>
            <a:r>
              <a:t>reports require careful event matching</a:t>
            </a:r>
          </a:p>
          <a:p>
            <a:pPr>
              <a:defRPr>
                <a:solidFill>
                  <a:srgbClr val="20345A"/>
                </a:solidFill>
                <a:latin typeface="Trebuchet MS"/>
                <a:ea typeface="Trebuchet MS"/>
                <a:cs typeface="Trebuchet MS"/>
                <a:sym typeface="Trebuchet MS"/>
              </a:defRPr>
            </a:pPr>
            <a:r>
              <a:t>and integration testing.</a:t>
            </a:r>
          </a:p>
        </p:txBody>
      </p:sp>
      <p:sp>
        <p:nvSpPr>
          <p:cNvPr id="278"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09</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brief-text-74"/>
          <p:cNvSpPr txBox="1"/>
          <p:nvPr/>
        </p:nvSpPr>
        <p:spPr>
          <a:xfrm>
            <a:off x="1524000" y="1123950"/>
            <a:ext cx="914400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Background</a:t>
            </a:r>
          </a:p>
        </p:txBody>
      </p:sp>
      <p:sp>
        <p:nvSpPr>
          <p:cNvPr id="283" name="brief-rule-75"/>
          <p:cNvSpPr/>
          <p:nvPr/>
        </p:nvSpPr>
        <p:spPr>
          <a:xfrm>
            <a:off x="3048000" y="1581150"/>
            <a:ext cx="7620000" cy="28575"/>
          </a:xfrm>
          <a:prstGeom prst="rect">
            <a:avLst/>
          </a:prstGeom>
          <a:solidFill>
            <a:srgbClr val="33CCCC"/>
          </a:solidFill>
          <a:ln w="12700">
            <a:miter lim="400000"/>
          </a:ln>
        </p:spPr>
        <p:txBody>
          <a:bodyPr lIns="0" tIns="0" rIns="0" bIns="0"/>
          <a:lstStyle/>
          <a:p>
            <a:pPr>
              <a:defRPr>
                <a:latin typeface="Calibri"/>
                <a:ea typeface="Calibri"/>
                <a:cs typeface="Calibri"/>
                <a:sym typeface="Calibri"/>
              </a:defRPr>
            </a:pPr>
          </a:p>
        </p:txBody>
      </p:sp>
      <p:sp>
        <p:nvSpPr>
          <p:cNvPr id="284" name="brief-text-76"/>
          <p:cNvSpPr txBox="1"/>
          <p:nvPr/>
        </p:nvSpPr>
        <p:spPr>
          <a:xfrm>
            <a:off x="1143000" y="2009775"/>
            <a:ext cx="990600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0033CC"/>
                </a:solidFill>
                <a:latin typeface="Trebuchet MS"/>
                <a:ea typeface="Trebuchet MS"/>
                <a:cs typeface="Trebuchet MS"/>
                <a:sym typeface="Trebuchet MS"/>
              </a:defRPr>
            </a:lvl1pPr>
          </a:lstStyle>
          <a:p>
            <a:pPr/>
            <a:r>
              <a:t>Why this problem</a:t>
            </a:r>
          </a:p>
        </p:txBody>
      </p:sp>
      <p:sp>
        <p:nvSpPr>
          <p:cNvPr id="285" name="brief-text-77"/>
          <p:cNvSpPr txBox="1"/>
          <p:nvPr/>
        </p:nvSpPr>
        <p:spPr>
          <a:xfrm>
            <a:off x="1143000" y="2505075"/>
            <a:ext cx="9906000" cy="965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defRPr sz="1600">
                <a:solidFill>
                  <a:srgbClr val="203459"/>
                </a:solidFill>
                <a:latin typeface="Trebuchet MS"/>
                <a:ea typeface="Trebuchet MS"/>
                <a:cs typeface="Trebuchet MS"/>
                <a:sym typeface="Trebuchet MS"/>
              </a:defRPr>
            </a:pPr>
            <a:r>
              <a:t>Connected vehicles exchange data over CAN and V2X, and their behavior legitimately changes with software updates and driving conditions [3].</a:t>
            </a:r>
          </a:p>
          <a:p>
            <a:pPr defTabSz="457200">
              <a:defRPr sz="1600">
                <a:solidFill>
                  <a:srgbClr val="203459"/>
                </a:solidFill>
                <a:latin typeface="Trebuchet MS"/>
                <a:ea typeface="Trebuchet MS"/>
                <a:cs typeface="Trebuchet MS"/>
                <a:sym typeface="Trebuchet MS"/>
              </a:defRPr>
            </a:pPr>
            <a:r>
              <a:t>Attackers can disguise manipulation as that normal change, so detectors confuse drift with attack [2, 7].</a:t>
            </a:r>
          </a:p>
          <a:p>
            <a:pPr defTabSz="457200">
              <a:defRPr sz="1600">
                <a:solidFill>
                  <a:srgbClr val="203459"/>
                </a:solidFill>
                <a:latin typeface="Trebuchet MS"/>
                <a:ea typeface="Trebuchet MS"/>
                <a:cs typeface="Trebuchet MS"/>
                <a:sym typeface="Trebuchet MS"/>
              </a:defRPr>
            </a:pPr>
            <a:r>
              <a:t>Analysts also need evidence they can verify, not just an alert, to decide which cause is supported [4, 9, 10].</a:t>
            </a:r>
          </a:p>
        </p:txBody>
      </p:sp>
      <p:sp>
        <p:nvSpPr>
          <p:cNvPr id="286" name="brief-rule-78"/>
          <p:cNvSpPr/>
          <p:nvPr/>
        </p:nvSpPr>
        <p:spPr>
          <a:xfrm>
            <a:off x="1143000" y="3884612"/>
            <a:ext cx="9906000" cy="12703"/>
          </a:xfrm>
          <a:prstGeom prst="rect">
            <a:avLst/>
          </a:prstGeom>
          <a:solidFill>
            <a:srgbClr val="CDD8E5"/>
          </a:solidFill>
          <a:ln w="12700">
            <a:miter lim="400000"/>
          </a:ln>
        </p:spPr>
        <p:txBody>
          <a:bodyPr lIns="0" tIns="0" rIns="0" bIns="0"/>
          <a:lstStyle/>
          <a:p>
            <a:pPr>
              <a:defRPr>
                <a:latin typeface="Calibri"/>
                <a:ea typeface="Calibri"/>
                <a:cs typeface="Calibri"/>
                <a:sym typeface="Calibri"/>
              </a:defRPr>
            </a:pPr>
          </a:p>
        </p:txBody>
      </p:sp>
      <p:sp>
        <p:nvSpPr>
          <p:cNvPr id="287" name="brief-text-79"/>
          <p:cNvSpPr txBox="1"/>
          <p:nvPr/>
        </p:nvSpPr>
        <p:spPr>
          <a:xfrm>
            <a:off x="1143000" y="4133850"/>
            <a:ext cx="990600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0033CC"/>
                </a:solidFill>
                <a:latin typeface="Trebuchet MS"/>
                <a:ea typeface="Trebuchet MS"/>
                <a:cs typeface="Trebuchet MS"/>
                <a:sym typeface="Trebuchet MS"/>
              </a:defRPr>
            </a:lvl1pPr>
          </a:lstStyle>
          <a:p>
            <a:pPr/>
            <a:r>
              <a:t>Domain context</a:t>
            </a:r>
          </a:p>
        </p:txBody>
      </p:sp>
      <p:sp>
        <p:nvSpPr>
          <p:cNvPr id="288" name="brief-text-80"/>
          <p:cNvSpPr txBox="1"/>
          <p:nvPr/>
        </p:nvSpPr>
        <p:spPr>
          <a:xfrm>
            <a:off x="1143000" y="4648200"/>
            <a:ext cx="17145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457200">
              <a:defRPr b="1" sz="1900">
                <a:solidFill>
                  <a:srgbClr val="0033CC"/>
                </a:solidFill>
                <a:latin typeface="Trebuchet MS"/>
                <a:ea typeface="Trebuchet MS"/>
                <a:cs typeface="Trebuchet MS"/>
                <a:sym typeface="Trebuchet MS"/>
              </a:defRPr>
            </a:lvl1pPr>
          </a:lstStyle>
          <a:p>
            <a:pPr/>
            <a:r>
              <a:t>Networks</a:t>
            </a:r>
          </a:p>
        </p:txBody>
      </p:sp>
      <p:sp>
        <p:nvSpPr>
          <p:cNvPr id="289" name="brief-text-81"/>
          <p:cNvSpPr txBox="1"/>
          <p:nvPr/>
        </p:nvSpPr>
        <p:spPr>
          <a:xfrm>
            <a:off x="3114675" y="4646612"/>
            <a:ext cx="790575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03459"/>
                </a:solidFill>
                <a:latin typeface="Calibri"/>
                <a:ea typeface="Calibri"/>
                <a:cs typeface="Calibri"/>
                <a:sym typeface="Calibri"/>
              </a:defRPr>
            </a:lvl1pPr>
          </a:lstStyle>
          <a:p>
            <a:pPr/>
            <a:r>
              <a:t>CAN links in-vehicle control units [5]; V2X links vehicles [3].</a:t>
            </a:r>
          </a:p>
        </p:txBody>
      </p:sp>
      <p:sp>
        <p:nvSpPr>
          <p:cNvPr id="290" name="brief-text-82"/>
          <p:cNvSpPr txBox="1"/>
          <p:nvPr/>
        </p:nvSpPr>
        <p:spPr>
          <a:xfrm>
            <a:off x="1143000" y="5114925"/>
            <a:ext cx="171450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457200">
              <a:defRPr b="1" sz="1900">
                <a:solidFill>
                  <a:srgbClr val="0033CC"/>
                </a:solidFill>
                <a:latin typeface="Trebuchet MS"/>
                <a:ea typeface="Trebuchet MS"/>
                <a:cs typeface="Trebuchet MS"/>
                <a:sym typeface="Trebuchet MS"/>
              </a:defRPr>
            </a:lvl1pPr>
          </a:lstStyle>
          <a:p>
            <a:pPr/>
            <a:r>
              <a:t>IoT / CPS</a:t>
            </a:r>
          </a:p>
        </p:txBody>
      </p:sp>
      <p:sp>
        <p:nvSpPr>
          <p:cNvPr id="291" name="brief-text-83"/>
          <p:cNvSpPr txBox="1"/>
          <p:nvPr/>
        </p:nvSpPr>
        <p:spPr>
          <a:xfrm>
            <a:off x="3114675" y="5114925"/>
            <a:ext cx="790575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03459"/>
                </a:solidFill>
                <a:latin typeface="Trebuchet MS"/>
                <a:ea typeface="Trebuchet MS"/>
                <a:cs typeface="Trebuchet MS"/>
                <a:sym typeface="Trebuchet MS"/>
              </a:defRPr>
            </a:lvl1pPr>
          </a:lstStyle>
          <a:p>
            <a:pPr/>
            <a:r>
              <a:t>A connected vehicle is a sensing and control system [9].</a:t>
            </a:r>
          </a:p>
        </p:txBody>
      </p:sp>
      <p:sp>
        <p:nvSpPr>
          <p:cNvPr id="292" name="brief-text-84"/>
          <p:cNvSpPr txBox="1"/>
          <p:nvPr/>
        </p:nvSpPr>
        <p:spPr>
          <a:xfrm>
            <a:off x="1143000" y="5581650"/>
            <a:ext cx="180975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457200">
              <a:defRPr b="1" sz="1900">
                <a:solidFill>
                  <a:srgbClr val="0033CC"/>
                </a:solidFill>
                <a:latin typeface="Trebuchet MS"/>
                <a:ea typeface="Trebuchet MS"/>
                <a:cs typeface="Trebuchet MS"/>
                <a:sym typeface="Trebuchet MS"/>
              </a:defRPr>
            </a:lvl1pPr>
          </a:lstStyle>
          <a:p>
            <a:pPr/>
            <a:r>
              <a:t>IPS / ML</a:t>
            </a:r>
          </a:p>
        </p:txBody>
      </p:sp>
      <p:sp>
        <p:nvSpPr>
          <p:cNvPr id="293" name="brief-text-85"/>
          <p:cNvSpPr txBox="1"/>
          <p:nvPr/>
        </p:nvSpPr>
        <p:spPr>
          <a:xfrm>
            <a:off x="3114675" y="5581650"/>
            <a:ext cx="790575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03459"/>
                </a:solidFill>
                <a:latin typeface="Trebuchet MS"/>
                <a:ea typeface="Trebuchet MS"/>
                <a:cs typeface="Trebuchet MS"/>
                <a:sym typeface="Trebuchet MS"/>
              </a:defRPr>
            </a:lvl1pPr>
          </a:lstStyle>
          <a:p>
            <a:pPr/>
            <a:r>
              <a:t>Drift in normal traffic can resemble an attack [7, 10].</a:t>
            </a:r>
          </a:p>
        </p:txBody>
      </p:sp>
      <p:sp>
        <p:nvSpPr>
          <p:cNvPr id="294" name="brief-text-84"/>
          <p:cNvSpPr txBox="1"/>
          <p:nvPr/>
        </p:nvSpPr>
        <p:spPr>
          <a:xfrm>
            <a:off x="1095374" y="6073773"/>
            <a:ext cx="180975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457200">
              <a:defRPr b="1" sz="1900">
                <a:solidFill>
                  <a:srgbClr val="0033CC"/>
                </a:solidFill>
                <a:latin typeface="Trebuchet MS"/>
                <a:ea typeface="Trebuchet MS"/>
                <a:cs typeface="Trebuchet MS"/>
                <a:sym typeface="Trebuchet MS"/>
              </a:defRPr>
            </a:lvl1pPr>
          </a:lstStyle>
          <a:p>
            <a:pPr/>
            <a:r>
              <a:t>Forensics</a:t>
            </a:r>
          </a:p>
        </p:txBody>
      </p:sp>
      <p:sp>
        <p:nvSpPr>
          <p:cNvPr id="295" name="brief-text-85"/>
          <p:cNvSpPr txBox="1"/>
          <p:nvPr/>
        </p:nvSpPr>
        <p:spPr>
          <a:xfrm>
            <a:off x="3114674" y="6019798"/>
            <a:ext cx="790575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457200">
              <a:defRPr>
                <a:solidFill>
                  <a:srgbClr val="203459"/>
                </a:solidFill>
                <a:latin typeface="Trebuchet MS"/>
                <a:ea typeface="Trebuchet MS"/>
                <a:cs typeface="Trebuchet MS"/>
                <a:sym typeface="Trebuchet MS"/>
              </a:defRPr>
            </a:lvl1pPr>
          </a:lstStyle>
          <a:p>
            <a:pPr/>
            <a:r>
              <a:t>Analysts need verifiable evidence to explain events [4, 9].</a:t>
            </a:r>
          </a:p>
        </p:txBody>
      </p:sp>
      <p:sp>
        <p:nvSpPr>
          <p:cNvPr id="296"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10</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revision-46"/>
          <p:cNvSpPr txBox="1"/>
          <p:nvPr/>
        </p:nvSpPr>
        <p:spPr>
          <a:xfrm>
            <a:off x="857250" y="1123950"/>
            <a:ext cx="98107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Research Gap and Proposed Contribution</a:t>
            </a:r>
          </a:p>
        </p:txBody>
      </p:sp>
      <p:sp>
        <p:nvSpPr>
          <p:cNvPr id="301" name="Rectangle"/>
          <p:cNvSpPr/>
          <p:nvPr/>
        </p:nvSpPr>
        <p:spPr>
          <a:xfrm>
            <a:off x="3048000" y="1581150"/>
            <a:ext cx="7620000" cy="36195"/>
          </a:xfrm>
          <a:prstGeom prst="rect">
            <a:avLst/>
          </a:prstGeom>
          <a:solidFill>
            <a:srgbClr val="33CCCC"/>
          </a:solidFill>
          <a:ln w="12700">
            <a:miter lim="400000"/>
          </a:ln>
        </p:spPr>
        <p:txBody>
          <a:bodyPr lIns="0" tIns="0" rIns="0" bIns="0"/>
          <a:lstStyle/>
          <a:p>
            <a:pPr>
              <a:defRPr>
                <a:latin typeface="+mn-lt"/>
                <a:ea typeface="+mn-ea"/>
                <a:cs typeface="+mn-cs"/>
                <a:sym typeface="Helvetica"/>
              </a:defRPr>
            </a:pPr>
          </a:p>
        </p:txBody>
      </p:sp>
      <p:sp>
        <p:nvSpPr>
          <p:cNvPr id="302" name="revision-47"/>
          <p:cNvSpPr txBox="1"/>
          <p:nvPr/>
        </p:nvSpPr>
        <p:spPr>
          <a:xfrm>
            <a:off x="1143000" y="2105025"/>
            <a:ext cx="9906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33CC"/>
                </a:solidFill>
                <a:latin typeface="Trebuchet MS"/>
                <a:ea typeface="Trebuchet MS"/>
                <a:cs typeface="Trebuchet MS"/>
                <a:sym typeface="Trebuchet MS"/>
              </a:defRPr>
            </a:lvl1pPr>
          </a:lstStyle>
          <a:p>
            <a:pPr/>
            <a:r>
              <a:t>Cause-aware attribution [1, 2, 7, 10]</a:t>
            </a:r>
          </a:p>
        </p:txBody>
      </p:sp>
      <p:sp>
        <p:nvSpPr>
          <p:cNvPr id="303" name="revision-48"/>
          <p:cNvSpPr txBox="1"/>
          <p:nvPr/>
        </p:nvSpPr>
        <p:spPr>
          <a:xfrm>
            <a:off x="1143000" y="2466975"/>
            <a:ext cx="99060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Similar anomalies can arise from faults, benign changes or attacks.</a:t>
            </a:r>
          </a:p>
        </p:txBody>
      </p:sp>
      <p:sp>
        <p:nvSpPr>
          <p:cNvPr id="304" name="revision-49"/>
          <p:cNvSpPr txBox="1"/>
          <p:nvPr/>
        </p:nvSpPr>
        <p:spPr>
          <a:xfrm>
            <a:off x="1143000" y="2828925"/>
            <a:ext cx="99060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087E8B"/>
                </a:solidFill>
                <a:latin typeface="Trebuchet MS"/>
                <a:ea typeface="Trebuchet MS"/>
                <a:cs typeface="Trebuchet MS"/>
                <a:sym typeface="Trebuchet MS"/>
              </a:defRPr>
            </a:lvl1pPr>
          </a:lstStyle>
          <a:p>
            <a:pPr/>
            <a:r>
              <a:t>Planned evaluation: Test matched CAN/V2X events with known causes and an unknown outcome.</a:t>
            </a:r>
          </a:p>
        </p:txBody>
      </p:sp>
      <p:sp>
        <p:nvSpPr>
          <p:cNvPr id="305" name="revision-50"/>
          <p:cNvSpPr txBox="1"/>
          <p:nvPr/>
        </p:nvSpPr>
        <p:spPr>
          <a:xfrm>
            <a:off x="1143000" y="3457575"/>
            <a:ext cx="9906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33CC"/>
                </a:solidFill>
                <a:latin typeface="Trebuchet MS"/>
                <a:ea typeface="Trebuchet MS"/>
                <a:cs typeface="Trebuchet MS"/>
                <a:sym typeface="Trebuchet MS"/>
              </a:defRPr>
            </a:lvl1pPr>
          </a:lstStyle>
          <a:p>
            <a:pPr/>
            <a:r>
              <a:t>Trust-aware conflict handling [1, 3]</a:t>
            </a:r>
          </a:p>
        </p:txBody>
      </p:sp>
      <p:sp>
        <p:nvSpPr>
          <p:cNvPr id="306" name="revision-51"/>
          <p:cNvSpPr txBox="1"/>
          <p:nvPr/>
        </p:nvSpPr>
        <p:spPr>
          <a:xfrm>
            <a:off x="1143000" y="3819525"/>
            <a:ext cx="99060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Correlated observations can still be delayed, missing or misleading.</a:t>
            </a:r>
          </a:p>
        </p:txBody>
      </p:sp>
      <p:sp>
        <p:nvSpPr>
          <p:cNvPr id="307" name="revision-52"/>
          <p:cNvSpPr txBox="1"/>
          <p:nvPr/>
        </p:nvSpPr>
        <p:spPr>
          <a:xfrm>
            <a:off x="1143000" y="4181475"/>
            <a:ext cx="99060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087E8B"/>
                </a:solidFill>
                <a:latin typeface="Trebuchet MS"/>
                <a:ea typeface="Trebuchet MS"/>
                <a:cs typeface="Trebuchet MS"/>
                <a:sym typeface="Trebuchet MS"/>
              </a:defRPr>
            </a:lvl1pPr>
          </a:lstStyle>
          <a:p>
            <a:pPr/>
            <a:r>
              <a:t>Planned evaluation: Preserve independent alerts and test reliability-aware confidence updates.</a:t>
            </a:r>
          </a:p>
        </p:txBody>
      </p:sp>
      <p:sp>
        <p:nvSpPr>
          <p:cNvPr id="308" name="revision-53"/>
          <p:cNvSpPr txBox="1"/>
          <p:nvPr/>
        </p:nvSpPr>
        <p:spPr>
          <a:xfrm>
            <a:off x="1143000" y="4810125"/>
            <a:ext cx="9906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33CC"/>
                </a:solidFill>
                <a:latin typeface="Trebuchet MS"/>
                <a:ea typeface="Trebuchet MS"/>
                <a:cs typeface="Trebuchet MS"/>
                <a:sym typeface="Trebuchet MS"/>
              </a:defRPr>
            </a:lvl1pPr>
          </a:lstStyle>
          <a:p>
            <a:pPr/>
            <a:r>
              <a:t>Bounded filtering and fleet robustness [3, 6]</a:t>
            </a:r>
          </a:p>
        </p:txBody>
      </p:sp>
      <p:sp>
        <p:nvSpPr>
          <p:cNvPr id="309" name="revision-54"/>
          <p:cNvSpPr txBox="1"/>
          <p:nvPr/>
        </p:nvSpPr>
        <p:spPr>
          <a:xfrm>
            <a:off x="1143000" y="5172075"/>
            <a:ext cx="99060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A supported local alert may lack reliable fleet corroboration.</a:t>
            </a:r>
          </a:p>
        </p:txBody>
      </p:sp>
      <p:sp>
        <p:nvSpPr>
          <p:cNvPr id="310" name="revision-55"/>
          <p:cNvSpPr txBox="1"/>
          <p:nvPr/>
        </p:nvSpPr>
        <p:spPr>
          <a:xfrm>
            <a:off x="1143000" y="5534025"/>
            <a:ext cx="99060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087E8B"/>
                </a:solidFill>
                <a:latin typeface="Trebuchet MS"/>
                <a:ea typeface="Trebuchet MS"/>
                <a:cs typeface="Trebuchet MS"/>
                <a:sym typeface="Trebuchet MS"/>
              </a:defRPr>
            </a:lvl1pPr>
          </a:lstStyle>
          <a:p>
            <a:pPr/>
            <a:r>
              <a:t>Planned evaluation: Measure lab false blocks and corroboration under one faulty simulated client.</a:t>
            </a:r>
          </a:p>
        </p:txBody>
      </p:sp>
      <p:sp>
        <p:nvSpPr>
          <p:cNvPr id="311"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11</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revision-57"/>
          <p:cNvSpPr txBox="1"/>
          <p:nvPr/>
        </p:nvSpPr>
        <p:spPr>
          <a:xfrm>
            <a:off x="857250" y="1123950"/>
            <a:ext cx="98107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CAN and V2X - Applications / Use Cases</a:t>
            </a:r>
          </a:p>
        </p:txBody>
      </p:sp>
      <p:sp>
        <p:nvSpPr>
          <p:cNvPr id="316" name="Rectangle"/>
          <p:cNvSpPr/>
          <p:nvPr/>
        </p:nvSpPr>
        <p:spPr>
          <a:xfrm>
            <a:off x="3048000" y="1581150"/>
            <a:ext cx="7620000" cy="36195"/>
          </a:xfrm>
          <a:prstGeom prst="rect">
            <a:avLst/>
          </a:prstGeom>
          <a:solidFill>
            <a:srgbClr val="33CCCC"/>
          </a:solidFill>
          <a:ln w="12700">
            <a:miter lim="400000"/>
          </a:ln>
        </p:spPr>
        <p:txBody>
          <a:bodyPr lIns="0" tIns="0" rIns="0" bIns="0"/>
          <a:lstStyle/>
          <a:p>
            <a:pPr>
              <a:defRPr>
                <a:latin typeface="+mn-lt"/>
                <a:ea typeface="+mn-ea"/>
                <a:cs typeface="+mn-cs"/>
                <a:sym typeface="Helvetica"/>
              </a:defRPr>
            </a:pPr>
          </a:p>
        </p:txBody>
      </p:sp>
      <p:sp>
        <p:nvSpPr>
          <p:cNvPr id="330"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08</a:t>
            </a:r>
          </a:p>
        </p:txBody>
      </p:sp>
      <p:pic>
        <p:nvPicPr>
          <p:cNvPr id="331" name="">
            <a:extLst>
              <a:ext uri="{FF2B5EF4-FFF2-40B4-BE49-F238E27FC236}">
                <a16:creationId xmlns:a16="http://schemas.microsoft.com/office/drawing/2014/main" id="{BC72416E-59CE-4997-A9E2-0A52A0C7E96B}"/>
              </a:ext>
            </a:extLst>
          </p:cNvPr>
          <p:cNvPicPr>
            <a:picLocks noChangeAspect="1"/>
          </p:cNvPicPr>
          <p:nvPr/>
        </p:nvPicPr>
        <p:blipFill>
          <a:blip r:embed="rId3"/>
          <a:stretch/>
        </p:blipFill>
        <p:spPr>
          <a:xfrm>
            <a:off x="2552700" y="1714500"/>
            <a:ext cx="7086600" cy="4724400"/>
          </a:xfrm>
          <a:prstGeom prst="rect">
            <a:avLst/>
          </a:prstGeom>
        </p:spPr>
      </p:pic>
      <p:sp>
        <p:nvSpPr>
          <p:cNvPr id="332" name="VT_image_caption">
            <a:extLst>
              <a:ext uri="{FF2B5EF4-FFF2-40B4-BE49-F238E27FC236}">
                <a16:creationId xmlns:a16="http://schemas.microsoft.com/office/drawing/2014/main" id="{408A9ED8-6630-49A7-AF0D-B16CDB10EC5B}"/>
              </a:ext>
            </a:extLst>
          </p:cNvPr>
          <p:cNvSpPr>
            <a:spLocks noGrp="1"/>
          </p:cNvSpPr>
          <p:nvPr/>
        </p:nvSpPr>
        <p:spPr>
          <a:xfrm>
            <a:off x="1143000" y="6505575"/>
            <a:ext cx="8953500" cy="219075"/>
          </a:xfrm>
          <a:prstGeom prst="rect">
            <a:avLst/>
          </a:prstGeom>
          <a:noFill/>
          <a:ln w="0">
            <a:noFill/>
          </a:ln>
        </p:spPr>
        <p:txBody>
          <a:bodyPr wrap="none" lIns="0" tIns="0" rIns="0" bIns="0" anchor="t">
            <a:noAutofit/>
          </a:bodyPr>
          <a:lstStyle>
            <a:defPPr algn="l">
              <a:defRPr sz="1200">
                <a:solidFill>
                  <a:srgbClr val="53627A"/>
                </a:solidFill>
                <a:latin typeface="Trebuchet MS"/>
                <a:ea typeface="Trebuchet MS"/>
                <a:cs typeface="Trebuchet MS"/>
              </a:defRPr>
            </a:defPPr>
          </a:lstStyle>
          <a:p>
            <a:pPr algn="l">
              <a:defRPr sz="1200">
                <a:solidFill>
                  <a:srgbClr val="53627A"/>
                </a:solidFill>
                <a:latin typeface="Trebuchet MS"/>
                <a:ea typeface="Trebuchet MS"/>
                <a:cs typeface="Trebuchet MS"/>
              </a:defRPr>
            </a:pPr>
            <a:r>
              <a:rPr sz="1200">
                <a:solidFill>
                  <a:srgbClr val="53627A"/>
                </a:solidFill>
                <a:latin typeface="Trebuchet MS"/>
                <a:ea typeface="Trebuchet MS"/>
                <a:cs typeface="Trebuchet MS"/>
              </a:rPr>
              <a:t>Illustrative application scenarios for proposed laboratory evaluation.</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revision-71"/>
          <p:cNvSpPr txBox="1"/>
          <p:nvPr/>
        </p:nvSpPr>
        <p:spPr>
          <a:xfrm>
            <a:off x="857250" y="1123950"/>
            <a:ext cx="98107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GhostTrace: Motivation, Prior Work &amp; Research Gap</a:t>
            </a:r>
          </a:p>
        </p:txBody>
      </p:sp>
      <p:sp>
        <p:nvSpPr>
          <p:cNvPr id="335" name="Rectangle"/>
          <p:cNvSpPr/>
          <p:nvPr/>
        </p:nvSpPr>
        <p:spPr>
          <a:xfrm>
            <a:off x="3048000" y="1581150"/>
            <a:ext cx="7620000" cy="36195"/>
          </a:xfrm>
          <a:prstGeom prst="rect">
            <a:avLst/>
          </a:prstGeom>
          <a:solidFill>
            <a:srgbClr val="33CCCC"/>
          </a:solidFill>
          <a:ln w="12700">
            <a:miter lim="400000"/>
          </a:ln>
        </p:spPr>
        <p:txBody>
          <a:bodyPr lIns="0" tIns="0" rIns="0" bIns="0"/>
          <a:lstStyle/>
          <a:p>
            <a:pPr>
              <a:defRPr>
                <a:latin typeface="+mn-lt"/>
                <a:ea typeface="+mn-ea"/>
                <a:cs typeface="+mn-cs"/>
                <a:sym typeface="Helvetica"/>
              </a:defRPr>
            </a:pPr>
          </a:p>
        </p:txBody>
      </p:sp>
      <p:sp>
        <p:nvSpPr>
          <p:cNvPr id="336" name="revision-72"/>
          <p:cNvSpPr txBox="1"/>
          <p:nvPr/>
        </p:nvSpPr>
        <p:spPr>
          <a:xfrm>
            <a:off x="1143000" y="1885950"/>
            <a:ext cx="9906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33CC"/>
                </a:solidFill>
                <a:latin typeface="Trebuchet MS"/>
                <a:ea typeface="Trebuchet MS"/>
                <a:cs typeface="Trebuchet MS"/>
                <a:sym typeface="Trebuchet MS"/>
              </a:defRPr>
            </a:lvl1pPr>
          </a:lstStyle>
          <a:p>
            <a:pPr/>
            <a:r>
              <a:t>Motivation: incomplete incident histories weaken investigation</a:t>
            </a:r>
          </a:p>
        </p:txBody>
      </p:sp>
      <p:sp>
        <p:nvSpPr>
          <p:cNvPr id="337" name="revision-73"/>
          <p:cNvSpPr txBox="1"/>
          <p:nvPr/>
        </p:nvSpPr>
        <p:spPr>
          <a:xfrm>
            <a:off x="1143000" y="2276475"/>
            <a:ext cx="99060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20345A"/>
                </a:solidFill>
                <a:latin typeface="Trebuchet MS"/>
                <a:ea typeface="Trebuchet MS"/>
                <a:cs typeface="Trebuchet MS"/>
                <a:sym typeface="Trebuchet MS"/>
              </a:defRPr>
            </a:pPr>
            <a:r>
              <a:rPr u="sng">
                <a:solidFill>
                  <a:srgbClr val="0000FF"/>
                </a:solidFill>
                <a:uFill>
                  <a:solidFill>
                    <a:srgbClr val="0000FF"/>
                  </a:solidFill>
                </a:uFill>
                <a:hlinkClick r:id="rId3" invalidUrl="" action="" tgtFrame="" tooltip="" history="1" highlightClick="0" endSnd="0"/>
              </a:rPr>
              <a:t>NHTSA’s 2024 Cruise action concerned incomplete reports of a 2023 pedestrian crash.</a:t>
            </a:r>
          </a:p>
          <a:p>
            <a:pPr>
              <a:defRPr sz="1600">
                <a:solidFill>
                  <a:srgbClr val="20345A"/>
                </a:solidFill>
                <a:latin typeface="Trebuchet MS"/>
                <a:ea typeface="Trebuchet MS"/>
                <a:cs typeface="Trebuchet MS"/>
                <a:sym typeface="Trebuchet MS"/>
              </a:defRPr>
            </a:pPr>
            <a:r>
              <a:rPr u="sng">
                <a:solidFill>
                  <a:srgbClr val="0000FF"/>
                </a:solidFill>
                <a:uFill>
                  <a:solidFill>
                    <a:srgbClr val="0000FF"/>
                  </a:solidFill>
                </a:uFill>
                <a:hlinkClick r:id="rId3" invalidUrl="" action="" tgtFrame="" tooltip="" history="1" highlightClick="0" endSnd="0"/>
              </a:rPr>
              <a:t>It illustrates reporting and reconstruction needs, without establishing raw-log tampering.</a:t>
            </a:r>
          </a:p>
        </p:txBody>
      </p:sp>
      <p:graphicFrame>
        <p:nvGraphicFramePr>
          <p:cNvPr id="338" name="Table 1"/>
          <p:cNvGraphicFramePr/>
          <p:nvPr/>
        </p:nvGraphicFramePr>
        <p:xfrm>
          <a:off x="1143000" y="3038475"/>
          <a:ext cx="9906000" cy="233362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714625"/>
                <a:gridCol w="3048000"/>
                <a:gridCol w="4143375"/>
              </a:tblGrid>
              <a:tr h="361950">
                <a:tc>
                  <a:txBody>
                    <a:bodyPr/>
                    <a:lstStyle/>
                    <a:p>
                      <a:pPr algn="l">
                        <a:defRPr b="0" sz="1800">
                          <a:solidFill>
                            <a:srgbClr val="000000"/>
                          </a:solidFill>
                        </a:defRPr>
                      </a:pPr>
                      <a:r>
                        <a:rPr b="1" sz="1500">
                          <a:solidFill>
                            <a:srgbClr val="FFFFFF"/>
                          </a:solidFill>
                          <a:latin typeface="Trebuchet MS"/>
                          <a:ea typeface="Trebuchet MS"/>
                          <a:cs typeface="Trebuchet MS"/>
                          <a:sym typeface="Trebuchet MS"/>
                        </a:rPr>
                        <a:t>Prior research</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20345A"/>
                    </a:solidFill>
                  </a:tcPr>
                </a:tc>
                <a:tc>
                  <a:txBody>
                    <a:bodyPr/>
                    <a:lstStyle/>
                    <a:p>
                      <a:pPr algn="l">
                        <a:defRPr b="0" sz="1800">
                          <a:solidFill>
                            <a:srgbClr val="000000"/>
                          </a:solidFill>
                        </a:defRPr>
                      </a:pPr>
                      <a:r>
                        <a:rPr b="1" sz="1500">
                          <a:solidFill>
                            <a:srgbClr val="FFFFFF"/>
                          </a:solidFill>
                          <a:latin typeface="Trebuchet MS"/>
                          <a:ea typeface="Trebuchet MS"/>
                          <a:cs typeface="Trebuchet MS"/>
                          <a:sym typeface="Trebuchet MS"/>
                        </a:rPr>
                        <a:t>Contribution</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20345A"/>
                    </a:solidFill>
                  </a:tcPr>
                </a:tc>
                <a:tc>
                  <a:txBody>
                    <a:bodyPr/>
                    <a:lstStyle/>
                    <a:p>
                      <a:pPr algn="l">
                        <a:defRPr b="0" sz="1800">
                          <a:solidFill>
                            <a:srgbClr val="000000"/>
                          </a:solidFill>
                        </a:defRPr>
                      </a:pPr>
                      <a:r>
                        <a:rPr b="1" sz="1500">
                          <a:solidFill>
                            <a:srgbClr val="FFFFFF"/>
                          </a:solidFill>
                          <a:latin typeface="Trebuchet MS"/>
                          <a:ea typeface="Trebuchet MS"/>
                          <a:cs typeface="Trebuchet MS"/>
                          <a:sym typeface="Trebuchet MS"/>
                        </a:rPr>
                        <a:t>Question for GhostTrace</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20345A"/>
                    </a:solidFill>
                  </a:tcPr>
                </a:tc>
              </a:tr>
              <a:tr h="657225">
                <a:tc>
                  <a:txBody>
                    <a:bodyPr/>
                    <a:lstStyle/>
                    <a:p>
                      <a:pPr algn="l">
                        <a:defRPr sz="1800"/>
                      </a:pPr>
                      <a:r>
                        <a:rPr sz="1500">
                          <a:solidFill>
                            <a:srgbClr val="20345A"/>
                          </a:solidFill>
                          <a:latin typeface="Trebuchet MS"/>
                          <a:ea typeface="Trebuchet MS"/>
                          <a:cs typeface="Trebuchet MS"/>
                          <a:sym typeface="Trebuchet MS"/>
                        </a:rPr>
                        <a:t>Nitro (2025) [4]</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500">
                          <a:solidFill>
                            <a:srgbClr val="20345A"/>
                          </a:solidFill>
                          <a:latin typeface="Trebuchet MS"/>
                          <a:ea typeface="Trebuchet MS"/>
                          <a:cs typeface="Trebuchet MS"/>
                          <a:sym typeface="Trebuchet MS"/>
                        </a:rPr>
                        <a:t>Tamper-evident system auditing</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500">
                          <a:solidFill>
                            <a:srgbClr val="20345A"/>
                          </a:solidFill>
                          <a:latin typeface="Trebuchet MS"/>
                          <a:ea typeface="Trebuchet MS"/>
                          <a:cs typeface="Trebuchet MS"/>
                          <a:sym typeface="Trebuchet MS"/>
                        </a:rPr>
                        <a:t>How does verification behave during
vehicle connectivity loss?</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r>
              <a:tr h="657225">
                <a:tc>
                  <a:txBody>
                    <a:bodyPr/>
                    <a:lstStyle/>
                    <a:p>
                      <a:pPr algn="l">
                        <a:defRPr sz="1800"/>
                      </a:pPr>
                      <a:r>
                        <a:rPr sz="1500">
                          <a:solidFill>
                            <a:srgbClr val="20345A"/>
                          </a:solidFill>
                          <a:latin typeface="Trebuchet MS"/>
                          <a:ea typeface="Trebuchet MS"/>
                          <a:cs typeface="Trebuchet MS"/>
                          <a:sym typeface="Trebuchet MS"/>
                        </a:rPr>
                        <a:t>Accountability of Things
(2023, preprint) [8]</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c>
                  <a:txBody>
                    <a:bodyPr/>
                    <a:lstStyle/>
                    <a:p>
                      <a:pPr algn="l">
                        <a:defRPr sz="1800"/>
                      </a:pPr>
                      <a:r>
                        <a:rPr sz="1500">
                          <a:solidFill>
                            <a:srgbClr val="20345A"/>
                          </a:solidFill>
                          <a:latin typeface="Trebuchet MS"/>
                          <a:ea typeface="Trebuchet MS"/>
                          <a:cs typeface="Trebuchet MS"/>
                          <a:sym typeface="Trebuchet MS"/>
                        </a:rPr>
                        <a:t>Witnessed logging for devices</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c>
                  <a:txBody>
                    <a:bodyPr/>
                    <a:lstStyle/>
                    <a:p>
                      <a:pPr algn="l">
                        <a:defRPr sz="1800"/>
                      </a:pPr>
                      <a:r>
                        <a:rPr sz="1500">
                          <a:solidFill>
                            <a:srgbClr val="20345A"/>
                          </a:solidFill>
                          <a:latin typeface="Trebuchet MS"/>
                          <a:ea typeface="Trebuchet MS"/>
                          <a:cs typeface="Trebuchet MS"/>
                          <a:sym typeface="Trebuchet MS"/>
                        </a:rPr>
                        <a:t>Can independent receipts expose conflicts
without labelling every gap as tampering?</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r>
              <a:tr h="657225">
                <a:tc>
                  <a:txBody>
                    <a:bodyPr/>
                    <a:lstStyle/>
                    <a:p>
                      <a:pPr algn="l">
                        <a:defRPr sz="1800"/>
                      </a:pPr>
                      <a:r>
                        <a:rPr sz="1500">
                          <a:solidFill>
                            <a:srgbClr val="20345A"/>
                          </a:solidFill>
                          <a:latin typeface="Trebuchet MS"/>
                          <a:ea typeface="Trebuchet MS"/>
                          <a:cs typeface="Trebuchet MS"/>
                          <a:sym typeface="Trebuchet MS"/>
                        </a:rPr>
                        <a:t>Sharma &amp; Gillanders
(2022) [9]</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500">
                          <a:solidFill>
                            <a:srgbClr val="20345A"/>
                          </a:solidFill>
                          <a:latin typeface="Trebuchet MS"/>
                          <a:ea typeface="Trebuchet MS"/>
                          <a:cs typeface="Trebuchet MS"/>
                          <a:sym typeface="Trebuchet MS"/>
                        </a:rPr>
                        <a:t>CAV cybersecurity and
forensic review</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500">
                          <a:solidFill>
                            <a:srgbClr val="20345A"/>
                          </a:solidFill>
                          <a:latin typeface="Trebuchet MS"/>
                          <a:ea typeface="Trebuchet MS"/>
                          <a:cs typeface="Trebuchet MS"/>
                          <a:sym typeface="Trebuchet MS"/>
                        </a:rPr>
                        <a:t>Can retained incident histories support
repeatable, verifiable reconstruction?</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r>
            </a:tbl>
          </a:graphicData>
        </a:graphic>
      </p:graphicFrame>
      <p:sp>
        <p:nvSpPr>
          <p:cNvPr id="339" name="revision-74"/>
          <p:cNvSpPr txBox="1"/>
          <p:nvPr/>
        </p:nvSpPr>
        <p:spPr>
          <a:xfrm>
            <a:off x="1143000" y="5553075"/>
            <a:ext cx="9906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87E8B"/>
                </a:solidFill>
                <a:latin typeface="Trebuchet MS"/>
                <a:ea typeface="Trebuchet MS"/>
                <a:cs typeface="Trebuchet MS"/>
                <a:sym typeface="Trebuchet MS"/>
              </a:defRPr>
            </a:lvl1pPr>
          </a:lstStyle>
          <a:p>
            <a:pPr/>
            <a:r>
              <a:t>Research gap to test</a:t>
            </a:r>
          </a:p>
        </p:txBody>
      </p:sp>
      <p:sp>
        <p:nvSpPr>
          <p:cNvPr id="340" name="revision-75"/>
          <p:cNvSpPr txBox="1"/>
          <p:nvPr/>
        </p:nvSpPr>
        <p:spPr>
          <a:xfrm>
            <a:off x="1143000" y="5905500"/>
            <a:ext cx="99060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20345A"/>
                </a:solidFill>
                <a:latin typeface="Trebuchet MS"/>
                <a:ea typeface="Trebuchet MS"/>
                <a:cs typeface="Trebuchet MS"/>
                <a:sym typeface="Trebuchet MS"/>
              </a:defRPr>
            </a:pPr>
            <a:r>
              <a:t>Distinguish verified alteration from delayed or unavailable evidence, and measure what</a:t>
            </a:r>
          </a:p>
          <a:p>
            <a:pPr>
              <a:defRPr sz="1600">
                <a:solidFill>
                  <a:srgbClr val="20345A"/>
                </a:solidFill>
                <a:latin typeface="Trebuchet MS"/>
                <a:ea typeface="Trebuchet MS"/>
                <a:cs typeface="Trebuchet MS"/>
                <a:sym typeface="Trebuchet MS"/>
              </a:defRPr>
            </a:pPr>
            <a:r>
              <a:t>independent copies can recover. Support collision and insurance incident review.</a:t>
            </a:r>
          </a:p>
        </p:txBody>
      </p:sp>
      <p:sp>
        <p:nvSpPr>
          <p:cNvPr id="341"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14</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5" name="Connection Line"/>
          <p:cNvSpPr/>
          <p:nvPr/>
        </p:nvSpPr>
        <p:spPr>
          <a:xfrm>
            <a:off x="6096000" y="5391150"/>
            <a:ext cx="3381375" cy="4286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0560"/>
                </a:lnTo>
                <a:lnTo>
                  <a:pt x="21600" y="10560"/>
                </a:lnTo>
                <a:lnTo>
                  <a:pt x="21600" y="21600"/>
                </a:lnTo>
              </a:path>
            </a:pathLst>
          </a:custGeom>
          <a:ln w="19050">
            <a:solidFill>
              <a:srgbClr val="087E8B"/>
            </a:solidFill>
            <a:tailEnd type="triangle"/>
          </a:ln>
        </p:spPr>
        <p:txBody>
          <a:bodyPr lIns="0" tIns="0" rIns="0" bIns="0"/>
          <a:lstStyle/>
          <a:p>
            <a:pPr/>
          </a:p>
        </p:txBody>
      </p:sp>
      <p:sp>
        <p:nvSpPr>
          <p:cNvPr id="346" name="Connection Line"/>
          <p:cNvSpPr/>
          <p:nvPr/>
        </p:nvSpPr>
        <p:spPr>
          <a:xfrm>
            <a:off x="6048375" y="5391150"/>
            <a:ext cx="0" cy="428625"/>
          </a:xfrm>
          <a:prstGeom prst="line">
            <a:avLst/>
          </a:prstGeom>
          <a:ln w="19050">
            <a:solidFill>
              <a:srgbClr val="087E8B"/>
            </a:solidFill>
            <a:tailEnd type="triangle"/>
          </a:ln>
        </p:spPr>
        <p:txBody>
          <a:bodyPr lIns="0" tIns="0" rIns="0" bIns="0"/>
          <a:lstStyle/>
          <a:p>
            <a:pPr/>
          </a:p>
        </p:txBody>
      </p:sp>
      <p:sp>
        <p:nvSpPr>
          <p:cNvPr id="347" name="Connection Line"/>
          <p:cNvSpPr/>
          <p:nvPr/>
        </p:nvSpPr>
        <p:spPr>
          <a:xfrm>
            <a:off x="2667000" y="5391150"/>
            <a:ext cx="3429000" cy="4286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21600" y="10560"/>
                </a:lnTo>
                <a:lnTo>
                  <a:pt x="0" y="10560"/>
                </a:lnTo>
                <a:lnTo>
                  <a:pt x="0" y="21600"/>
                </a:lnTo>
              </a:path>
            </a:pathLst>
          </a:custGeom>
          <a:ln w="19050">
            <a:solidFill>
              <a:srgbClr val="087E8B"/>
            </a:solidFill>
            <a:tailEnd type="triangle"/>
          </a:ln>
        </p:spPr>
        <p:txBody>
          <a:bodyPr lIns="0" tIns="0" rIns="0" bIns="0"/>
          <a:lstStyle/>
          <a:p>
            <a:pPr/>
          </a:p>
        </p:txBody>
      </p:sp>
      <p:sp>
        <p:nvSpPr>
          <p:cNvPr id="348" name="Connection Line"/>
          <p:cNvSpPr/>
          <p:nvPr/>
        </p:nvSpPr>
        <p:spPr>
          <a:xfrm>
            <a:off x="8191500" y="3571875"/>
            <a:ext cx="1762125" cy="13335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21600" y="21600"/>
                </a:lnTo>
                <a:lnTo>
                  <a:pt x="0" y="21600"/>
                </a:lnTo>
              </a:path>
            </a:pathLst>
          </a:custGeom>
          <a:ln w="19050">
            <a:solidFill>
              <a:srgbClr val="956100"/>
            </a:solidFill>
            <a:tailEnd type="triangle"/>
          </a:ln>
        </p:spPr>
        <p:txBody>
          <a:bodyPr lIns="0" tIns="0" rIns="0" bIns="0"/>
          <a:lstStyle/>
          <a:p>
            <a:pPr/>
          </a:p>
        </p:txBody>
      </p:sp>
      <p:sp>
        <p:nvSpPr>
          <p:cNvPr id="349" name="Connection Line"/>
          <p:cNvSpPr/>
          <p:nvPr/>
        </p:nvSpPr>
        <p:spPr>
          <a:xfrm>
            <a:off x="6096000" y="4171950"/>
            <a:ext cx="1143000" cy="266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21600" y="9257"/>
                </a:lnTo>
                <a:lnTo>
                  <a:pt x="0" y="9257"/>
                </a:lnTo>
                <a:lnTo>
                  <a:pt x="0" y="21600"/>
                </a:lnTo>
              </a:path>
            </a:pathLst>
          </a:custGeom>
          <a:ln w="19050">
            <a:solidFill>
              <a:srgbClr val="087E8B"/>
            </a:solidFill>
            <a:tailEnd type="triangle"/>
          </a:ln>
        </p:spPr>
        <p:txBody>
          <a:bodyPr lIns="0" tIns="0" rIns="0" bIns="0"/>
          <a:lstStyle/>
          <a:p>
            <a:pPr/>
          </a:p>
        </p:txBody>
      </p:sp>
      <p:sp>
        <p:nvSpPr>
          <p:cNvPr id="350" name="Connection Line"/>
          <p:cNvSpPr/>
          <p:nvPr/>
        </p:nvSpPr>
        <p:spPr>
          <a:xfrm>
            <a:off x="7239000" y="3571875"/>
            <a:ext cx="0" cy="152400"/>
          </a:xfrm>
          <a:prstGeom prst="line">
            <a:avLst/>
          </a:prstGeom>
          <a:ln w="19050">
            <a:solidFill>
              <a:srgbClr val="087E8B"/>
            </a:solidFill>
            <a:tailEnd type="triangle"/>
          </a:ln>
        </p:spPr>
        <p:txBody>
          <a:bodyPr lIns="0" tIns="0" rIns="0" bIns="0"/>
          <a:lstStyle/>
          <a:p>
            <a:pPr/>
          </a:p>
        </p:txBody>
      </p:sp>
      <p:sp>
        <p:nvSpPr>
          <p:cNvPr id="351" name="Connection Line"/>
          <p:cNvSpPr/>
          <p:nvPr/>
        </p:nvSpPr>
        <p:spPr>
          <a:xfrm>
            <a:off x="8382000" y="2981325"/>
            <a:ext cx="381000" cy="0"/>
          </a:xfrm>
          <a:prstGeom prst="line">
            <a:avLst/>
          </a:prstGeom>
          <a:ln w="19050">
            <a:solidFill>
              <a:srgbClr val="087E8B"/>
            </a:solidFill>
            <a:tailEnd type="triangle"/>
          </a:ln>
        </p:spPr>
        <p:txBody>
          <a:bodyPr lIns="0" tIns="0" rIns="0" bIns="0"/>
          <a:lstStyle/>
          <a:p>
            <a:pPr/>
          </a:p>
        </p:txBody>
      </p:sp>
      <p:sp>
        <p:nvSpPr>
          <p:cNvPr id="352" name="Connection Line"/>
          <p:cNvSpPr/>
          <p:nvPr/>
        </p:nvSpPr>
        <p:spPr>
          <a:xfrm>
            <a:off x="5715000" y="2981325"/>
            <a:ext cx="381000" cy="0"/>
          </a:xfrm>
          <a:prstGeom prst="line">
            <a:avLst/>
          </a:prstGeom>
          <a:ln w="19050">
            <a:solidFill>
              <a:srgbClr val="087E8B"/>
            </a:solidFill>
            <a:tailEnd type="triangle"/>
          </a:ln>
        </p:spPr>
        <p:txBody>
          <a:bodyPr lIns="0" tIns="0" rIns="0" bIns="0"/>
          <a:lstStyle/>
          <a:p>
            <a:pPr/>
          </a:p>
        </p:txBody>
      </p:sp>
      <p:sp>
        <p:nvSpPr>
          <p:cNvPr id="353" name="Connection Line"/>
          <p:cNvSpPr/>
          <p:nvPr/>
        </p:nvSpPr>
        <p:spPr>
          <a:xfrm>
            <a:off x="3190875" y="2981325"/>
            <a:ext cx="381000" cy="0"/>
          </a:xfrm>
          <a:prstGeom prst="line">
            <a:avLst/>
          </a:prstGeom>
          <a:ln w="19050">
            <a:solidFill>
              <a:srgbClr val="087E8B"/>
            </a:solidFill>
            <a:tailEnd type="triangle"/>
          </a:ln>
        </p:spPr>
        <p:txBody>
          <a:bodyPr lIns="0" tIns="0" rIns="0" bIns="0"/>
          <a:lstStyle/>
          <a:p>
            <a:pPr/>
          </a:p>
        </p:txBody>
      </p:sp>
      <p:sp>
        <p:nvSpPr>
          <p:cNvPr id="354" name="revision-text-37"/>
          <p:cNvSpPr txBox="1"/>
          <p:nvPr/>
        </p:nvSpPr>
        <p:spPr>
          <a:xfrm>
            <a:off x="1524000" y="1123950"/>
            <a:ext cx="914400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GhostTrace: Evidence Preservation</a:t>
            </a:r>
          </a:p>
        </p:txBody>
      </p:sp>
      <p:sp>
        <p:nvSpPr>
          <p:cNvPr id="355" name="revision-box-38"/>
          <p:cNvSpPr/>
          <p:nvPr/>
        </p:nvSpPr>
        <p:spPr>
          <a:xfrm>
            <a:off x="3048000" y="1581150"/>
            <a:ext cx="7620000" cy="28575"/>
          </a:xfrm>
          <a:prstGeom prst="rect">
            <a:avLst/>
          </a:prstGeom>
          <a:solidFill>
            <a:srgbClr val="33CCCC"/>
          </a:solidFill>
          <a:ln w="12700">
            <a:miter lim="400000"/>
          </a:ln>
        </p:spPr>
        <p:txBody>
          <a:bodyPr lIns="0" tIns="0" rIns="0" bIns="0"/>
          <a:lstStyle/>
          <a:p>
            <a:pPr>
              <a:defRPr>
                <a:latin typeface="Calibri"/>
                <a:ea typeface="Calibri"/>
                <a:cs typeface="Calibri"/>
                <a:sym typeface="Calibri"/>
              </a:defRPr>
            </a:pPr>
          </a:p>
        </p:txBody>
      </p:sp>
      <p:sp>
        <p:nvSpPr>
          <p:cNvPr id="356" name="revision-text-39"/>
          <p:cNvSpPr txBox="1"/>
          <p:nvPr/>
        </p:nvSpPr>
        <p:spPr>
          <a:xfrm>
            <a:off x="1143000" y="1847850"/>
            <a:ext cx="990600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0033CC"/>
                </a:solidFill>
                <a:latin typeface="Trebuchet MS"/>
                <a:ea typeface="Trebuchet MS"/>
                <a:cs typeface="Trebuchet MS"/>
                <a:sym typeface="Trebuchet MS"/>
              </a:defRPr>
            </a:lvl1pPr>
          </a:lstStyle>
          <a:p>
            <a:pPr/>
            <a:r>
              <a:t>Proposed evidence path: seal locally, witness independently, verify before investigation</a:t>
            </a:r>
          </a:p>
        </p:txBody>
      </p:sp>
      <p:sp>
        <p:nvSpPr>
          <p:cNvPr id="357" name="revision-box-40"/>
          <p:cNvSpPr/>
          <p:nvPr/>
        </p:nvSpPr>
        <p:spPr>
          <a:xfrm>
            <a:off x="1047750" y="2390775"/>
            <a:ext cx="2143125" cy="1181100"/>
          </a:xfrm>
          <a:prstGeom prst="rect">
            <a:avLst/>
          </a:prstGeom>
          <a:solidFill>
            <a:srgbClr val="ECF3FC"/>
          </a:solidFill>
          <a:ln w="12383">
            <a:solidFill>
              <a:srgbClr val="0033CC"/>
            </a:solidFill>
          </a:ln>
        </p:spPr>
        <p:txBody>
          <a:bodyPr lIns="0" tIns="0" rIns="0" bIns="0"/>
          <a:lstStyle/>
          <a:p>
            <a:pPr>
              <a:defRPr>
                <a:latin typeface="Calibri"/>
                <a:ea typeface="Calibri"/>
                <a:cs typeface="Calibri"/>
                <a:sym typeface="Calibri"/>
              </a:defRPr>
            </a:pPr>
          </a:p>
        </p:txBody>
      </p:sp>
      <p:sp>
        <p:nvSpPr>
          <p:cNvPr id="358" name="revision-text-41"/>
          <p:cNvSpPr txBox="1"/>
          <p:nvPr/>
        </p:nvSpPr>
        <p:spPr>
          <a:xfrm>
            <a:off x="1162050" y="2495550"/>
            <a:ext cx="191452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033CC"/>
                </a:solidFill>
                <a:latin typeface="Trebuchet MS"/>
                <a:ea typeface="Trebuchet MS"/>
                <a:cs typeface="Trebuchet MS"/>
                <a:sym typeface="Trebuchet MS"/>
              </a:defRPr>
            </a:lvl1pPr>
          </a:lstStyle>
          <a:p>
            <a:pPr/>
            <a:r>
              <a:t>1  Capture record</a:t>
            </a:r>
          </a:p>
        </p:txBody>
      </p:sp>
      <p:sp>
        <p:nvSpPr>
          <p:cNvPr id="359" name="revision-text-42"/>
          <p:cNvSpPr txBox="1"/>
          <p:nvPr/>
        </p:nvSpPr>
        <p:spPr>
          <a:xfrm>
            <a:off x="1162050" y="2819400"/>
            <a:ext cx="1914525" cy="609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20345A"/>
                </a:solidFill>
                <a:latin typeface="Trebuchet MS"/>
                <a:ea typeface="Trebuchet MS"/>
                <a:cs typeface="Trebuchet MS"/>
                <a:sym typeface="Trebuchet MS"/>
              </a:defRPr>
            </a:pPr>
            <a:r>
              <a:t>Event / layer / time</a:t>
            </a:r>
          </a:p>
          <a:p>
            <a:pPr>
              <a:defRPr sz="1400">
                <a:solidFill>
                  <a:srgbClr val="20345A"/>
                </a:solidFill>
                <a:latin typeface="Trebuchet MS"/>
                <a:ea typeface="Trebuchet MS"/>
                <a:cs typeface="Trebuchet MS"/>
                <a:sym typeface="Trebuchet MS"/>
              </a:defRPr>
            </a:pPr>
            <a:r>
              <a:t>Sequence / epoch</a:t>
            </a:r>
          </a:p>
          <a:p>
            <a:pPr>
              <a:defRPr sz="1400">
                <a:solidFill>
                  <a:srgbClr val="20345A"/>
                </a:solidFill>
                <a:latin typeface="Trebuchet MS"/>
                <a:ea typeface="Trebuchet MS"/>
                <a:cs typeface="Trebuchet MS"/>
                <a:sym typeface="Trebuchet MS"/>
              </a:defRPr>
            </a:pPr>
            <a:r>
              <a:t>Verdict / model ID</a:t>
            </a:r>
          </a:p>
        </p:txBody>
      </p:sp>
      <p:sp>
        <p:nvSpPr>
          <p:cNvPr id="360" name="revision-box-43"/>
          <p:cNvSpPr/>
          <p:nvPr/>
        </p:nvSpPr>
        <p:spPr>
          <a:xfrm>
            <a:off x="3571875" y="2390775"/>
            <a:ext cx="2143125" cy="1181100"/>
          </a:xfrm>
          <a:prstGeom prst="rect">
            <a:avLst/>
          </a:prstGeom>
          <a:solidFill>
            <a:srgbClr val="F3EEFA"/>
          </a:solidFill>
          <a:ln w="12383">
            <a:solidFill>
              <a:srgbClr val="7150A2"/>
            </a:solidFill>
          </a:ln>
        </p:spPr>
        <p:txBody>
          <a:bodyPr lIns="0" tIns="0" rIns="0" bIns="0"/>
          <a:lstStyle/>
          <a:p>
            <a:pPr>
              <a:defRPr>
                <a:latin typeface="Calibri"/>
                <a:ea typeface="Calibri"/>
                <a:cs typeface="Calibri"/>
                <a:sym typeface="Calibri"/>
              </a:defRPr>
            </a:pPr>
          </a:p>
        </p:txBody>
      </p:sp>
      <p:sp>
        <p:nvSpPr>
          <p:cNvPr id="361" name="revision-text-44"/>
          <p:cNvSpPr txBox="1"/>
          <p:nvPr/>
        </p:nvSpPr>
        <p:spPr>
          <a:xfrm>
            <a:off x="3686175" y="2495550"/>
            <a:ext cx="191452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7150A2"/>
                </a:solidFill>
                <a:latin typeface="Trebuchet MS"/>
                <a:ea typeface="Trebuchet MS"/>
                <a:cs typeface="Trebuchet MS"/>
                <a:sym typeface="Trebuchet MS"/>
              </a:defRPr>
            </a:lvl1pPr>
          </a:lstStyle>
          <a:p>
            <a:pPr/>
            <a:r>
              <a:t>2  Seal history</a:t>
            </a:r>
          </a:p>
        </p:txBody>
      </p:sp>
      <p:sp>
        <p:nvSpPr>
          <p:cNvPr id="362" name="revision-text-45"/>
          <p:cNvSpPr txBox="1"/>
          <p:nvPr/>
        </p:nvSpPr>
        <p:spPr>
          <a:xfrm>
            <a:off x="3686175" y="2819400"/>
            <a:ext cx="1914525" cy="609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20345A"/>
                </a:solidFill>
                <a:latin typeface="Trebuchet MS"/>
                <a:ea typeface="Trebuchet MS"/>
                <a:cs typeface="Trebuchet MS"/>
                <a:sym typeface="Trebuchet MS"/>
              </a:defRPr>
            </a:pPr>
            <a:r>
              <a:t>Link previous hash</a:t>
            </a:r>
          </a:p>
          <a:p>
            <a:pPr>
              <a:defRPr sz="1400">
                <a:solidFill>
                  <a:srgbClr val="20345A"/>
                </a:solidFill>
                <a:latin typeface="Trebuchet MS"/>
                <a:ea typeface="Trebuchet MS"/>
                <a:cs typeface="Trebuchet MS"/>
                <a:sym typeface="Trebuchet MS"/>
              </a:defRPr>
            </a:pPr>
            <a:r>
              <a:t>Hash current record</a:t>
            </a:r>
          </a:p>
          <a:p>
            <a:pPr>
              <a:defRPr sz="1400">
                <a:solidFill>
                  <a:srgbClr val="20345A"/>
                </a:solidFill>
                <a:latin typeface="Trebuchet MS"/>
                <a:ea typeface="Trebuchet MS"/>
                <a:cs typeface="Trebuchet MS"/>
                <a:sym typeface="Trebuchet MS"/>
              </a:defRPr>
            </a:pPr>
            <a:r>
              <a:t>Sign commitment</a:t>
            </a:r>
          </a:p>
        </p:txBody>
      </p:sp>
      <p:sp>
        <p:nvSpPr>
          <p:cNvPr id="363" name="revision-box-46"/>
          <p:cNvSpPr/>
          <p:nvPr/>
        </p:nvSpPr>
        <p:spPr>
          <a:xfrm>
            <a:off x="6096000" y="2390775"/>
            <a:ext cx="2286000" cy="1181100"/>
          </a:xfrm>
          <a:prstGeom prst="rect">
            <a:avLst/>
          </a:prstGeom>
          <a:solidFill>
            <a:srgbClr val="EBF7F4"/>
          </a:solidFill>
          <a:ln w="12383">
            <a:solidFill>
              <a:srgbClr val="087E8B"/>
            </a:solidFill>
          </a:ln>
        </p:spPr>
        <p:txBody>
          <a:bodyPr lIns="0" tIns="0" rIns="0" bIns="0"/>
          <a:lstStyle/>
          <a:p>
            <a:pPr>
              <a:defRPr>
                <a:latin typeface="Calibri"/>
                <a:ea typeface="Calibri"/>
                <a:cs typeface="Calibri"/>
                <a:sym typeface="Calibri"/>
              </a:defRPr>
            </a:pPr>
          </a:p>
        </p:txBody>
      </p:sp>
      <p:sp>
        <p:nvSpPr>
          <p:cNvPr id="364" name="revision-text-47"/>
          <p:cNvSpPr txBox="1"/>
          <p:nvPr/>
        </p:nvSpPr>
        <p:spPr>
          <a:xfrm>
            <a:off x="6210300" y="2495550"/>
            <a:ext cx="20574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3  Persist and buffer</a:t>
            </a:r>
          </a:p>
        </p:txBody>
      </p:sp>
      <p:sp>
        <p:nvSpPr>
          <p:cNvPr id="365" name="revision-text-48"/>
          <p:cNvSpPr txBox="1"/>
          <p:nvPr/>
        </p:nvSpPr>
        <p:spPr>
          <a:xfrm>
            <a:off x="6210300" y="2819400"/>
            <a:ext cx="2057400" cy="609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20345A"/>
                </a:solidFill>
                <a:latin typeface="Trebuchet MS"/>
                <a:ea typeface="Trebuchet MS"/>
                <a:cs typeface="Trebuchet MS"/>
                <a:sym typeface="Trebuchet MS"/>
              </a:defRPr>
            </a:pPr>
            <a:r>
              <a:t>Encrypted payload</a:t>
            </a:r>
          </a:p>
          <a:p>
            <a:pPr>
              <a:defRPr sz="1400">
                <a:solidFill>
                  <a:srgbClr val="20345A"/>
                </a:solidFill>
                <a:latin typeface="Trebuchet MS"/>
                <a:ea typeface="Trebuchet MS"/>
                <a:cs typeface="Trebuchet MS"/>
                <a:sym typeface="Trebuchet MS"/>
              </a:defRPr>
            </a:pPr>
            <a:r>
              <a:t>Durable local queue</a:t>
            </a:r>
          </a:p>
          <a:p>
            <a:pPr>
              <a:defRPr sz="1400">
                <a:solidFill>
                  <a:srgbClr val="20345A"/>
                </a:solidFill>
                <a:latin typeface="Trebuchet MS"/>
                <a:ea typeface="Trebuchet MS"/>
                <a:cs typeface="Trebuchet MS"/>
                <a:sym typeface="Trebuchet MS"/>
              </a:defRPr>
            </a:pPr>
            <a:r>
              <a:t>Original event order</a:t>
            </a:r>
          </a:p>
        </p:txBody>
      </p:sp>
      <p:sp>
        <p:nvSpPr>
          <p:cNvPr id="366" name="revision-box-49"/>
          <p:cNvSpPr/>
          <p:nvPr/>
        </p:nvSpPr>
        <p:spPr>
          <a:xfrm>
            <a:off x="8763000" y="2390775"/>
            <a:ext cx="2381250" cy="1181100"/>
          </a:xfrm>
          <a:prstGeom prst="rect">
            <a:avLst/>
          </a:prstGeom>
          <a:solidFill>
            <a:srgbClr val="FFF7E5"/>
          </a:solidFill>
          <a:ln w="12383">
            <a:solidFill>
              <a:srgbClr val="956100"/>
            </a:solidFill>
          </a:ln>
        </p:spPr>
        <p:txBody>
          <a:bodyPr lIns="0" tIns="0" rIns="0" bIns="0"/>
          <a:lstStyle/>
          <a:p>
            <a:pPr>
              <a:defRPr>
                <a:latin typeface="Calibri"/>
                <a:ea typeface="Calibri"/>
                <a:cs typeface="Calibri"/>
                <a:sym typeface="Calibri"/>
              </a:defRPr>
            </a:pPr>
          </a:p>
        </p:txBody>
      </p:sp>
      <p:sp>
        <p:nvSpPr>
          <p:cNvPr id="367" name="revision-text-50"/>
          <p:cNvSpPr txBox="1"/>
          <p:nvPr/>
        </p:nvSpPr>
        <p:spPr>
          <a:xfrm>
            <a:off x="8877300" y="2495550"/>
            <a:ext cx="21526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956100"/>
                </a:solidFill>
                <a:latin typeface="Trebuchet MS"/>
                <a:ea typeface="Trebuchet MS"/>
                <a:cs typeface="Trebuchet MS"/>
                <a:sym typeface="Trebuchet MS"/>
              </a:defRPr>
            </a:lvl1pPr>
          </a:lstStyle>
          <a:p>
            <a:pPr/>
            <a:r>
              <a:t>4  Witness evidence</a:t>
            </a:r>
          </a:p>
        </p:txBody>
      </p:sp>
      <p:sp>
        <p:nvSpPr>
          <p:cNvPr id="368" name="revision-text-51"/>
          <p:cNvSpPr txBox="1"/>
          <p:nvPr/>
        </p:nvSpPr>
        <p:spPr>
          <a:xfrm>
            <a:off x="8877300" y="2819400"/>
            <a:ext cx="2152650" cy="609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20345A"/>
                </a:solidFill>
                <a:latin typeface="Trebuchet MS"/>
                <a:ea typeface="Trebuchet MS"/>
                <a:cs typeface="Trebuchet MS"/>
                <a:sym typeface="Trebuchet MS"/>
              </a:defRPr>
            </a:pPr>
            <a:r>
              <a:t>Signed hash receipt</a:t>
            </a:r>
          </a:p>
          <a:p>
            <a:pPr>
              <a:defRPr sz="1400">
                <a:solidFill>
                  <a:srgbClr val="20345A"/>
                </a:solidFill>
                <a:latin typeface="Trebuchet MS"/>
                <a:ea typeface="Trebuchet MS"/>
                <a:cs typeface="Trebuchet MS"/>
                <a:sym typeface="Trebuchet MS"/>
              </a:defRPr>
            </a:pPr>
            <a:r>
              <a:t>Independent anchor</a:t>
            </a:r>
          </a:p>
          <a:p>
            <a:pPr>
              <a:defRPr sz="1400">
                <a:solidFill>
                  <a:srgbClr val="20345A"/>
                </a:solidFill>
                <a:latin typeface="Trebuchet MS"/>
                <a:ea typeface="Trebuchet MS"/>
                <a:cs typeface="Trebuchet MS"/>
                <a:sym typeface="Trebuchet MS"/>
              </a:defRPr>
            </a:pPr>
            <a:r>
              <a:t>Optional retained copy</a:t>
            </a:r>
          </a:p>
        </p:txBody>
      </p:sp>
      <p:sp>
        <p:nvSpPr>
          <p:cNvPr id="369" name="revision-text-52"/>
          <p:cNvSpPr txBox="1"/>
          <p:nvPr/>
        </p:nvSpPr>
        <p:spPr>
          <a:xfrm>
            <a:off x="8448675" y="2152650"/>
            <a:ext cx="280035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53627A"/>
                </a:solidFill>
                <a:latin typeface="Trebuchet MS"/>
                <a:ea typeface="Trebuchet MS"/>
                <a:cs typeface="Trebuchet MS"/>
                <a:sym typeface="Trebuchet MS"/>
              </a:defRPr>
            </a:lvl1pPr>
          </a:lstStyle>
          <a:p>
            <a:pPr/>
            <a:r>
              <a:t>when connected</a:t>
            </a:r>
          </a:p>
        </p:txBody>
      </p:sp>
      <p:sp>
        <p:nvSpPr>
          <p:cNvPr id="370" name="revision-box-53"/>
          <p:cNvSpPr/>
          <p:nvPr/>
        </p:nvSpPr>
        <p:spPr>
          <a:xfrm>
            <a:off x="6096000" y="3724275"/>
            <a:ext cx="2286000" cy="447675"/>
          </a:xfrm>
          <a:prstGeom prst="rect">
            <a:avLst/>
          </a:prstGeom>
          <a:solidFill>
            <a:srgbClr val="FFF7E5"/>
          </a:solidFill>
          <a:ln w="12700">
            <a:miter lim="400000"/>
          </a:ln>
        </p:spPr>
        <p:txBody>
          <a:bodyPr lIns="0" tIns="0" rIns="0" bIns="0"/>
          <a:lstStyle/>
          <a:p>
            <a:pPr>
              <a:defRPr>
                <a:latin typeface="Calibri"/>
                <a:ea typeface="Calibri"/>
                <a:cs typeface="Calibri"/>
                <a:sym typeface="Calibri"/>
              </a:defRPr>
            </a:pPr>
          </a:p>
        </p:txBody>
      </p:sp>
      <p:sp>
        <p:nvSpPr>
          <p:cNvPr id="371" name="revision-text-54"/>
          <p:cNvSpPr txBox="1"/>
          <p:nvPr/>
        </p:nvSpPr>
        <p:spPr>
          <a:xfrm>
            <a:off x="6191250" y="3771900"/>
            <a:ext cx="209550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200">
                <a:solidFill>
                  <a:srgbClr val="956100"/>
                </a:solidFill>
                <a:latin typeface="Trebuchet MS"/>
                <a:ea typeface="Trebuchet MS"/>
                <a:cs typeface="Trebuchet MS"/>
                <a:sym typeface="Trebuchet MS"/>
              </a:defRPr>
            </a:pPr>
            <a:r>
              <a:t>Offline: queue and retry</a:t>
            </a:r>
          </a:p>
          <a:p>
            <a:pPr algn="ctr">
              <a:defRPr sz="1200">
                <a:solidFill>
                  <a:srgbClr val="956100"/>
                </a:solidFill>
                <a:latin typeface="Trebuchet MS"/>
                <a:ea typeface="Trebuchet MS"/>
                <a:cs typeface="Trebuchet MS"/>
                <a:sym typeface="Trebuchet MS"/>
              </a:defRPr>
            </a:pPr>
            <a:r>
              <a:t>Detection continues locally</a:t>
            </a:r>
          </a:p>
        </p:txBody>
      </p:sp>
      <p:sp>
        <p:nvSpPr>
          <p:cNvPr id="372" name="revision-box-55"/>
          <p:cNvSpPr/>
          <p:nvPr/>
        </p:nvSpPr>
        <p:spPr>
          <a:xfrm>
            <a:off x="4000500" y="4438650"/>
            <a:ext cx="4191000" cy="942975"/>
          </a:xfrm>
          <a:prstGeom prst="rect">
            <a:avLst/>
          </a:prstGeom>
          <a:solidFill>
            <a:srgbClr val="EDF3FC"/>
          </a:solidFill>
          <a:ln w="12383">
            <a:solidFill>
              <a:srgbClr val="0033CC"/>
            </a:solidFill>
          </a:ln>
        </p:spPr>
        <p:txBody>
          <a:bodyPr lIns="0" tIns="0" rIns="0" bIns="0"/>
          <a:lstStyle/>
          <a:p>
            <a:pPr>
              <a:defRPr>
                <a:latin typeface="Calibri"/>
                <a:ea typeface="Calibri"/>
                <a:cs typeface="Calibri"/>
                <a:sym typeface="Calibri"/>
              </a:defRPr>
            </a:pPr>
          </a:p>
        </p:txBody>
      </p:sp>
      <p:sp>
        <p:nvSpPr>
          <p:cNvPr id="373" name="revision-text-56"/>
          <p:cNvSpPr txBox="1"/>
          <p:nvPr/>
        </p:nvSpPr>
        <p:spPr>
          <a:xfrm>
            <a:off x="4114800" y="4543425"/>
            <a:ext cx="39624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033CC"/>
                </a:solidFill>
                <a:latin typeface="Trebuchet MS"/>
                <a:ea typeface="Trebuchet MS"/>
                <a:cs typeface="Trebuchet MS"/>
                <a:sym typeface="Trebuchet MS"/>
              </a:defRPr>
            </a:lvl1pPr>
          </a:lstStyle>
          <a:p>
            <a:pPr/>
            <a:r>
              <a:t>5  Verify retained evidence</a:t>
            </a:r>
          </a:p>
        </p:txBody>
      </p:sp>
      <p:sp>
        <p:nvSpPr>
          <p:cNvPr id="374" name="revision-text-57"/>
          <p:cNvSpPr txBox="1"/>
          <p:nvPr/>
        </p:nvSpPr>
        <p:spPr>
          <a:xfrm>
            <a:off x="4114800" y="4867275"/>
            <a:ext cx="3962400" cy="406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20345A"/>
                </a:solidFill>
                <a:latin typeface="Trebuchet MS"/>
                <a:ea typeface="Trebuchet MS"/>
                <a:cs typeface="Trebuchet MS"/>
                <a:sym typeface="Trebuchet MS"/>
              </a:defRPr>
            </a:pPr>
            <a:r>
              <a:t>Chain + signatures + independent receipts</a:t>
            </a:r>
          </a:p>
          <a:p>
            <a:pPr>
              <a:defRPr sz="1400">
                <a:solidFill>
                  <a:srgbClr val="20345A"/>
                </a:solidFill>
                <a:latin typeface="Trebuchet MS"/>
                <a:ea typeface="Trebuchet MS"/>
                <a:cs typeface="Trebuchet MS"/>
                <a:sym typeface="Trebuchet MS"/>
              </a:defRPr>
            </a:pPr>
            <a:r>
              <a:t>Match event, epoch and recorded model version</a:t>
            </a:r>
          </a:p>
        </p:txBody>
      </p:sp>
      <p:sp>
        <p:nvSpPr>
          <p:cNvPr id="375" name="revision-box-58"/>
          <p:cNvSpPr/>
          <p:nvPr/>
        </p:nvSpPr>
        <p:spPr>
          <a:xfrm>
            <a:off x="1143000" y="5819775"/>
            <a:ext cx="3048000" cy="609600"/>
          </a:xfrm>
          <a:prstGeom prst="rect">
            <a:avLst/>
          </a:prstGeom>
          <a:solidFill>
            <a:srgbClr val="EBF7F1"/>
          </a:solidFill>
          <a:ln w="12383">
            <a:solidFill>
              <a:srgbClr val="16866C"/>
            </a:solidFill>
          </a:ln>
        </p:spPr>
        <p:txBody>
          <a:bodyPr lIns="0" tIns="0" rIns="0" bIns="0"/>
          <a:lstStyle/>
          <a:p>
            <a:pPr>
              <a:defRPr>
                <a:latin typeface="Calibri"/>
                <a:ea typeface="Calibri"/>
                <a:cs typeface="Calibri"/>
                <a:sym typeface="Calibri"/>
              </a:defRPr>
            </a:pPr>
          </a:p>
        </p:txBody>
      </p:sp>
      <p:sp>
        <p:nvSpPr>
          <p:cNvPr id="376" name="revision-text-59"/>
          <p:cNvSpPr txBox="1"/>
          <p:nvPr/>
        </p:nvSpPr>
        <p:spPr>
          <a:xfrm>
            <a:off x="1257300" y="5924550"/>
            <a:ext cx="28194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6866C"/>
                </a:solidFill>
                <a:latin typeface="Trebuchet MS"/>
                <a:ea typeface="Trebuchet MS"/>
                <a:cs typeface="Trebuchet MS"/>
                <a:sym typeface="Trebuchet MS"/>
              </a:defRPr>
            </a:lvl1pPr>
          </a:lstStyle>
          <a:p>
            <a:pPr/>
            <a:r>
              <a:t>Verified consistent</a:t>
            </a:r>
          </a:p>
        </p:txBody>
      </p:sp>
      <p:sp>
        <p:nvSpPr>
          <p:cNvPr id="377" name="revision-text-60"/>
          <p:cNvSpPr txBox="1"/>
          <p:nvPr/>
        </p:nvSpPr>
        <p:spPr>
          <a:xfrm>
            <a:off x="1257300" y="6181725"/>
            <a:ext cx="28194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0345A"/>
                </a:solidFill>
                <a:latin typeface="Trebuchet MS"/>
                <a:ea typeface="Trebuchet MS"/>
                <a:cs typeface="Trebuchet MS"/>
                <a:sym typeface="Trebuchet MS"/>
              </a:defRPr>
            </a:lvl1pPr>
          </a:lstStyle>
          <a:p>
            <a:pPr/>
            <a:r>
              <a:t>Available records match their anchors</a:t>
            </a:r>
          </a:p>
        </p:txBody>
      </p:sp>
      <p:sp>
        <p:nvSpPr>
          <p:cNvPr id="378" name="revision-box-61"/>
          <p:cNvSpPr/>
          <p:nvPr/>
        </p:nvSpPr>
        <p:spPr>
          <a:xfrm>
            <a:off x="4524375" y="5819775"/>
            <a:ext cx="3048000" cy="609600"/>
          </a:xfrm>
          <a:prstGeom prst="rect">
            <a:avLst/>
          </a:prstGeom>
          <a:solidFill>
            <a:srgbClr val="FFF0EF"/>
          </a:solidFill>
          <a:ln w="12383">
            <a:solidFill>
              <a:srgbClr val="B13939"/>
            </a:solidFill>
          </a:ln>
        </p:spPr>
        <p:txBody>
          <a:bodyPr lIns="0" tIns="0" rIns="0" bIns="0"/>
          <a:lstStyle/>
          <a:p>
            <a:pPr>
              <a:defRPr>
                <a:latin typeface="Calibri"/>
                <a:ea typeface="Calibri"/>
                <a:cs typeface="Calibri"/>
                <a:sym typeface="Calibri"/>
              </a:defRPr>
            </a:pPr>
          </a:p>
        </p:txBody>
      </p:sp>
      <p:sp>
        <p:nvSpPr>
          <p:cNvPr id="379" name="revision-text-62"/>
          <p:cNvSpPr txBox="1"/>
          <p:nvPr/>
        </p:nvSpPr>
        <p:spPr>
          <a:xfrm>
            <a:off x="4638675" y="5924550"/>
            <a:ext cx="28194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B13939"/>
                </a:solidFill>
                <a:latin typeface="Trebuchet MS"/>
                <a:ea typeface="Trebuchet MS"/>
                <a:cs typeface="Trebuchet MS"/>
                <a:sym typeface="Trebuchet MS"/>
              </a:defRPr>
            </a:lvl1pPr>
          </a:lstStyle>
          <a:p>
            <a:pPr/>
            <a:r>
              <a:t>Integrity conflict</a:t>
            </a:r>
          </a:p>
        </p:txBody>
      </p:sp>
      <p:sp>
        <p:nvSpPr>
          <p:cNvPr id="380" name="revision-text-63"/>
          <p:cNvSpPr txBox="1"/>
          <p:nvPr/>
        </p:nvSpPr>
        <p:spPr>
          <a:xfrm>
            <a:off x="4638675" y="6181725"/>
            <a:ext cx="28194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0345A"/>
                </a:solidFill>
                <a:latin typeface="Trebuchet MS"/>
                <a:ea typeface="Trebuchet MS"/>
                <a:cs typeface="Trebuchet MS"/>
                <a:sym typeface="Trebuchet MS"/>
              </a:defRPr>
            </a:lvl1pPr>
          </a:lstStyle>
          <a:p>
            <a:pPr/>
            <a:r>
              <a:t>Verified cryptographic contradiction</a:t>
            </a:r>
          </a:p>
        </p:txBody>
      </p:sp>
      <p:sp>
        <p:nvSpPr>
          <p:cNvPr id="381" name="revision-box-64"/>
          <p:cNvSpPr/>
          <p:nvPr/>
        </p:nvSpPr>
        <p:spPr>
          <a:xfrm>
            <a:off x="7905750" y="5819775"/>
            <a:ext cx="3143250" cy="609600"/>
          </a:xfrm>
          <a:prstGeom prst="rect">
            <a:avLst/>
          </a:prstGeom>
          <a:solidFill>
            <a:srgbClr val="FFF7E5"/>
          </a:solidFill>
          <a:ln w="12383">
            <a:solidFill>
              <a:srgbClr val="956100"/>
            </a:solidFill>
          </a:ln>
        </p:spPr>
        <p:txBody>
          <a:bodyPr lIns="0" tIns="0" rIns="0" bIns="0"/>
          <a:lstStyle/>
          <a:p>
            <a:pPr>
              <a:defRPr>
                <a:latin typeface="Calibri"/>
                <a:ea typeface="Calibri"/>
                <a:cs typeface="Calibri"/>
                <a:sym typeface="Calibri"/>
              </a:defRPr>
            </a:pPr>
          </a:p>
        </p:txBody>
      </p:sp>
      <p:sp>
        <p:nvSpPr>
          <p:cNvPr id="382" name="revision-text-65"/>
          <p:cNvSpPr txBox="1"/>
          <p:nvPr/>
        </p:nvSpPr>
        <p:spPr>
          <a:xfrm>
            <a:off x="8020050" y="5924550"/>
            <a:ext cx="29146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956100"/>
                </a:solidFill>
                <a:latin typeface="Trebuchet MS"/>
                <a:ea typeface="Trebuchet MS"/>
                <a:cs typeface="Trebuchet MS"/>
                <a:sym typeface="Trebuchet MS"/>
              </a:defRPr>
            </a:lvl1pPr>
          </a:lstStyle>
          <a:p>
            <a:pPr/>
            <a:r>
              <a:t>Missing / unresolved</a:t>
            </a:r>
          </a:p>
        </p:txBody>
      </p:sp>
      <p:sp>
        <p:nvSpPr>
          <p:cNvPr id="383" name="revision-text-66"/>
          <p:cNvSpPr txBox="1"/>
          <p:nvPr/>
        </p:nvSpPr>
        <p:spPr>
          <a:xfrm>
            <a:off x="8020050" y="6181725"/>
            <a:ext cx="291465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0345A"/>
                </a:solidFill>
                <a:latin typeface="Trebuchet MS"/>
                <a:ea typeface="Trebuchet MS"/>
                <a:cs typeface="Trebuchet MS"/>
                <a:sym typeface="Trebuchet MS"/>
              </a:defRPr>
            </a:lvl1pPr>
          </a:lstStyle>
          <a:p>
            <a:pPr/>
            <a:r>
              <a:t>Missing receipt or retained payload</a:t>
            </a:r>
          </a:p>
        </p:txBody>
      </p:sp>
      <p:sp>
        <p:nvSpPr>
          <p:cNvPr id="384"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12</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8" name="revision-76"/>
          <p:cNvSpPr txBox="1"/>
          <p:nvPr/>
        </p:nvSpPr>
        <p:spPr>
          <a:xfrm>
            <a:off x="857250" y="1123950"/>
            <a:ext cx="98107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GhostTrace: Scope, Feasibility &amp; Challenges</a:t>
            </a:r>
          </a:p>
        </p:txBody>
      </p:sp>
      <p:sp>
        <p:nvSpPr>
          <p:cNvPr id="389" name="Rectangle"/>
          <p:cNvSpPr/>
          <p:nvPr/>
        </p:nvSpPr>
        <p:spPr>
          <a:xfrm>
            <a:off x="3048000" y="1581150"/>
            <a:ext cx="7620000" cy="36195"/>
          </a:xfrm>
          <a:prstGeom prst="rect">
            <a:avLst/>
          </a:prstGeom>
          <a:solidFill>
            <a:srgbClr val="33CCCC"/>
          </a:solidFill>
          <a:ln w="12700">
            <a:miter lim="400000"/>
          </a:ln>
        </p:spPr>
        <p:txBody>
          <a:bodyPr lIns="0" tIns="0" rIns="0" bIns="0"/>
          <a:lstStyle/>
          <a:p>
            <a:pPr>
              <a:defRPr>
                <a:latin typeface="+mn-lt"/>
                <a:ea typeface="+mn-ea"/>
                <a:cs typeface="+mn-cs"/>
                <a:sym typeface="Helvetica"/>
              </a:defRPr>
            </a:pPr>
          </a:p>
        </p:txBody>
      </p:sp>
      <p:sp>
        <p:nvSpPr>
          <p:cNvPr id="390" name="revision-77"/>
          <p:cNvSpPr txBox="1"/>
          <p:nvPr/>
        </p:nvSpPr>
        <p:spPr>
          <a:xfrm>
            <a:off x="1143000" y="2047875"/>
            <a:ext cx="9906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33CC"/>
                </a:solidFill>
                <a:latin typeface="Trebuchet MS"/>
                <a:ea typeface="Trebuchet MS"/>
                <a:cs typeface="Trebuchet MS"/>
                <a:sym typeface="Trebuchet MS"/>
              </a:defRPr>
            </a:lvl1pPr>
          </a:lstStyle>
          <a:p>
            <a:pPr/>
            <a:r>
              <a:t>Evidence-preservation scope</a:t>
            </a:r>
          </a:p>
        </p:txBody>
      </p:sp>
      <p:sp>
        <p:nvSpPr>
          <p:cNvPr id="391" name="revision-78"/>
          <p:cNvSpPr txBox="1"/>
          <p:nvPr/>
        </p:nvSpPr>
        <p:spPr>
          <a:xfrm>
            <a:off x="1143000" y="2390775"/>
            <a:ext cx="9906000" cy="1016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20345A"/>
                </a:solidFill>
                <a:latin typeface="Trebuchet MS"/>
                <a:ea typeface="Trebuchet MS"/>
                <a:cs typeface="Trebuchet MS"/>
                <a:sym typeface="Trebuchet MS"/>
              </a:defRPr>
            </a:pPr>
            <a:r>
              <a:t>Hash-linked event history and signed checkpoints.</a:t>
            </a:r>
          </a:p>
          <a:p>
            <a:pPr>
              <a:defRPr sz="1700">
                <a:solidFill>
                  <a:srgbClr val="20345A"/>
                </a:solidFill>
                <a:latin typeface="Trebuchet MS"/>
                <a:ea typeface="Trebuchet MS"/>
                <a:cs typeface="Trebuchet MS"/>
                <a:sym typeface="Trebuchet MS"/>
              </a:defRPr>
            </a:pPr>
            <a:r>
              <a:t>Independent receipts and delayed synchronisation.</a:t>
            </a:r>
          </a:p>
          <a:p>
            <a:pPr>
              <a:defRPr sz="1700">
                <a:solidFill>
                  <a:srgbClr val="20345A"/>
                </a:solidFill>
                <a:latin typeface="Trebuchet MS"/>
                <a:ea typeface="Trebuchet MS"/>
                <a:cs typeface="Trebuchet MS"/>
                <a:sym typeface="Trebuchet MS"/>
              </a:defRPr>
            </a:pPr>
            <a:r>
              <a:t>Optional encrypted copies for later retrieval.</a:t>
            </a:r>
          </a:p>
          <a:p>
            <a:pPr>
              <a:defRPr sz="1700">
                <a:solidFill>
                  <a:srgbClr val="20345A"/>
                </a:solidFill>
                <a:latin typeface="Trebuchet MS"/>
                <a:ea typeface="Trebuchet MS"/>
                <a:cs typeface="Trebuchet MS"/>
                <a:sym typeface="Trebuchet MS"/>
              </a:defRPr>
            </a:pPr>
            <a:r>
              <a:t>Verification states with explicit unresolved gaps.</a:t>
            </a:r>
          </a:p>
        </p:txBody>
      </p:sp>
      <p:sp>
        <p:nvSpPr>
          <p:cNvPr id="392" name="revision-79"/>
          <p:cNvSpPr txBox="1"/>
          <p:nvPr/>
        </p:nvSpPr>
        <p:spPr>
          <a:xfrm>
            <a:off x="1143000" y="3657600"/>
            <a:ext cx="9906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33CC"/>
                </a:solidFill>
                <a:latin typeface="Trebuchet MS"/>
                <a:ea typeface="Trebuchet MS"/>
                <a:cs typeface="Trebuchet MS"/>
                <a:sym typeface="Trebuchet MS"/>
              </a:defRPr>
            </a:lvl1pPr>
          </a:lstStyle>
          <a:p>
            <a:pPr/>
            <a:r>
              <a:t>Feasibility</a:t>
            </a:r>
          </a:p>
        </p:txBody>
      </p:sp>
      <p:sp>
        <p:nvSpPr>
          <p:cNvPr id="393" name="revision-80"/>
          <p:cNvSpPr txBox="1"/>
          <p:nvPr/>
        </p:nvSpPr>
        <p:spPr>
          <a:xfrm>
            <a:off x="1143000" y="4000500"/>
            <a:ext cx="9906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20345A"/>
                </a:solidFill>
                <a:latin typeface="Trebuchet MS"/>
                <a:ea typeface="Trebuchet MS"/>
                <a:cs typeface="Trebuchet MS"/>
                <a:sym typeface="Trebuchet MS"/>
              </a:defRPr>
            </a:pPr>
            <a:r>
              <a:t>Use existing laptops, CAN/V2X scenario records and four simulated clients.</a:t>
            </a:r>
          </a:p>
          <a:p>
            <a:pPr>
              <a:defRPr sz="1700">
                <a:solidFill>
                  <a:srgbClr val="20345A"/>
                </a:solidFill>
                <a:latin typeface="Trebuchet MS"/>
                <a:ea typeface="Trebuchet MS"/>
                <a:cs typeface="Trebuchet MS"/>
                <a:sym typeface="Trebuchet MS"/>
              </a:defRPr>
            </a:pPr>
            <a:r>
              <a:t>Separate evidence verification from AI narration. No extra vehicle hardware.</a:t>
            </a:r>
          </a:p>
        </p:txBody>
      </p:sp>
      <p:sp>
        <p:nvSpPr>
          <p:cNvPr id="394" name="revision-81"/>
          <p:cNvSpPr txBox="1"/>
          <p:nvPr/>
        </p:nvSpPr>
        <p:spPr>
          <a:xfrm>
            <a:off x="1143000" y="4724400"/>
            <a:ext cx="99060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33CC"/>
                </a:solidFill>
                <a:latin typeface="Trebuchet MS"/>
                <a:ea typeface="Trebuchet MS"/>
                <a:cs typeface="Trebuchet MS"/>
                <a:sym typeface="Trebuchet MS"/>
              </a:defRPr>
            </a:lvl1pPr>
          </a:lstStyle>
          <a:p>
            <a:pPr/>
            <a:r>
              <a:t>Engineering challenges</a:t>
            </a:r>
          </a:p>
        </p:txBody>
      </p:sp>
      <p:sp>
        <p:nvSpPr>
          <p:cNvPr id="395" name="revision-82"/>
          <p:cNvSpPr txBox="1"/>
          <p:nvPr/>
        </p:nvSpPr>
        <p:spPr>
          <a:xfrm>
            <a:off x="1143000" y="5172075"/>
            <a:ext cx="47625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Offline witness delay</a:t>
            </a:r>
          </a:p>
        </p:txBody>
      </p:sp>
      <p:sp>
        <p:nvSpPr>
          <p:cNvPr id="396" name="revision-83"/>
          <p:cNvSpPr txBox="1"/>
          <p:nvPr/>
        </p:nvSpPr>
        <p:spPr>
          <a:xfrm>
            <a:off x="1143000" y="5467350"/>
            <a:ext cx="476250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20345A"/>
                </a:solidFill>
                <a:latin typeface="Trebuchet MS"/>
                <a:ea typeface="Trebuchet MS"/>
                <a:cs typeface="Trebuchet MS"/>
                <a:sym typeface="Trebuchet MS"/>
              </a:defRPr>
            </a:lvl1pPr>
          </a:lstStyle>
          <a:p>
            <a:pPr/>
            <a:r>
              <a:t>Receipts may arrive after the event.</a:t>
            </a:r>
          </a:p>
        </p:txBody>
      </p:sp>
      <p:sp>
        <p:nvSpPr>
          <p:cNvPr id="397" name="revision-84"/>
          <p:cNvSpPr txBox="1"/>
          <p:nvPr/>
        </p:nvSpPr>
        <p:spPr>
          <a:xfrm>
            <a:off x="6381750" y="5172075"/>
            <a:ext cx="47625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Missing vs changed records</a:t>
            </a:r>
          </a:p>
        </p:txBody>
      </p:sp>
      <p:sp>
        <p:nvSpPr>
          <p:cNvPr id="398" name="revision-85"/>
          <p:cNvSpPr txBox="1"/>
          <p:nvPr/>
        </p:nvSpPr>
        <p:spPr>
          <a:xfrm>
            <a:off x="6381750" y="5467350"/>
            <a:ext cx="476250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20345A"/>
                </a:solidFill>
                <a:latin typeface="Trebuchet MS"/>
                <a:ea typeface="Trebuchet MS"/>
                <a:cs typeface="Trebuchet MS"/>
                <a:sym typeface="Trebuchet MS"/>
              </a:defRPr>
            </a:lvl1pPr>
          </a:lstStyle>
          <a:p>
            <a:pPr/>
            <a:r>
              <a:t>Absence alone cannot establish alteration.</a:t>
            </a:r>
          </a:p>
        </p:txBody>
      </p:sp>
      <p:sp>
        <p:nvSpPr>
          <p:cNvPr id="399" name="revision-86"/>
          <p:cNvSpPr txBox="1"/>
          <p:nvPr/>
        </p:nvSpPr>
        <p:spPr>
          <a:xfrm>
            <a:off x="1143000" y="5886450"/>
            <a:ext cx="47625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Witness identity and replay</a:t>
            </a:r>
          </a:p>
        </p:txBody>
      </p:sp>
      <p:sp>
        <p:nvSpPr>
          <p:cNvPr id="400" name="revision-87"/>
          <p:cNvSpPr txBox="1"/>
          <p:nvPr/>
        </p:nvSpPr>
        <p:spPr>
          <a:xfrm>
            <a:off x="1143000" y="6181725"/>
            <a:ext cx="476250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20345A"/>
                </a:solidFill>
                <a:latin typeface="Trebuchet MS"/>
                <a:ea typeface="Trebuchet MS"/>
                <a:cs typeface="Trebuchet MS"/>
                <a:sym typeface="Trebuchet MS"/>
              </a:defRPr>
            </a:lvl1pPr>
          </a:lstStyle>
          <a:p>
            <a:pPr/>
            <a:r>
              <a:t>Bind signatures to signer, event and epoch.</a:t>
            </a:r>
          </a:p>
        </p:txBody>
      </p:sp>
      <p:sp>
        <p:nvSpPr>
          <p:cNvPr id="401" name="revision-88"/>
          <p:cNvSpPr txBox="1"/>
          <p:nvPr/>
        </p:nvSpPr>
        <p:spPr>
          <a:xfrm>
            <a:off x="6381750" y="5886450"/>
            <a:ext cx="47625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Storage and recovery</a:t>
            </a:r>
          </a:p>
        </p:txBody>
      </p:sp>
      <p:sp>
        <p:nvSpPr>
          <p:cNvPr id="402" name="revision-89"/>
          <p:cNvSpPr txBox="1"/>
          <p:nvPr/>
        </p:nvSpPr>
        <p:spPr>
          <a:xfrm>
            <a:off x="6381750" y="6181725"/>
            <a:ext cx="476250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20345A"/>
                </a:solidFill>
                <a:latin typeface="Trebuchet MS"/>
                <a:ea typeface="Trebuchet MS"/>
                <a:cs typeface="Trebuchet MS"/>
                <a:sym typeface="Trebuchet MS"/>
              </a:defRPr>
            </a:lvl1pPr>
          </a:lstStyle>
          <a:p>
            <a:pPr/>
            <a:r>
              <a:t>Hashes cannot restore deleted payloads.</a:t>
            </a:r>
          </a:p>
        </p:txBody>
      </p:sp>
      <p:sp>
        <p:nvSpPr>
          <p:cNvPr id="403"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15</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7" name="revision-90"/>
          <p:cNvSpPr txBox="1"/>
          <p:nvPr/>
        </p:nvSpPr>
        <p:spPr>
          <a:xfrm>
            <a:off x="857250" y="1123950"/>
            <a:ext cx="98107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GhostTrace: Forensic Evaluation</a:t>
            </a:r>
          </a:p>
        </p:txBody>
      </p:sp>
      <p:sp>
        <p:nvSpPr>
          <p:cNvPr id="408" name="Rectangle"/>
          <p:cNvSpPr/>
          <p:nvPr/>
        </p:nvSpPr>
        <p:spPr>
          <a:xfrm>
            <a:off x="3048000" y="1581150"/>
            <a:ext cx="7620000" cy="36195"/>
          </a:xfrm>
          <a:prstGeom prst="rect">
            <a:avLst/>
          </a:prstGeom>
          <a:solidFill>
            <a:srgbClr val="33CCCC"/>
          </a:solidFill>
          <a:ln w="12700">
            <a:miter lim="400000"/>
          </a:ln>
        </p:spPr>
        <p:txBody>
          <a:bodyPr lIns="0" tIns="0" rIns="0" bIns="0"/>
          <a:lstStyle/>
          <a:p>
            <a:pPr>
              <a:defRPr>
                <a:latin typeface="+mn-lt"/>
                <a:ea typeface="+mn-ea"/>
                <a:cs typeface="+mn-cs"/>
                <a:sym typeface="Helvetica"/>
              </a:defRPr>
            </a:pPr>
          </a:p>
        </p:txBody>
      </p:sp>
      <p:graphicFrame>
        <p:nvGraphicFramePr>
          <p:cNvPr id="409" name="Table 1"/>
          <p:cNvGraphicFramePr/>
          <p:nvPr/>
        </p:nvGraphicFramePr>
        <p:xfrm>
          <a:off x="1143000" y="2333625"/>
          <a:ext cx="9906000" cy="309562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4572000"/>
                <a:gridCol w="5334000"/>
              </a:tblGrid>
              <a:tr h="381000">
                <a:tc>
                  <a:txBody>
                    <a:bodyPr/>
                    <a:lstStyle/>
                    <a:p>
                      <a:pPr algn="l">
                        <a:defRPr b="0" sz="1800">
                          <a:solidFill>
                            <a:srgbClr val="000000"/>
                          </a:solidFill>
                        </a:defRPr>
                      </a:pPr>
                      <a:r>
                        <a:rPr b="1" sz="1600">
                          <a:solidFill>
                            <a:srgbClr val="FFFFFF"/>
                          </a:solidFill>
                          <a:latin typeface="Trebuchet MS"/>
                          <a:ea typeface="Trebuchet MS"/>
                          <a:cs typeface="Trebuchet MS"/>
                          <a:sym typeface="Trebuchet MS"/>
                        </a:rPr>
                        <a:t>Experiment</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20345A"/>
                    </a:solidFill>
                  </a:tcPr>
                </a:tc>
                <a:tc>
                  <a:txBody>
                    <a:bodyPr/>
                    <a:lstStyle/>
                    <a:p>
                      <a:pPr algn="l">
                        <a:defRPr b="0" sz="1800">
                          <a:solidFill>
                            <a:srgbClr val="000000"/>
                          </a:solidFill>
                        </a:defRPr>
                      </a:pPr>
                      <a:r>
                        <a:rPr b="1" sz="1600">
                          <a:solidFill>
                            <a:srgbClr val="FFFFFF"/>
                          </a:solidFill>
                          <a:latin typeface="Trebuchet MS"/>
                          <a:ea typeface="Trebuchet MS"/>
                          <a:cs typeface="Trebuchet MS"/>
                          <a:sym typeface="Trebuchet MS"/>
                        </a:rPr>
                        <a:t>Question / planned measure</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20345A"/>
                    </a:solidFill>
                  </a:tcPr>
                </a:tc>
              </a:tr>
              <a:tr h="542925">
                <a:tc>
                  <a:txBody>
                    <a:bodyPr/>
                    <a:lstStyle/>
                    <a:p>
                      <a:pPr algn="l">
                        <a:defRPr sz="1800"/>
                      </a:pPr>
                      <a:r>
                        <a:rPr sz="1600">
                          <a:solidFill>
                            <a:srgbClr val="20345A"/>
                          </a:solidFill>
                          <a:latin typeface="Trebuchet MS"/>
                          <a:ea typeface="Trebuchet MS"/>
                          <a:cs typeface="Trebuchet MS"/>
                          <a:sym typeface="Trebuchet MS"/>
                        </a:rPr>
                        <a:t>Altered record or hash conflict</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600">
                          <a:solidFill>
                            <a:srgbClr val="20345A"/>
                          </a:solidFill>
                          <a:latin typeface="Trebuchet MS"/>
                          <a:ea typeface="Trebuchet MS"/>
                          <a:cs typeface="Trebuchet MS"/>
                          <a:sym typeface="Trebuchet MS"/>
                        </a:rPr>
                        <a:t>Verified integrity-conflict detection and tamper recall</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r>
              <a:tr h="542925">
                <a:tc>
                  <a:txBody>
                    <a:bodyPr/>
                    <a:lstStyle/>
                    <a:p>
                      <a:pPr algn="l">
                        <a:defRPr sz="1800"/>
                      </a:pPr>
                      <a:r>
                        <a:rPr sz="1600">
                          <a:solidFill>
                            <a:srgbClr val="20345A"/>
                          </a:solidFill>
                          <a:latin typeface="Trebuchet MS"/>
                          <a:ea typeface="Trebuchet MS"/>
                          <a:cs typeface="Trebuchet MS"/>
                          <a:sym typeface="Trebuchet MS"/>
                        </a:rPr>
                        <a:t>Deletion, rollback or replay</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c>
                  <a:txBody>
                    <a:bodyPr/>
                    <a:lstStyle/>
                    <a:p>
                      <a:pPr algn="l">
                        <a:defRPr sz="1800"/>
                      </a:pPr>
                      <a:r>
                        <a:rPr sz="1600">
                          <a:solidFill>
                            <a:srgbClr val="20345A"/>
                          </a:solidFill>
                          <a:latin typeface="Trebuchet MS"/>
                          <a:ea typeface="Trebuchet MS"/>
                          <a:cs typeface="Trebuchet MS"/>
                          <a:sym typeface="Trebuchet MS"/>
                        </a:rPr>
                        <a:t>Detection of missing history and continuity violations</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r>
              <a:tr h="542925">
                <a:tc>
                  <a:txBody>
                    <a:bodyPr/>
                    <a:lstStyle/>
                    <a:p>
                      <a:pPr algn="l">
                        <a:defRPr sz="1800"/>
                      </a:pPr>
                      <a:r>
                        <a:rPr sz="1600">
                          <a:solidFill>
                            <a:srgbClr val="20345A"/>
                          </a:solidFill>
                          <a:latin typeface="Trebuchet MS"/>
                          <a:ea typeface="Trebuchet MS"/>
                          <a:cs typeface="Trebuchet MS"/>
                          <a:sym typeface="Trebuchet MS"/>
                        </a:rPr>
                        <a:t>Connectivity outage or delayed receipt</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600">
                          <a:solidFill>
                            <a:srgbClr val="20345A"/>
                          </a:solidFill>
                          <a:latin typeface="Trebuchet MS"/>
                          <a:ea typeface="Trebuchet MS"/>
                          <a:cs typeface="Trebuchet MS"/>
                          <a:sym typeface="Trebuchet MS"/>
                        </a:rPr>
                        <a:t>False tamper allegations and unresolved-gap reporting</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r>
              <a:tr h="542925">
                <a:tc>
                  <a:txBody>
                    <a:bodyPr/>
                    <a:lstStyle/>
                    <a:p>
                      <a:pPr algn="l">
                        <a:defRPr sz="1800"/>
                      </a:pPr>
                      <a:r>
                        <a:rPr sz="1600">
                          <a:solidFill>
                            <a:srgbClr val="20345A"/>
                          </a:solidFill>
                          <a:latin typeface="Trebuchet MS"/>
                          <a:ea typeface="Trebuchet MS"/>
                          <a:cs typeface="Trebuchet MS"/>
                          <a:sym typeface="Trebuchet MS"/>
                        </a:rPr>
                        <a:t>Forged or mismatched witness receipt</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c>
                  <a:txBody>
                    <a:bodyPr/>
                    <a:lstStyle/>
                    <a:p>
                      <a:pPr algn="l">
                        <a:defRPr sz="1800"/>
                      </a:pPr>
                      <a:r>
                        <a:rPr sz="1600">
                          <a:solidFill>
                            <a:srgbClr val="20345A"/>
                          </a:solidFill>
                          <a:latin typeface="Trebuchet MS"/>
                          <a:ea typeface="Trebuchet MS"/>
                          <a:cs typeface="Trebuchet MS"/>
                          <a:sym typeface="Trebuchet MS"/>
                        </a:rPr>
                        <a:t>Signature, identity, event and epoch validation</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r>
              <a:tr h="542925">
                <a:tc>
                  <a:txBody>
                    <a:bodyPr/>
                    <a:lstStyle/>
                    <a:p>
                      <a:pPr algn="l">
                        <a:defRPr sz="1800"/>
                      </a:pPr>
                      <a:r>
                        <a:rPr sz="1600">
                          <a:solidFill>
                            <a:srgbClr val="20345A"/>
                          </a:solidFill>
                          <a:latin typeface="Trebuchet MS"/>
                          <a:ea typeface="Trebuchet MS"/>
                          <a:cs typeface="Trebuchet MS"/>
                          <a:sym typeface="Trebuchet MS"/>
                        </a:rPr>
                        <a:t>Lost payload with an independent copy</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600">
                          <a:solidFill>
                            <a:srgbClr val="20345A"/>
                          </a:solidFill>
                          <a:latin typeface="Trebuchet MS"/>
                          <a:ea typeface="Trebuchet MS"/>
                          <a:cs typeface="Trebuchet MS"/>
                          <a:sym typeface="Trebuchet MS"/>
                        </a:rPr>
                        <a:t>Recoverable-event fraction and retrieval latency</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r>
            </a:tbl>
          </a:graphicData>
        </a:graphic>
      </p:graphicFrame>
      <p:sp>
        <p:nvSpPr>
          <p:cNvPr id="410" name="revision-92"/>
          <p:cNvSpPr txBox="1"/>
          <p:nvPr/>
        </p:nvSpPr>
        <p:spPr>
          <a:xfrm>
            <a:off x="1143000" y="5715000"/>
            <a:ext cx="9906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87E8B"/>
                </a:solidFill>
                <a:latin typeface="Trebuchet MS"/>
                <a:ea typeface="Trebuchet MS"/>
                <a:cs typeface="Trebuchet MS"/>
                <a:sym typeface="Trebuchet MS"/>
              </a:defRPr>
            </a:lvl1pPr>
          </a:lstStyle>
          <a:p>
            <a:pPr/>
            <a:r>
              <a:t>Baselines</a:t>
            </a:r>
          </a:p>
        </p:txBody>
      </p:sp>
      <p:sp>
        <p:nvSpPr>
          <p:cNvPr id="411" name="revision-93"/>
          <p:cNvSpPr txBox="1"/>
          <p:nvPr/>
        </p:nvSpPr>
        <p:spPr>
          <a:xfrm>
            <a:off x="1143000" y="6038850"/>
            <a:ext cx="990600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0345A"/>
                </a:solidFill>
                <a:latin typeface="Trebuchet MS"/>
                <a:ea typeface="Trebuchet MS"/>
                <a:cs typeface="Trebuchet MS"/>
                <a:sym typeface="Trebuchet MS"/>
              </a:defRPr>
            </a:lvl1pPr>
          </a:lstStyle>
          <a:p>
            <a:pPr/>
            <a:r>
              <a:t>Local records / hash chain / chain + receipts / receipts + independent copies</a:t>
            </a:r>
          </a:p>
        </p:txBody>
      </p:sp>
      <p:sp>
        <p:nvSpPr>
          <p:cNvPr id="412"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16</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6" name="Rectangle 1"/>
          <p:cNvSpPr/>
          <p:nvPr/>
        </p:nvSpPr>
        <p:spPr>
          <a:xfrm>
            <a:off x="3048000" y="1581155"/>
            <a:ext cx="7620000" cy="36516"/>
          </a:xfrm>
          <a:prstGeom prst="rect">
            <a:avLst/>
          </a:prstGeom>
          <a:solidFill>
            <a:srgbClr val="33CCCC"/>
          </a:solidFill>
          <a:ln w="12700">
            <a:miter lim="400000"/>
          </a:ln>
        </p:spPr>
        <p:txBody>
          <a:bodyPr lIns="0" tIns="0" rIns="0" bIns="0" anchor="ctr"/>
          <a:lstStyle/>
          <a:p>
            <a:pPr>
              <a:defRPr>
                <a:latin typeface="Calibri"/>
                <a:ea typeface="Calibri"/>
                <a:cs typeface="Calibri"/>
                <a:sym typeface="Calibri"/>
              </a:defRPr>
            </a:pPr>
          </a:p>
        </p:txBody>
      </p:sp>
      <p:sp>
        <p:nvSpPr>
          <p:cNvPr id="417" name="Text Box 34"/>
          <p:cNvSpPr txBox="1"/>
          <p:nvPr/>
        </p:nvSpPr>
        <p:spPr>
          <a:xfrm>
            <a:off x="1524000" y="1123950"/>
            <a:ext cx="914400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342889" indent="-342889" algn="r">
              <a:defRPr sz="2400">
                <a:solidFill>
                  <a:srgbClr val="FF0000"/>
                </a:solidFill>
                <a:latin typeface="Trebuchet MS"/>
                <a:ea typeface="Trebuchet MS"/>
                <a:cs typeface="Trebuchet MS"/>
                <a:sym typeface="Trebuchet MS"/>
              </a:defRPr>
            </a:lvl1pPr>
          </a:lstStyle>
          <a:p>
            <a:pPr/>
            <a:r>
              <a:t>Bounded Agentic AI Investigation</a:t>
            </a:r>
          </a:p>
        </p:txBody>
      </p:sp>
      <p:sp>
        <p:nvSpPr>
          <p:cNvPr id="418" name="text-91"/>
          <p:cNvSpPr txBox="1"/>
          <p:nvPr/>
        </p:nvSpPr>
        <p:spPr>
          <a:xfrm>
            <a:off x="1143000" y="1971675"/>
            <a:ext cx="9906000"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0033CC"/>
                </a:solidFill>
                <a:latin typeface="Trebuchet MS"/>
                <a:ea typeface="Trebuchet MS"/>
                <a:cs typeface="Trebuchet MS"/>
                <a:sym typeface="Trebuchet MS"/>
              </a:defRPr>
            </a:lvl1pPr>
          </a:lstStyle>
          <a:p>
            <a:pPr/>
            <a:r>
              <a:t>The agent selects evidence queries and produces a cited case report</a:t>
            </a:r>
          </a:p>
        </p:txBody>
      </p:sp>
      <p:sp>
        <p:nvSpPr>
          <p:cNvPr id="419" name="Rectangle"/>
          <p:cNvSpPr/>
          <p:nvPr/>
        </p:nvSpPr>
        <p:spPr>
          <a:xfrm>
            <a:off x="1143000" y="2857500"/>
            <a:ext cx="2114550" cy="1000125"/>
          </a:xfrm>
          <a:prstGeom prst="rect">
            <a:avLst/>
          </a:prstGeom>
          <a:solidFill>
            <a:srgbClr val="EDF4FC"/>
          </a:solidFill>
          <a:ln w="14288">
            <a:solidFill>
              <a:srgbClr val="33CCCC"/>
            </a:solidFill>
          </a:ln>
        </p:spPr>
        <p:txBody>
          <a:bodyPr lIns="0" tIns="0" rIns="0" bIns="0" anchor="ctr"/>
          <a:lstStyle/>
          <a:p>
            <a:pPr algn="ctr">
              <a:defRPr sz="1900">
                <a:solidFill>
                  <a:srgbClr val="20345A"/>
                </a:solidFill>
                <a:latin typeface="Trebuchet MS"/>
                <a:ea typeface="Trebuchet MS"/>
                <a:cs typeface="Trebuchet MS"/>
                <a:sym typeface="Trebuchet MS"/>
              </a:defRPr>
            </a:pPr>
          </a:p>
        </p:txBody>
      </p:sp>
      <p:sp>
        <p:nvSpPr>
          <p:cNvPr id="420" name="Recorded alert…"/>
          <p:cNvSpPr txBox="1"/>
          <p:nvPr/>
        </p:nvSpPr>
        <p:spPr>
          <a:xfrm>
            <a:off x="1188242" y="3001960"/>
            <a:ext cx="2024066" cy="711201"/>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algn="ctr">
              <a:defRPr sz="1900">
                <a:solidFill>
                  <a:srgbClr val="20345A"/>
                </a:solidFill>
                <a:latin typeface="Trebuchet MS"/>
                <a:ea typeface="Trebuchet MS"/>
                <a:cs typeface="Trebuchet MS"/>
                <a:sym typeface="Trebuchet MS"/>
              </a:defRPr>
            </a:pPr>
            <a:r>
              <a:t>Recorded alert</a:t>
            </a:r>
          </a:p>
          <a:p>
            <a:pPr algn="ctr">
              <a:defRPr sz="1900">
                <a:solidFill>
                  <a:srgbClr val="20345A"/>
                </a:solidFill>
                <a:latin typeface="Trebuchet MS"/>
                <a:ea typeface="Trebuchet MS"/>
                <a:cs typeface="Trebuchet MS"/>
                <a:sym typeface="Trebuchet MS"/>
              </a:defRPr>
            </a:pPr>
            <a:r>
              <a:t>+ case context</a:t>
            </a:r>
          </a:p>
        </p:txBody>
      </p:sp>
      <p:sp>
        <p:nvSpPr>
          <p:cNvPr id="421" name="Rectangle"/>
          <p:cNvSpPr/>
          <p:nvPr/>
        </p:nvSpPr>
        <p:spPr>
          <a:xfrm>
            <a:off x="3752850" y="2857500"/>
            <a:ext cx="2114550" cy="1000125"/>
          </a:xfrm>
          <a:prstGeom prst="rect">
            <a:avLst/>
          </a:prstGeom>
          <a:solidFill>
            <a:srgbClr val="EDF4FC"/>
          </a:solidFill>
          <a:ln w="14288">
            <a:solidFill>
              <a:srgbClr val="33CCCC"/>
            </a:solidFill>
          </a:ln>
        </p:spPr>
        <p:txBody>
          <a:bodyPr lIns="0" tIns="0" rIns="0" bIns="0" anchor="ctr"/>
          <a:lstStyle/>
          <a:p>
            <a:pPr algn="ctr">
              <a:defRPr>
                <a:solidFill>
                  <a:srgbClr val="20345A"/>
                </a:solidFill>
                <a:latin typeface="Trebuchet MS"/>
                <a:ea typeface="Trebuchet MS"/>
                <a:cs typeface="Trebuchet MS"/>
                <a:sym typeface="Trebuchet MS"/>
              </a:defRPr>
            </a:pPr>
          </a:p>
        </p:txBody>
      </p:sp>
      <p:sp>
        <p:nvSpPr>
          <p:cNvPr id="422" name="Rectangle"/>
          <p:cNvSpPr/>
          <p:nvPr/>
        </p:nvSpPr>
        <p:spPr>
          <a:xfrm>
            <a:off x="6362700" y="2857500"/>
            <a:ext cx="2114550" cy="1000125"/>
          </a:xfrm>
          <a:prstGeom prst="rect">
            <a:avLst/>
          </a:prstGeom>
          <a:solidFill>
            <a:srgbClr val="EDF4FC"/>
          </a:solidFill>
          <a:ln w="14288">
            <a:solidFill>
              <a:srgbClr val="33CCCC"/>
            </a:solidFill>
          </a:ln>
        </p:spPr>
        <p:txBody>
          <a:bodyPr lIns="0" tIns="0" rIns="0" bIns="0" anchor="ctr"/>
          <a:lstStyle/>
          <a:p>
            <a:pPr algn="ctr">
              <a:defRPr>
                <a:solidFill>
                  <a:srgbClr val="20345A"/>
                </a:solidFill>
                <a:latin typeface="Trebuchet MS"/>
                <a:ea typeface="Trebuchet MS"/>
                <a:cs typeface="Trebuchet MS"/>
                <a:sym typeface="Trebuchet MS"/>
              </a:defRPr>
            </a:pPr>
          </a:p>
        </p:txBody>
      </p:sp>
      <p:sp>
        <p:nvSpPr>
          <p:cNvPr id="423" name="Rectangle"/>
          <p:cNvSpPr/>
          <p:nvPr/>
        </p:nvSpPr>
        <p:spPr>
          <a:xfrm>
            <a:off x="8972550" y="2857500"/>
            <a:ext cx="2114550" cy="1000125"/>
          </a:xfrm>
          <a:prstGeom prst="rect">
            <a:avLst/>
          </a:prstGeom>
          <a:solidFill>
            <a:srgbClr val="EDF4FC"/>
          </a:solidFill>
          <a:ln w="14288">
            <a:solidFill>
              <a:srgbClr val="33CCCC"/>
            </a:solidFill>
          </a:ln>
        </p:spPr>
        <p:txBody>
          <a:bodyPr lIns="0" tIns="0" rIns="0" bIns="0" anchor="ctr"/>
          <a:lstStyle/>
          <a:p>
            <a:pPr algn="ctr">
              <a:defRPr sz="1900">
                <a:solidFill>
                  <a:srgbClr val="20345A"/>
                </a:solidFill>
                <a:latin typeface="Trebuchet MS"/>
                <a:ea typeface="Trebuchet MS"/>
                <a:cs typeface="Trebuchet MS"/>
                <a:sym typeface="Trebuchet MS"/>
              </a:defRPr>
            </a:pPr>
          </a:p>
        </p:txBody>
      </p:sp>
      <p:sp>
        <p:nvSpPr>
          <p:cNvPr id="424" name="Rank causes…"/>
          <p:cNvSpPr txBox="1"/>
          <p:nvPr/>
        </p:nvSpPr>
        <p:spPr>
          <a:xfrm>
            <a:off x="9017792" y="3001960"/>
            <a:ext cx="2024066" cy="711201"/>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algn="ctr">
              <a:defRPr sz="1900">
                <a:solidFill>
                  <a:srgbClr val="20345A"/>
                </a:solidFill>
                <a:latin typeface="Trebuchet MS"/>
                <a:ea typeface="Trebuchet MS"/>
                <a:cs typeface="Trebuchet MS"/>
                <a:sym typeface="Trebuchet MS"/>
              </a:defRPr>
            </a:pPr>
            <a:r>
              <a:t>Rank causes</a:t>
            </a:r>
          </a:p>
          <a:p>
            <a:pPr algn="ctr">
              <a:defRPr sz="1900">
                <a:solidFill>
                  <a:srgbClr val="20345A"/>
                </a:solidFill>
                <a:latin typeface="Trebuchet MS"/>
                <a:ea typeface="Trebuchet MS"/>
                <a:cs typeface="Trebuchet MS"/>
                <a:sym typeface="Trebuchet MS"/>
              </a:defRPr>
            </a:pPr>
            <a:r>
              <a:t>with citations</a:t>
            </a:r>
          </a:p>
        </p:txBody>
      </p:sp>
      <p:sp>
        <p:nvSpPr>
          <p:cNvPr id="425" name="Connection Line"/>
          <p:cNvSpPr/>
          <p:nvPr/>
        </p:nvSpPr>
        <p:spPr>
          <a:xfrm>
            <a:off x="3264691" y="3357561"/>
            <a:ext cx="481016" cy="3"/>
          </a:xfrm>
          <a:prstGeom prst="line">
            <a:avLst/>
          </a:prstGeom>
          <a:ln w="19050">
            <a:solidFill>
              <a:srgbClr val="087E8B"/>
            </a:solidFill>
            <a:tailEnd type="triangle"/>
          </a:ln>
        </p:spPr>
        <p:txBody>
          <a:bodyPr lIns="0" tIns="0" rIns="0" bIns="0"/>
          <a:lstStyle/>
          <a:p>
            <a:pPr/>
          </a:p>
        </p:txBody>
      </p:sp>
      <p:sp>
        <p:nvSpPr>
          <p:cNvPr id="426" name="Connection Line"/>
          <p:cNvSpPr/>
          <p:nvPr/>
        </p:nvSpPr>
        <p:spPr>
          <a:xfrm>
            <a:off x="5874541" y="3357561"/>
            <a:ext cx="481016" cy="3"/>
          </a:xfrm>
          <a:prstGeom prst="line">
            <a:avLst/>
          </a:prstGeom>
          <a:ln w="19050">
            <a:solidFill>
              <a:srgbClr val="087E8B"/>
            </a:solidFill>
            <a:tailEnd type="triangle"/>
          </a:ln>
        </p:spPr>
        <p:txBody>
          <a:bodyPr lIns="0" tIns="0" rIns="0" bIns="0"/>
          <a:lstStyle/>
          <a:p>
            <a:pPr/>
          </a:p>
        </p:txBody>
      </p:sp>
      <p:sp>
        <p:nvSpPr>
          <p:cNvPr id="427" name="Connection Line"/>
          <p:cNvSpPr/>
          <p:nvPr/>
        </p:nvSpPr>
        <p:spPr>
          <a:xfrm>
            <a:off x="8484392" y="3357561"/>
            <a:ext cx="481016" cy="3"/>
          </a:xfrm>
          <a:prstGeom prst="line">
            <a:avLst/>
          </a:prstGeom>
          <a:ln w="19050">
            <a:solidFill>
              <a:srgbClr val="087E8B"/>
            </a:solidFill>
            <a:tailEnd type="triangle"/>
          </a:ln>
        </p:spPr>
        <p:txBody>
          <a:bodyPr lIns="0" tIns="0" rIns="0" bIns="0"/>
          <a:lstStyle/>
          <a:p>
            <a:pPr/>
          </a:p>
        </p:txBody>
      </p:sp>
      <p:sp>
        <p:nvSpPr>
          <p:cNvPr id="428" name="Rectangle"/>
          <p:cNvSpPr/>
          <p:nvPr/>
        </p:nvSpPr>
        <p:spPr>
          <a:xfrm>
            <a:off x="8972550" y="5334000"/>
            <a:ext cx="2114550" cy="704850"/>
          </a:xfrm>
          <a:prstGeom prst="rect">
            <a:avLst/>
          </a:prstGeom>
          <a:solidFill>
            <a:srgbClr val="EAF6EF"/>
          </a:solidFill>
          <a:ln w="14288">
            <a:solidFill>
              <a:srgbClr val="187D5E"/>
            </a:solidFill>
          </a:ln>
        </p:spPr>
        <p:txBody>
          <a:bodyPr lIns="0" tIns="0" rIns="0" bIns="0" anchor="ctr"/>
          <a:lstStyle/>
          <a:p>
            <a:pPr algn="ctr">
              <a:defRPr sz="2000">
                <a:solidFill>
                  <a:srgbClr val="187D5E"/>
                </a:solidFill>
                <a:latin typeface="Trebuchet MS"/>
                <a:ea typeface="Trebuchet MS"/>
                <a:cs typeface="Trebuchet MS"/>
                <a:sym typeface="Trebuchet MS"/>
              </a:defRPr>
            </a:pPr>
          </a:p>
        </p:txBody>
      </p:sp>
      <p:sp>
        <p:nvSpPr>
          <p:cNvPr id="429" name="Human review"/>
          <p:cNvSpPr txBox="1"/>
          <p:nvPr/>
        </p:nvSpPr>
        <p:spPr>
          <a:xfrm>
            <a:off x="9017792" y="5464173"/>
            <a:ext cx="2024066" cy="444501"/>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lgn="ctr">
              <a:defRPr sz="2000">
                <a:solidFill>
                  <a:srgbClr val="187D5E"/>
                </a:solidFill>
                <a:latin typeface="Trebuchet MS"/>
                <a:ea typeface="Trebuchet MS"/>
                <a:cs typeface="Trebuchet MS"/>
                <a:sym typeface="Trebuchet MS"/>
              </a:defRPr>
            </a:lvl1pPr>
          </a:lstStyle>
          <a:p>
            <a:pPr/>
            <a:r>
              <a:t>Human review</a:t>
            </a:r>
          </a:p>
        </p:txBody>
      </p:sp>
      <p:sp>
        <p:nvSpPr>
          <p:cNvPr id="430" name="Connection Line"/>
          <p:cNvSpPr/>
          <p:nvPr/>
        </p:nvSpPr>
        <p:spPr>
          <a:xfrm>
            <a:off x="10029824" y="3864768"/>
            <a:ext cx="2" cy="1462089"/>
          </a:xfrm>
          <a:prstGeom prst="line">
            <a:avLst/>
          </a:prstGeom>
          <a:ln w="19050">
            <a:solidFill>
              <a:srgbClr val="087E8B"/>
            </a:solidFill>
            <a:tailEnd type="triangle"/>
          </a:ln>
        </p:spPr>
        <p:txBody>
          <a:bodyPr lIns="0" tIns="0" rIns="0" bIns="0"/>
          <a:lstStyle/>
          <a:p>
            <a:pPr/>
          </a:p>
        </p:txBody>
      </p:sp>
      <p:sp>
        <p:nvSpPr>
          <p:cNvPr id="431" name="text-97"/>
          <p:cNvSpPr txBox="1"/>
          <p:nvPr/>
        </p:nvSpPr>
        <p:spPr>
          <a:xfrm>
            <a:off x="1143000" y="4324350"/>
            <a:ext cx="7096125"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0033CC"/>
                </a:solidFill>
                <a:latin typeface="Trebuchet MS"/>
                <a:ea typeface="Trebuchet MS"/>
                <a:cs typeface="Trebuchet MS"/>
                <a:sym typeface="Trebuchet MS"/>
              </a:defRPr>
            </a:lvl1pPr>
          </a:lstStyle>
          <a:p>
            <a:pPr/>
            <a:r>
              <a:t>Proposed boundaries</a:t>
            </a:r>
          </a:p>
        </p:txBody>
      </p:sp>
      <p:sp>
        <p:nvSpPr>
          <p:cNvPr id="432" name="text-99"/>
          <p:cNvSpPr txBox="1"/>
          <p:nvPr/>
        </p:nvSpPr>
        <p:spPr>
          <a:xfrm>
            <a:off x="1143000" y="5772150"/>
            <a:ext cx="7362825"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0345A"/>
                </a:solidFill>
                <a:latin typeface="Trebuchet MS"/>
                <a:ea typeface="Trebuchet MS"/>
                <a:cs typeface="Trebuchet MS"/>
                <a:sym typeface="Trebuchet MS"/>
              </a:defRPr>
            </a:lvl1pPr>
          </a:lstStyle>
          <a:p>
            <a:pPr/>
            <a:r>
              <a:t>Report: timeline, cited evidence, alternative causes and unknowns.</a:t>
            </a:r>
          </a:p>
        </p:txBody>
      </p:sp>
      <p:sp>
        <p:nvSpPr>
          <p:cNvPr id="433"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17</a:t>
            </a:r>
          </a:p>
        </p:txBody>
      </p:sp>
      <p:sp>
        <p:nvSpPr>
          <p:cNvPr id="434" name="revision-141"/>
          <p:cNvSpPr txBox="1"/>
          <p:nvPr/>
        </p:nvSpPr>
        <p:spPr>
          <a:xfrm>
            <a:off x="3798091" y="2967035"/>
            <a:ext cx="202406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600">
                <a:solidFill>
                  <a:srgbClr val="20345A"/>
                </a:solidFill>
                <a:latin typeface="Trebuchet MS"/>
                <a:ea typeface="Trebuchet MS"/>
                <a:cs typeface="Trebuchet MS"/>
                <a:sym typeface="Trebuchet MS"/>
              </a:defRPr>
            </a:pPr>
            <a:r>
              <a:t>Plan bounded</a:t>
            </a:r>
          </a:p>
          <a:p>
            <a:pPr algn="ctr">
              <a:defRPr sz="1600">
                <a:solidFill>
                  <a:srgbClr val="20345A"/>
                </a:solidFill>
                <a:latin typeface="Trebuchet MS"/>
                <a:ea typeface="Trebuchet MS"/>
                <a:cs typeface="Trebuchet MS"/>
                <a:sym typeface="Trebuchet MS"/>
              </a:defRPr>
            </a:pPr>
            <a:r>
              <a:t>evidence queries</a:t>
            </a:r>
          </a:p>
        </p:txBody>
      </p:sp>
      <p:sp>
        <p:nvSpPr>
          <p:cNvPr id="435" name="revision-142"/>
          <p:cNvSpPr txBox="1"/>
          <p:nvPr/>
        </p:nvSpPr>
        <p:spPr>
          <a:xfrm>
            <a:off x="6407941" y="2967035"/>
            <a:ext cx="2024066"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600">
                <a:solidFill>
                  <a:srgbClr val="20345A"/>
                </a:solidFill>
                <a:latin typeface="Trebuchet MS"/>
                <a:ea typeface="Trebuchet MS"/>
                <a:cs typeface="Trebuchet MS"/>
                <a:sym typeface="Trebuchet MS"/>
              </a:defRPr>
            </a:pPr>
            <a:r>
              <a:t>Retrieve verified</a:t>
            </a:r>
          </a:p>
          <a:p>
            <a:pPr algn="ctr">
              <a:defRPr sz="1600">
                <a:solidFill>
                  <a:srgbClr val="20345A"/>
                </a:solidFill>
                <a:latin typeface="Trebuchet MS"/>
                <a:ea typeface="Trebuchet MS"/>
                <a:cs typeface="Trebuchet MS"/>
                <a:sym typeface="Trebuchet MS"/>
              </a:defRPr>
            </a:pPr>
            <a:r>
              <a:t>case evidence</a:t>
            </a:r>
          </a:p>
        </p:txBody>
      </p:sp>
      <p:sp>
        <p:nvSpPr>
          <p:cNvPr id="436" name="revision-143"/>
          <p:cNvSpPr txBox="1"/>
          <p:nvPr/>
        </p:nvSpPr>
        <p:spPr>
          <a:xfrm>
            <a:off x="2667000" y="4810125"/>
            <a:ext cx="647700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500">
                <a:solidFill>
                  <a:srgbClr val="20345A"/>
                </a:solidFill>
                <a:latin typeface="Trebuchet MS"/>
                <a:ea typeface="Trebuchet MS"/>
                <a:cs typeface="Trebuchet MS"/>
                <a:sym typeface="Trebuchet MS"/>
              </a:defRPr>
            </a:pPr>
            <a:r>
              <a:t>Read-only queries and separate reports.</a:t>
            </a:r>
          </a:p>
          <a:p>
            <a:pPr algn="ctr">
              <a:defRPr sz="1500">
                <a:solidFill>
                  <a:srgbClr val="20345A"/>
                </a:solidFill>
                <a:latin typeface="Trebuchet MS"/>
                <a:ea typeface="Trebuchet MS"/>
                <a:cs typeface="Trebuchet MS"/>
                <a:sym typeface="Trebuchet MS"/>
              </a:defRPr>
            </a:pPr>
            <a:r>
              <a:t>Canonical verdicts, evidence and controls remain protected.</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0" name="revision-96"/>
          <p:cNvSpPr txBox="1"/>
          <p:nvPr/>
        </p:nvSpPr>
        <p:spPr>
          <a:xfrm>
            <a:off x="857250" y="1123950"/>
            <a:ext cx="98107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Dataset Construction and Evaluation</a:t>
            </a:r>
          </a:p>
        </p:txBody>
      </p:sp>
      <p:sp>
        <p:nvSpPr>
          <p:cNvPr id="441" name="Rectangle"/>
          <p:cNvSpPr/>
          <p:nvPr/>
        </p:nvSpPr>
        <p:spPr>
          <a:xfrm>
            <a:off x="3048000" y="1581150"/>
            <a:ext cx="7620000" cy="36195"/>
          </a:xfrm>
          <a:prstGeom prst="rect">
            <a:avLst/>
          </a:prstGeom>
          <a:solidFill>
            <a:srgbClr val="33CCCC"/>
          </a:solidFill>
          <a:ln w="12700">
            <a:miter lim="400000"/>
          </a:ln>
        </p:spPr>
        <p:txBody>
          <a:bodyPr lIns="0" tIns="0" rIns="0" bIns="0"/>
          <a:lstStyle/>
          <a:p>
            <a:pPr>
              <a:defRPr>
                <a:latin typeface="+mn-lt"/>
                <a:ea typeface="+mn-ea"/>
                <a:cs typeface="+mn-cs"/>
                <a:sym typeface="Helvetica"/>
              </a:defRPr>
            </a:pPr>
          </a:p>
        </p:txBody>
      </p:sp>
      <p:sp>
        <p:nvSpPr>
          <p:cNvPr id="442" name="revision-97"/>
          <p:cNvSpPr txBox="1"/>
          <p:nvPr/>
        </p:nvSpPr>
        <p:spPr>
          <a:xfrm>
            <a:off x="1143000" y="1885950"/>
            <a:ext cx="4714875"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33CC"/>
                </a:solidFill>
                <a:latin typeface="Trebuchet MS"/>
                <a:ea typeface="Trebuchet MS"/>
                <a:cs typeface="Trebuchet MS"/>
                <a:sym typeface="Trebuchet MS"/>
              </a:defRPr>
            </a:lvl1pPr>
          </a:lstStyle>
          <a:p>
            <a:pPr/>
            <a:r>
              <a:t>Public benchmarks</a:t>
            </a:r>
          </a:p>
        </p:txBody>
      </p:sp>
      <p:sp>
        <p:nvSpPr>
          <p:cNvPr id="443" name="revision-98"/>
          <p:cNvSpPr txBox="1"/>
          <p:nvPr/>
        </p:nvSpPr>
        <p:spPr>
          <a:xfrm>
            <a:off x="6381750" y="1885950"/>
            <a:ext cx="466725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33CC"/>
                </a:solidFill>
                <a:latin typeface="Trebuchet MS"/>
                <a:ea typeface="Trebuchet MS"/>
                <a:cs typeface="Trebuchet MS"/>
                <a:sym typeface="Trebuchet MS"/>
              </a:defRPr>
            </a:lvl1pPr>
          </a:lstStyle>
          <a:p>
            <a:pPr/>
            <a:r>
              <a:t>Data we will generate</a:t>
            </a:r>
          </a:p>
        </p:txBody>
      </p:sp>
      <p:sp>
        <p:nvSpPr>
          <p:cNvPr id="444" name="revision-99"/>
          <p:cNvSpPr txBox="1"/>
          <p:nvPr/>
        </p:nvSpPr>
        <p:spPr>
          <a:xfrm>
            <a:off x="1143000" y="2295525"/>
            <a:ext cx="47148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u="sng">
                <a:solidFill>
                  <a:srgbClr val="0000FF"/>
                </a:solidFill>
                <a:uFill>
                  <a:solidFill>
                    <a:srgbClr val="0000FF"/>
                  </a:solidFill>
                </a:uFill>
                <a:latin typeface="Trebuchet MS"/>
                <a:ea typeface="Trebuchet MS"/>
                <a:cs typeface="Trebuchet MS"/>
                <a:sym typeface="Trebuchet MS"/>
                <a:hlinkClick r:id="rId3" invalidUrl="" action="" tgtFrame="" tooltip="" history="1" highlightClick="0" endSnd="0"/>
              </a:defRPr>
            </a:lvl1pPr>
          </a:lstStyle>
          <a:p>
            <a:pPr>
              <a:defRPr u="none">
                <a:solidFill>
                  <a:srgbClr val="0033CC"/>
                </a:solidFill>
                <a:uFillTx/>
              </a:defRPr>
            </a:pPr>
            <a:r>
              <a:rPr u="sng">
                <a:solidFill>
                  <a:srgbClr val="0000FF"/>
                </a:solidFill>
                <a:uFill>
                  <a:solidFill>
                    <a:srgbClr val="0000FF"/>
                  </a:solidFill>
                </a:uFill>
                <a:hlinkClick r:id="rId3" invalidUrl="" action="" tgtFrame="" tooltip="" history="1" highlightClick="0" endSnd="0"/>
              </a:rPr>
              <a:t>ROAD (2024) [5]</a:t>
            </a:r>
          </a:p>
        </p:txBody>
      </p:sp>
      <p:sp>
        <p:nvSpPr>
          <p:cNvPr id="445" name="revision-100"/>
          <p:cNvSpPr txBox="1"/>
          <p:nvPr/>
        </p:nvSpPr>
        <p:spPr>
          <a:xfrm>
            <a:off x="1143000" y="2638425"/>
            <a:ext cx="4714875"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20345A"/>
                </a:solidFill>
                <a:latin typeface="Trebuchet MS"/>
                <a:ea typeface="Trebuchet MS"/>
                <a:cs typeface="Trebuchet MS"/>
                <a:sym typeface="Trebuchet MS"/>
              </a:defRPr>
            </a:pPr>
            <a:r>
              <a:t>Real CAN and labelled attacks, plus</a:t>
            </a:r>
          </a:p>
          <a:p>
            <a:pPr>
              <a:defRPr sz="1500">
                <a:solidFill>
                  <a:srgbClr val="20345A"/>
                </a:solidFill>
                <a:latin typeface="Trebuchet MS"/>
                <a:ea typeface="Trebuchet MS"/>
                <a:cs typeface="Trebuchet MS"/>
                <a:sym typeface="Trebuchet MS"/>
              </a:defRPr>
            </a:pPr>
            <a:r>
              <a:t>simulated masquerade variants.</a:t>
            </a:r>
          </a:p>
        </p:txBody>
      </p:sp>
      <p:sp>
        <p:nvSpPr>
          <p:cNvPr id="446" name="revision-101"/>
          <p:cNvSpPr txBox="1"/>
          <p:nvPr/>
        </p:nvSpPr>
        <p:spPr>
          <a:xfrm>
            <a:off x="1143000" y="3076575"/>
            <a:ext cx="47148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u="sng">
                <a:solidFill>
                  <a:srgbClr val="0000FF"/>
                </a:solidFill>
                <a:uFill>
                  <a:solidFill>
                    <a:srgbClr val="0000FF"/>
                  </a:solidFill>
                </a:uFill>
                <a:latin typeface="Trebuchet MS"/>
                <a:ea typeface="Trebuchet MS"/>
                <a:cs typeface="Trebuchet MS"/>
                <a:sym typeface="Trebuchet MS"/>
                <a:hlinkClick r:id="rId4" invalidUrl="" action="" tgtFrame="" tooltip="" history="1" highlightClick="0" endSnd="0"/>
              </a:defRPr>
            </a:lvl1pPr>
          </a:lstStyle>
          <a:p>
            <a:pPr>
              <a:defRPr u="none">
                <a:solidFill>
                  <a:srgbClr val="0033CC"/>
                </a:solidFill>
                <a:uFillTx/>
              </a:defRPr>
            </a:pPr>
            <a:r>
              <a:rPr u="sng">
                <a:solidFill>
                  <a:srgbClr val="0000FF"/>
                </a:solidFill>
                <a:uFill>
                  <a:solidFill>
                    <a:srgbClr val="0000FF"/>
                  </a:solidFill>
                </a:uFill>
                <a:hlinkClick r:id="rId4" invalidUrl="" action="" tgtFrame="" tooltip="" history="1" highlightClick="0" endSnd="0"/>
              </a:rPr>
              <a:t>CICIoV2024 (2024)</a:t>
            </a:r>
          </a:p>
        </p:txBody>
      </p:sp>
      <p:sp>
        <p:nvSpPr>
          <p:cNvPr id="447" name="revision-102"/>
          <p:cNvSpPr txBox="1"/>
          <p:nvPr/>
        </p:nvSpPr>
        <p:spPr>
          <a:xfrm>
            <a:off x="1143000" y="3419475"/>
            <a:ext cx="4714875"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20345A"/>
                </a:solidFill>
                <a:latin typeface="Trebuchet MS"/>
                <a:ea typeface="Trebuchet MS"/>
                <a:cs typeface="Trebuchet MS"/>
                <a:sym typeface="Trebuchet MS"/>
              </a:defRPr>
            </a:pPr>
            <a:r>
              <a:t>CAN spoofing / DoS from a real,</a:t>
            </a:r>
          </a:p>
          <a:p>
            <a:pPr>
              <a:defRPr sz="1500">
                <a:solidFill>
                  <a:srgbClr val="20345A"/>
                </a:solidFill>
                <a:latin typeface="Trebuchet MS"/>
                <a:ea typeface="Trebuchet MS"/>
                <a:cs typeface="Trebuchet MS"/>
                <a:sym typeface="Trebuchet MS"/>
              </a:defRPr>
            </a:pPr>
            <a:r>
              <a:t>immobilised vehicle.</a:t>
            </a:r>
          </a:p>
        </p:txBody>
      </p:sp>
      <p:sp>
        <p:nvSpPr>
          <p:cNvPr id="448" name="revision-103"/>
          <p:cNvSpPr txBox="1"/>
          <p:nvPr/>
        </p:nvSpPr>
        <p:spPr>
          <a:xfrm>
            <a:off x="1143000" y="3857625"/>
            <a:ext cx="47148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u="sng">
                <a:solidFill>
                  <a:srgbClr val="0000FF"/>
                </a:solidFill>
                <a:uFill>
                  <a:solidFill>
                    <a:srgbClr val="0000FF"/>
                  </a:solidFill>
                </a:uFill>
                <a:latin typeface="Trebuchet MS"/>
                <a:ea typeface="Trebuchet MS"/>
                <a:cs typeface="Trebuchet MS"/>
                <a:sym typeface="Trebuchet MS"/>
                <a:hlinkClick r:id="rId5" invalidUrl="" action="" tgtFrame="" tooltip="" history="1" highlightClick="0" endSnd="0"/>
              </a:defRPr>
            </a:lvl1pPr>
          </a:lstStyle>
          <a:p>
            <a:pPr>
              <a:defRPr u="none">
                <a:solidFill>
                  <a:srgbClr val="0033CC"/>
                </a:solidFill>
                <a:uFillTx/>
              </a:defRPr>
            </a:pPr>
            <a:r>
              <a:rPr u="sng">
                <a:solidFill>
                  <a:srgbClr val="0000FF"/>
                </a:solidFill>
                <a:uFill>
                  <a:solidFill>
                    <a:srgbClr val="0000FF"/>
                  </a:solidFill>
                </a:uFill>
                <a:hlinkClick r:id="rId5" invalidUrl="" action="" tgtFrame="" tooltip="" history="1" highlightClick="0" endSnd="0"/>
              </a:rPr>
              <a:t>VeReMi NextGen (2026)</a:t>
            </a:r>
          </a:p>
        </p:txBody>
      </p:sp>
      <p:sp>
        <p:nvSpPr>
          <p:cNvPr id="449" name="revision-104"/>
          <p:cNvSpPr txBox="1"/>
          <p:nvPr/>
        </p:nvSpPr>
        <p:spPr>
          <a:xfrm>
            <a:off x="1143000" y="4200525"/>
            <a:ext cx="4714875"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20345A"/>
                </a:solidFill>
                <a:latin typeface="Trebuchet MS"/>
                <a:ea typeface="Trebuchet MS"/>
                <a:cs typeface="Trebuchet MS"/>
                <a:sym typeface="Trebuchet MS"/>
              </a:defRPr>
            </a:pPr>
            <a:r>
              <a:t>Simulated urban / highway V2X.</a:t>
            </a:r>
          </a:p>
          <a:p>
            <a:pPr>
              <a:defRPr sz="1500">
                <a:solidFill>
                  <a:srgbClr val="20345A"/>
                </a:solidFill>
                <a:latin typeface="Trebuchet MS"/>
                <a:ea typeface="Trebuchet MS"/>
                <a:cs typeface="Trebuchet MS"/>
                <a:sym typeface="Trebuchet MS"/>
              </a:defRPr>
            </a:pPr>
            <a:r>
              <a:t>Contains no paired CAN stream.</a:t>
            </a:r>
          </a:p>
        </p:txBody>
      </p:sp>
      <p:sp>
        <p:nvSpPr>
          <p:cNvPr id="450" name="revision-105"/>
          <p:cNvSpPr txBox="1"/>
          <p:nvPr/>
        </p:nvSpPr>
        <p:spPr>
          <a:xfrm>
            <a:off x="6381750" y="2295525"/>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033CC"/>
                </a:solidFill>
                <a:latin typeface="Trebuchet MS"/>
                <a:ea typeface="Trebuchet MS"/>
                <a:cs typeface="Trebuchet MS"/>
                <a:sym typeface="Trebuchet MS"/>
              </a:defRPr>
            </a:lvl1pPr>
          </a:lstStyle>
          <a:p>
            <a:pPr/>
            <a:r>
              <a:t>Synchronized CAN + V2X scenarios</a:t>
            </a:r>
          </a:p>
        </p:txBody>
      </p:sp>
      <p:sp>
        <p:nvSpPr>
          <p:cNvPr id="451" name="revision-106"/>
          <p:cNvSpPr txBox="1"/>
          <p:nvPr/>
        </p:nvSpPr>
        <p:spPr>
          <a:xfrm>
            <a:off x="6381750" y="2638425"/>
            <a:ext cx="466725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20345A"/>
                </a:solidFill>
                <a:latin typeface="Trebuchet MS"/>
                <a:ea typeface="Trebuchet MS"/>
                <a:cs typeface="Trebuchet MS"/>
                <a:sym typeface="Trebuchet MS"/>
              </a:defRPr>
            </a:pPr>
            <a:r>
              <a:t>Shared event IDs, clocks and known causes.</a:t>
            </a:r>
          </a:p>
          <a:p>
            <a:pPr>
              <a:defRPr sz="1500">
                <a:solidFill>
                  <a:srgbClr val="20345A"/>
                </a:solidFill>
                <a:latin typeface="Trebuchet MS"/>
                <a:ea typeface="Trebuchet MS"/>
                <a:cs typeface="Trebuchet MS"/>
                <a:sym typeface="Trebuchet MS"/>
              </a:defRPr>
            </a:pPr>
            <a:r>
              <a:t>Benign faults/drift, attacks and delayed inputs.</a:t>
            </a:r>
          </a:p>
        </p:txBody>
      </p:sp>
      <p:sp>
        <p:nvSpPr>
          <p:cNvPr id="452" name="revision-107"/>
          <p:cNvSpPr txBox="1"/>
          <p:nvPr/>
        </p:nvSpPr>
        <p:spPr>
          <a:xfrm>
            <a:off x="6381750" y="3248025"/>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033CC"/>
                </a:solidFill>
                <a:latin typeface="Trebuchet MS"/>
                <a:ea typeface="Trebuchet MS"/>
                <a:cs typeface="Trebuchet MS"/>
                <a:sym typeface="Trebuchet MS"/>
              </a:defRPr>
            </a:lvl1pPr>
          </a:lstStyle>
          <a:p>
            <a:pPr/>
            <a:r>
              <a:t>ESP32 + MCP2515 CAN recordings</a:t>
            </a:r>
          </a:p>
        </p:txBody>
      </p:sp>
      <p:sp>
        <p:nvSpPr>
          <p:cNvPr id="453" name="revision-108"/>
          <p:cNvSpPr txBox="1"/>
          <p:nvPr/>
        </p:nvSpPr>
        <p:spPr>
          <a:xfrm>
            <a:off x="6381750" y="3590925"/>
            <a:ext cx="466725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20345A"/>
                </a:solidFill>
                <a:latin typeface="Trebuchet MS"/>
                <a:ea typeface="Trebuchet MS"/>
                <a:cs typeface="Trebuchet MS"/>
                <a:sym typeface="Trebuchet MS"/>
              </a:defRPr>
            </a:pPr>
            <a:r>
              <a:t>Physical bench frames and capture timing.</a:t>
            </a:r>
          </a:p>
          <a:p>
            <a:pPr>
              <a:defRPr sz="1500">
                <a:solidFill>
                  <a:srgbClr val="20345A"/>
                </a:solidFill>
                <a:latin typeface="Trebuchet MS"/>
                <a:ea typeface="Trebuchet MS"/>
                <a:cs typeface="Trebuchet MS"/>
                <a:sym typeface="Trebuchet MS"/>
              </a:defRPr>
            </a:pPr>
            <a:r>
              <a:t>Controlled bus, without real-vehicle actuation.</a:t>
            </a:r>
          </a:p>
        </p:txBody>
      </p:sp>
      <p:sp>
        <p:nvSpPr>
          <p:cNvPr id="454" name="revision-109"/>
          <p:cNvSpPr txBox="1"/>
          <p:nvPr/>
        </p:nvSpPr>
        <p:spPr>
          <a:xfrm>
            <a:off x="6381750" y="4219575"/>
            <a:ext cx="4667250"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087E8B"/>
                </a:solidFill>
                <a:latin typeface="Trebuchet MS"/>
                <a:ea typeface="Trebuchet MS"/>
                <a:cs typeface="Trebuchet MS"/>
                <a:sym typeface="Trebuchet MS"/>
              </a:defRPr>
            </a:lvl1pPr>
          </a:lstStyle>
          <a:p>
            <a:pPr/>
            <a:r>
              <a:t>Dedicated GhostTrace experiments: Slide 16</a:t>
            </a:r>
          </a:p>
        </p:txBody>
      </p:sp>
      <p:graphicFrame>
        <p:nvGraphicFramePr>
          <p:cNvPr id="455" name="Table 1"/>
          <p:cNvGraphicFramePr/>
          <p:nvPr/>
        </p:nvGraphicFramePr>
        <p:xfrm>
          <a:off x="1143000" y="4829175"/>
          <a:ext cx="9906000" cy="1695450"/>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5429250"/>
                <a:gridCol w="4476750"/>
              </a:tblGrid>
              <a:tr h="323850">
                <a:tc>
                  <a:txBody>
                    <a:bodyPr/>
                    <a:lstStyle/>
                    <a:p>
                      <a:pPr algn="l">
                        <a:defRPr b="0" sz="1800">
                          <a:solidFill>
                            <a:srgbClr val="000000"/>
                          </a:solidFill>
                        </a:defRPr>
                      </a:pPr>
                      <a:r>
                        <a:rPr b="1" sz="1500">
                          <a:solidFill>
                            <a:srgbClr val="FFFFFF"/>
                          </a:solidFill>
                          <a:latin typeface="Trebuchet MS"/>
                          <a:ea typeface="Trebuchet MS"/>
                          <a:cs typeface="Trebuchet MS"/>
                          <a:sym typeface="Trebuchet MS"/>
                        </a:rPr>
                        <a:t>Planned comparison</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20345A"/>
                    </a:solidFill>
                  </a:tcPr>
                </a:tc>
                <a:tc>
                  <a:txBody>
                    <a:bodyPr/>
                    <a:lstStyle/>
                    <a:p>
                      <a:pPr algn="l">
                        <a:defRPr b="0" sz="1800">
                          <a:solidFill>
                            <a:srgbClr val="000000"/>
                          </a:solidFill>
                        </a:defRPr>
                      </a:pPr>
                      <a:r>
                        <a:rPr b="1" sz="1500">
                          <a:solidFill>
                            <a:srgbClr val="FFFFFF"/>
                          </a:solidFill>
                          <a:latin typeface="Trebuchet MS"/>
                          <a:ea typeface="Trebuchet MS"/>
                          <a:cs typeface="Trebuchet MS"/>
                          <a:sym typeface="Trebuchet MS"/>
                        </a:rPr>
                        <a:t>Metrics</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20345A"/>
                    </a:solidFill>
                  </a:tcPr>
                </a:tc>
              </a:tr>
              <a:tr h="342900">
                <a:tc>
                  <a:txBody>
                    <a:bodyPr/>
                    <a:lstStyle/>
                    <a:p>
                      <a:pPr algn="l">
                        <a:defRPr sz="1800"/>
                      </a:pPr>
                      <a:r>
                        <a:rPr sz="1500">
                          <a:solidFill>
                            <a:srgbClr val="20345A"/>
                          </a:solidFill>
                          <a:latin typeface="Trebuchet MS"/>
                          <a:ea typeface="Trebuchet MS"/>
                          <a:cs typeface="Trebuchet MS"/>
                          <a:sym typeface="Trebuchet MS"/>
                        </a:rPr>
                        <a:t>Independent detection vs timing / trust-aware fusion</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500">
                          <a:solidFill>
                            <a:srgbClr val="20345A"/>
                          </a:solidFill>
                          <a:latin typeface="Trebuchet MS"/>
                          <a:ea typeface="Trebuchet MS"/>
                          <a:cs typeface="Trebuchet MS"/>
                          <a:sym typeface="Trebuchet MS"/>
                        </a:rPr>
                        <a:t>Attack recall, false alarms, cause macro-F1</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r>
              <a:tr h="342900">
                <a:tc>
                  <a:txBody>
                    <a:bodyPr/>
                    <a:lstStyle/>
                    <a:p>
                      <a:pPr algn="l">
                        <a:defRPr sz="1800"/>
                      </a:pPr>
                      <a:r>
                        <a:rPr sz="1500">
                          <a:solidFill>
                            <a:srgbClr val="20345A"/>
                          </a:solidFill>
                          <a:latin typeface="Trebuchet MS"/>
                          <a:ea typeface="Trebuchet MS"/>
                          <a:cs typeface="Trebuchet MS"/>
                          <a:sym typeface="Trebuchet MS"/>
                        </a:rPr>
                        <a:t>Aligned vs delayed / missing / conflicting inputs</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c>
                  <a:txBody>
                    <a:bodyPr/>
                    <a:lstStyle/>
                    <a:p>
                      <a:pPr algn="l">
                        <a:defRPr sz="1800"/>
                      </a:pPr>
                      <a:r>
                        <a:rPr sz="1500">
                          <a:solidFill>
                            <a:srgbClr val="20345A"/>
                          </a:solidFill>
                          <a:latin typeface="Trebuchet MS"/>
                          <a:ea typeface="Trebuchet MS"/>
                          <a:cs typeface="Trebuchet MS"/>
                          <a:sym typeface="Trebuchet MS"/>
                        </a:rPr>
                        <a:t>Attribution, abstention, latency and memory</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r>
              <a:tr h="342900">
                <a:tc>
                  <a:txBody>
                    <a:bodyPr/>
                    <a:lstStyle/>
                    <a:p>
                      <a:pPr algn="l">
                        <a:defRPr sz="1800"/>
                      </a:pPr>
                      <a:r>
                        <a:rPr sz="1500">
                          <a:solidFill>
                            <a:srgbClr val="20345A"/>
                          </a:solidFill>
                          <a:latin typeface="Trebuchet MS"/>
                          <a:ea typeface="Trebuchet MS"/>
                          <a:cs typeface="Trebuchet MS"/>
                          <a:sym typeface="Trebuchet MS"/>
                        </a:rPr>
                        <a:t>Detection-only vs authorised lab filtering</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c>
                  <a:txBody>
                    <a:bodyPr/>
                    <a:lstStyle/>
                    <a:p>
                      <a:pPr algn="l">
                        <a:defRPr sz="1800"/>
                      </a:pPr>
                      <a:r>
                        <a:rPr sz="1500">
                          <a:solidFill>
                            <a:srgbClr val="20345A"/>
                          </a:solidFill>
                          <a:latin typeface="Trebuchet MS"/>
                          <a:ea typeface="Trebuchet MS"/>
                          <a:cs typeface="Trebuchet MS"/>
                          <a:sym typeface="Trebuchet MS"/>
                        </a:rPr>
                        <a:t>False blocks and filtering latency</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FFFFF"/>
                    </a:solidFill>
                  </a:tcPr>
                </a:tc>
              </a:tr>
              <a:tr h="342900">
                <a:tc>
                  <a:txBody>
                    <a:bodyPr/>
                    <a:lstStyle/>
                    <a:p>
                      <a:pPr algn="l">
                        <a:defRPr sz="1800"/>
                      </a:pPr>
                      <a:r>
                        <a:rPr sz="1500">
                          <a:solidFill>
                            <a:srgbClr val="20345A"/>
                          </a:solidFill>
                          <a:latin typeface="Trebuchet MS"/>
                          <a:ea typeface="Trebuchet MS"/>
                          <a:cs typeface="Trebuchet MS"/>
                          <a:sym typeface="Trebuchet MS"/>
                        </a:rPr>
                        <a:t>Local vs four-client fleet corroboration</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c>
                  <a:txBody>
                    <a:bodyPr/>
                    <a:lstStyle/>
                    <a:p>
                      <a:pPr algn="l">
                        <a:defRPr sz="1800"/>
                      </a:pPr>
                      <a:r>
                        <a:rPr sz="1500">
                          <a:solidFill>
                            <a:srgbClr val="20345A"/>
                          </a:solidFill>
                          <a:latin typeface="Trebuchet MS"/>
                          <a:ea typeface="Trebuchet MS"/>
                          <a:cs typeface="Trebuchet MS"/>
                          <a:sym typeface="Trebuchet MS"/>
                        </a:rPr>
                        <a:t>False corroboration and below-quorum behaviour</a:t>
                      </a:r>
                    </a:p>
                  </a:txBody>
                  <a:tcPr marL="45720" marR="45720" marT="45720" marB="45720" anchor="ctr" anchorCtr="0" horzOverflow="overflow">
                    <a:lnL w="4763">
                      <a:solidFill>
                        <a:srgbClr val="CDD8E5"/>
                      </a:solidFill>
                    </a:lnL>
                    <a:lnR w="4763">
                      <a:solidFill>
                        <a:srgbClr val="CDD8E5"/>
                      </a:solidFill>
                    </a:lnR>
                    <a:lnT w="4763">
                      <a:solidFill>
                        <a:srgbClr val="CDD8E5"/>
                      </a:solidFill>
                    </a:lnT>
                    <a:lnB w="4763">
                      <a:solidFill>
                        <a:srgbClr val="CDD8E5"/>
                      </a:solidFill>
                    </a:lnB>
                    <a:solidFill>
                      <a:srgbClr val="F4F8FC"/>
                    </a:solidFill>
                  </a:tcPr>
                </a:tc>
              </a:tr>
            </a:tbl>
          </a:graphicData>
        </a:graphic>
      </p:graphicFrame>
      <p:sp>
        <p:nvSpPr>
          <p:cNvPr id="456"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18</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0" name="brief-text-104"/>
          <p:cNvSpPr txBox="1"/>
          <p:nvPr/>
        </p:nvSpPr>
        <p:spPr>
          <a:xfrm>
            <a:off x="1524000" y="1123950"/>
            <a:ext cx="914400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Expected Deliverables</a:t>
            </a:r>
          </a:p>
        </p:txBody>
      </p:sp>
      <p:sp>
        <p:nvSpPr>
          <p:cNvPr id="461" name="brief-rule-105"/>
          <p:cNvSpPr/>
          <p:nvPr/>
        </p:nvSpPr>
        <p:spPr>
          <a:xfrm>
            <a:off x="3048000" y="1581150"/>
            <a:ext cx="7620000" cy="28575"/>
          </a:xfrm>
          <a:prstGeom prst="rect">
            <a:avLst/>
          </a:prstGeom>
          <a:solidFill>
            <a:srgbClr val="33CCCC"/>
          </a:solidFill>
          <a:ln w="12700">
            <a:miter lim="400000"/>
          </a:ln>
        </p:spPr>
        <p:txBody>
          <a:bodyPr lIns="0" tIns="0" rIns="0" bIns="0"/>
          <a:lstStyle/>
          <a:p>
            <a:pPr>
              <a:defRPr>
                <a:latin typeface="Calibri"/>
                <a:ea typeface="Calibri"/>
                <a:cs typeface="Calibri"/>
                <a:sym typeface="Calibri"/>
              </a:defRPr>
            </a:pPr>
          </a:p>
        </p:txBody>
      </p:sp>
      <p:sp>
        <p:nvSpPr>
          <p:cNvPr id="462" name="brief-text-106"/>
          <p:cNvSpPr txBox="1"/>
          <p:nvPr/>
        </p:nvSpPr>
        <p:spPr>
          <a:xfrm>
            <a:off x="1143000" y="2047875"/>
            <a:ext cx="3076575"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0033CC"/>
                </a:solidFill>
                <a:latin typeface="Trebuchet MS"/>
                <a:ea typeface="Trebuchet MS"/>
                <a:cs typeface="Trebuchet MS"/>
                <a:sym typeface="Trebuchet MS"/>
              </a:defRPr>
            </a:lvl1pPr>
          </a:lstStyle>
          <a:p>
            <a:pPr/>
            <a:r>
              <a:t>Phase I</a:t>
            </a:r>
          </a:p>
        </p:txBody>
      </p:sp>
      <p:sp>
        <p:nvSpPr>
          <p:cNvPr id="463" name="brief-text-107"/>
          <p:cNvSpPr txBox="1"/>
          <p:nvPr/>
        </p:nvSpPr>
        <p:spPr>
          <a:xfrm>
            <a:off x="1143000" y="2571750"/>
            <a:ext cx="3076575"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20345A"/>
                </a:solidFill>
                <a:latin typeface="Trebuchet MS"/>
                <a:ea typeface="Trebuchet MS"/>
                <a:cs typeface="Trebuchet MS"/>
                <a:sym typeface="Trebuchet MS"/>
              </a:defRPr>
            </a:lvl1pPr>
          </a:lstStyle>
          <a:p>
            <a:pPr/>
            <a:r>
              <a:t>Research and baseline</a:t>
            </a:r>
          </a:p>
        </p:txBody>
      </p:sp>
      <p:sp>
        <p:nvSpPr>
          <p:cNvPr id="464" name="brief-text-108"/>
          <p:cNvSpPr txBox="1"/>
          <p:nvPr/>
        </p:nvSpPr>
        <p:spPr>
          <a:xfrm>
            <a:off x="1143000" y="3105150"/>
            <a:ext cx="3333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01</a:t>
            </a:r>
          </a:p>
        </p:txBody>
      </p:sp>
      <p:sp>
        <p:nvSpPr>
          <p:cNvPr id="465" name="brief-text-109"/>
          <p:cNvSpPr txBox="1"/>
          <p:nvPr/>
        </p:nvSpPr>
        <p:spPr>
          <a:xfrm>
            <a:off x="1543050" y="3105150"/>
            <a:ext cx="266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Threat model and scenario labels documented.</a:t>
            </a:r>
          </a:p>
        </p:txBody>
      </p:sp>
      <p:sp>
        <p:nvSpPr>
          <p:cNvPr id="466" name="brief-text-110"/>
          <p:cNvSpPr txBox="1"/>
          <p:nvPr/>
        </p:nvSpPr>
        <p:spPr>
          <a:xfrm>
            <a:off x="1143000" y="3876675"/>
            <a:ext cx="3333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02</a:t>
            </a:r>
          </a:p>
        </p:txBody>
      </p:sp>
      <p:sp>
        <p:nvSpPr>
          <p:cNvPr id="467" name="brief-text-111"/>
          <p:cNvSpPr txBox="1"/>
          <p:nvPr/>
        </p:nvSpPr>
        <p:spPr>
          <a:xfrm>
            <a:off x="1543050" y="3876675"/>
            <a:ext cx="266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CAN / V2X baselines run on ROAD [5] / scenario data.</a:t>
            </a:r>
          </a:p>
        </p:txBody>
      </p:sp>
      <p:sp>
        <p:nvSpPr>
          <p:cNvPr id="468" name="brief-text-112"/>
          <p:cNvSpPr txBox="1"/>
          <p:nvPr/>
        </p:nvSpPr>
        <p:spPr>
          <a:xfrm>
            <a:off x="1143000" y="4648200"/>
            <a:ext cx="3333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03</a:t>
            </a:r>
          </a:p>
        </p:txBody>
      </p:sp>
      <p:sp>
        <p:nvSpPr>
          <p:cNvPr id="469" name="brief-text-113"/>
          <p:cNvSpPr txBox="1"/>
          <p:nvPr/>
        </p:nvSpPr>
        <p:spPr>
          <a:xfrm>
            <a:off x="1543050" y="4648200"/>
            <a:ext cx="266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False alarms and attack recall reported.</a:t>
            </a:r>
          </a:p>
        </p:txBody>
      </p:sp>
      <p:sp>
        <p:nvSpPr>
          <p:cNvPr id="470" name="brief-text-114"/>
          <p:cNvSpPr txBox="1"/>
          <p:nvPr/>
        </p:nvSpPr>
        <p:spPr>
          <a:xfrm>
            <a:off x="4600575" y="2047875"/>
            <a:ext cx="3076575"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0033CC"/>
                </a:solidFill>
                <a:latin typeface="Trebuchet MS"/>
                <a:ea typeface="Trebuchet MS"/>
                <a:cs typeface="Trebuchet MS"/>
                <a:sym typeface="Trebuchet MS"/>
              </a:defRPr>
            </a:lvl1pPr>
          </a:lstStyle>
          <a:p>
            <a:pPr/>
            <a:r>
              <a:t>Phase II</a:t>
            </a:r>
          </a:p>
        </p:txBody>
      </p:sp>
      <p:sp>
        <p:nvSpPr>
          <p:cNvPr id="471" name="brief-text-115"/>
          <p:cNvSpPr txBox="1"/>
          <p:nvPr/>
        </p:nvSpPr>
        <p:spPr>
          <a:xfrm>
            <a:off x="4600575" y="2571750"/>
            <a:ext cx="3076575"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20345A"/>
                </a:solidFill>
                <a:latin typeface="Trebuchet MS"/>
                <a:ea typeface="Trebuchet MS"/>
                <a:cs typeface="Trebuchet MS"/>
                <a:sym typeface="Trebuchet MS"/>
              </a:defRPr>
            </a:lvl1pPr>
          </a:lstStyle>
          <a:p>
            <a:pPr/>
            <a:r>
              <a:t>Integrated prototype</a:t>
            </a:r>
          </a:p>
        </p:txBody>
      </p:sp>
      <p:sp>
        <p:nvSpPr>
          <p:cNvPr id="472" name="brief-text-116"/>
          <p:cNvSpPr txBox="1"/>
          <p:nvPr/>
        </p:nvSpPr>
        <p:spPr>
          <a:xfrm>
            <a:off x="4600575" y="3105150"/>
            <a:ext cx="3333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01</a:t>
            </a:r>
          </a:p>
        </p:txBody>
      </p:sp>
      <p:sp>
        <p:nvSpPr>
          <p:cNvPr id="473" name="brief-text-117"/>
          <p:cNvSpPr txBox="1"/>
          <p:nvPr/>
        </p:nvSpPr>
        <p:spPr>
          <a:xfrm>
            <a:off x="5000625" y="3105150"/>
            <a:ext cx="266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Timing compared on cause accuracy.</a:t>
            </a:r>
          </a:p>
        </p:txBody>
      </p:sp>
      <p:sp>
        <p:nvSpPr>
          <p:cNvPr id="474" name="brief-text-118"/>
          <p:cNvSpPr txBox="1"/>
          <p:nvPr/>
        </p:nvSpPr>
        <p:spPr>
          <a:xfrm>
            <a:off x="4600575" y="3876675"/>
            <a:ext cx="3333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02</a:t>
            </a:r>
          </a:p>
        </p:txBody>
      </p:sp>
      <p:sp>
        <p:nvSpPr>
          <p:cNvPr id="475" name="brief-text-119"/>
          <p:cNvSpPr txBox="1"/>
          <p:nvPr/>
        </p:nvSpPr>
        <p:spPr>
          <a:xfrm>
            <a:off x="5000625" y="3876675"/>
            <a:ext cx="266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Fleet + GhostTrace tested on fault / outage cases.</a:t>
            </a:r>
          </a:p>
        </p:txBody>
      </p:sp>
      <p:sp>
        <p:nvSpPr>
          <p:cNvPr id="476" name="brief-text-120"/>
          <p:cNvSpPr txBox="1"/>
          <p:nvPr/>
        </p:nvSpPr>
        <p:spPr>
          <a:xfrm>
            <a:off x="4600575" y="4648200"/>
            <a:ext cx="3333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03</a:t>
            </a:r>
          </a:p>
        </p:txBody>
      </p:sp>
      <p:sp>
        <p:nvSpPr>
          <p:cNvPr id="477" name="brief-text-121"/>
          <p:cNvSpPr txBox="1"/>
          <p:nvPr/>
        </p:nvSpPr>
        <p:spPr>
          <a:xfrm>
            <a:off x="5000625" y="4648200"/>
            <a:ext cx="2667000" cy="762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AI + SOC demonstrate cited, read-only investigation.</a:t>
            </a:r>
          </a:p>
        </p:txBody>
      </p:sp>
      <p:sp>
        <p:nvSpPr>
          <p:cNvPr id="478" name="brief-text-122"/>
          <p:cNvSpPr txBox="1"/>
          <p:nvPr/>
        </p:nvSpPr>
        <p:spPr>
          <a:xfrm>
            <a:off x="8058150" y="2047875"/>
            <a:ext cx="3076575"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solidFill>
                  <a:srgbClr val="0033CC"/>
                </a:solidFill>
                <a:latin typeface="Trebuchet MS"/>
                <a:ea typeface="Trebuchet MS"/>
                <a:cs typeface="Trebuchet MS"/>
                <a:sym typeface="Trebuchet MS"/>
              </a:defRPr>
            </a:lvl1pPr>
          </a:lstStyle>
          <a:p>
            <a:pPr/>
            <a:r>
              <a:t>Phase III</a:t>
            </a:r>
          </a:p>
        </p:txBody>
      </p:sp>
      <p:sp>
        <p:nvSpPr>
          <p:cNvPr id="479" name="brief-text-123"/>
          <p:cNvSpPr txBox="1"/>
          <p:nvPr/>
        </p:nvSpPr>
        <p:spPr>
          <a:xfrm>
            <a:off x="8058150" y="2571750"/>
            <a:ext cx="3076575"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20345A"/>
                </a:solidFill>
                <a:latin typeface="Trebuchet MS"/>
                <a:ea typeface="Trebuchet MS"/>
                <a:cs typeface="Trebuchet MS"/>
                <a:sym typeface="Trebuchet MS"/>
              </a:defRPr>
            </a:lvl1pPr>
          </a:lstStyle>
          <a:p>
            <a:pPr/>
            <a:r>
              <a:t>Evaluation and release</a:t>
            </a:r>
          </a:p>
        </p:txBody>
      </p:sp>
      <p:sp>
        <p:nvSpPr>
          <p:cNvPr id="480" name="brief-text-124"/>
          <p:cNvSpPr txBox="1"/>
          <p:nvPr/>
        </p:nvSpPr>
        <p:spPr>
          <a:xfrm>
            <a:off x="8058150" y="3105150"/>
            <a:ext cx="3333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01</a:t>
            </a:r>
          </a:p>
        </p:txBody>
      </p:sp>
      <p:sp>
        <p:nvSpPr>
          <p:cNvPr id="481" name="brief-text-125"/>
          <p:cNvSpPr txBox="1"/>
          <p:nvPr/>
        </p:nvSpPr>
        <p:spPr>
          <a:xfrm>
            <a:off x="8458200" y="3105150"/>
            <a:ext cx="2667000" cy="762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Both datasets released with provenance, labels and splits.</a:t>
            </a:r>
          </a:p>
        </p:txBody>
      </p:sp>
      <p:sp>
        <p:nvSpPr>
          <p:cNvPr id="482" name="brief-text-126"/>
          <p:cNvSpPr txBox="1"/>
          <p:nvPr/>
        </p:nvSpPr>
        <p:spPr>
          <a:xfrm>
            <a:off x="8058150" y="3876675"/>
            <a:ext cx="3333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02</a:t>
            </a:r>
          </a:p>
        </p:txBody>
      </p:sp>
      <p:sp>
        <p:nvSpPr>
          <p:cNvPr id="483" name="brief-text-127"/>
          <p:cNvSpPr txBox="1"/>
          <p:nvPr/>
        </p:nvSpPr>
        <p:spPr>
          <a:xfrm>
            <a:off x="8458200" y="3876675"/>
            <a:ext cx="2667000" cy="762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Ablations report recall, cause accuracy and ESP32 workload.</a:t>
            </a:r>
          </a:p>
        </p:txBody>
      </p:sp>
      <p:sp>
        <p:nvSpPr>
          <p:cNvPr id="484" name="brief-text-128"/>
          <p:cNvSpPr txBox="1"/>
          <p:nvPr/>
        </p:nvSpPr>
        <p:spPr>
          <a:xfrm>
            <a:off x="8058150" y="4648200"/>
            <a:ext cx="3333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087E8B"/>
                </a:solidFill>
                <a:latin typeface="Trebuchet MS"/>
                <a:ea typeface="Trebuchet MS"/>
                <a:cs typeface="Trebuchet MS"/>
                <a:sym typeface="Trebuchet MS"/>
              </a:defRPr>
            </a:lvl1pPr>
          </a:lstStyle>
          <a:p>
            <a:pPr/>
            <a:r>
              <a:t>03</a:t>
            </a:r>
          </a:p>
        </p:txBody>
      </p:sp>
      <p:sp>
        <p:nvSpPr>
          <p:cNvPr id="485" name="brief-text-129"/>
          <p:cNvSpPr txBox="1"/>
          <p:nvPr/>
        </p:nvSpPr>
        <p:spPr>
          <a:xfrm>
            <a:off x="8458200" y="4648200"/>
            <a:ext cx="2667000"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20345A"/>
                </a:solidFill>
                <a:latin typeface="Trebuchet MS"/>
                <a:ea typeface="Trebuchet MS"/>
                <a:cs typeface="Trebuchet MS"/>
                <a:sym typeface="Trebuchet MS"/>
              </a:defRPr>
            </a:lvl1pPr>
          </a:lstStyle>
          <a:p>
            <a:pPr/>
            <a:r>
              <a:t>Re-runnable code, report and paper prepared.</a:t>
            </a:r>
          </a:p>
        </p:txBody>
      </p:sp>
      <p:sp>
        <p:nvSpPr>
          <p:cNvPr id="486" name="brief-rule-130"/>
          <p:cNvSpPr/>
          <p:nvPr/>
        </p:nvSpPr>
        <p:spPr>
          <a:xfrm>
            <a:off x="1143000" y="5505450"/>
            <a:ext cx="9906000" cy="19050"/>
          </a:xfrm>
          <a:prstGeom prst="rect">
            <a:avLst/>
          </a:prstGeom>
          <a:solidFill>
            <a:srgbClr val="33CCCC"/>
          </a:solidFill>
          <a:ln w="12700">
            <a:miter lim="400000"/>
          </a:ln>
        </p:spPr>
        <p:txBody>
          <a:bodyPr lIns="0" tIns="0" rIns="0" bIns="0"/>
          <a:lstStyle/>
          <a:p>
            <a:pPr>
              <a:defRPr>
                <a:latin typeface="Calibri"/>
                <a:ea typeface="Calibri"/>
                <a:cs typeface="Calibri"/>
                <a:sym typeface="Calibri"/>
              </a:defRPr>
            </a:pPr>
          </a:p>
        </p:txBody>
      </p:sp>
      <p:sp>
        <p:nvSpPr>
          <p:cNvPr id="487"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19</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1" name="revision-text-58"/>
          <p:cNvSpPr txBox="1"/>
          <p:nvPr/>
        </p:nvSpPr>
        <p:spPr>
          <a:xfrm>
            <a:off x="1524000" y="1165224"/>
            <a:ext cx="914400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2400">
                <a:solidFill>
                  <a:srgbClr val="FF0000"/>
                </a:solidFill>
                <a:latin typeface="Trebuchet MS"/>
                <a:ea typeface="Trebuchet MS"/>
                <a:cs typeface="Trebuchet MS"/>
                <a:sym typeface="Trebuchet MS"/>
              </a:defRPr>
            </a:lvl1pPr>
          </a:lstStyle>
          <a:p>
            <a:pPr/>
            <a:r>
              <a:t>Project Timeline and Team Responsibilities</a:t>
            </a:r>
          </a:p>
        </p:txBody>
      </p:sp>
      <p:sp>
        <p:nvSpPr>
          <p:cNvPr id="492" name="revision-shape-59"/>
          <p:cNvSpPr/>
          <p:nvPr/>
        </p:nvSpPr>
        <p:spPr>
          <a:xfrm>
            <a:off x="3048000" y="1581150"/>
            <a:ext cx="7620000" cy="28575"/>
          </a:xfrm>
          <a:prstGeom prst="rect">
            <a:avLst/>
          </a:prstGeom>
          <a:solidFill>
            <a:srgbClr val="33CCCC"/>
          </a:solidFill>
          <a:ln w="12700">
            <a:miter lim="400000"/>
          </a:ln>
        </p:spPr>
        <p:txBody>
          <a:bodyPr lIns="0" tIns="0" rIns="0" bIns="0"/>
          <a:lstStyle/>
          <a:p>
            <a:pPr>
              <a:defRPr>
                <a:latin typeface="Calibri"/>
                <a:ea typeface="Calibri"/>
                <a:cs typeface="Calibri"/>
                <a:sym typeface="Calibri"/>
              </a:defRPr>
            </a:pPr>
          </a:p>
        </p:txBody>
      </p:sp>
      <p:sp>
        <p:nvSpPr>
          <p:cNvPr id="493" name="revision-text-61"/>
          <p:cNvSpPr txBox="1"/>
          <p:nvPr/>
        </p:nvSpPr>
        <p:spPr>
          <a:xfrm>
            <a:off x="762000" y="1839912"/>
            <a:ext cx="10715625"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20345A"/>
                </a:solidFill>
                <a:latin typeface="Trebuchet MS"/>
                <a:ea typeface="Trebuchet MS"/>
                <a:cs typeface="Trebuchet MS"/>
                <a:sym typeface="Trebuchet MS"/>
              </a:defRPr>
            </a:lvl1pPr>
          </a:lstStyle>
          <a:p>
            <a:pPr/>
            <a:r>
              <a:t>Proposed plan from research to evaluated prototype</a:t>
            </a:r>
          </a:p>
        </p:txBody>
      </p:sp>
      <p:sp>
        <p:nvSpPr>
          <p:cNvPr id="494" name="revision-shape-62"/>
          <p:cNvSpPr/>
          <p:nvPr/>
        </p:nvSpPr>
        <p:spPr>
          <a:xfrm>
            <a:off x="4200525" y="2276475"/>
            <a:ext cx="2362200" cy="390525"/>
          </a:xfrm>
          <a:prstGeom prst="rect">
            <a:avLst/>
          </a:prstGeom>
          <a:solidFill>
            <a:srgbClr val="DEEDFE"/>
          </a:solidFill>
          <a:ln>
            <a:solidFill>
              <a:srgbClr val="D8E1ED"/>
            </a:solidFill>
          </a:ln>
        </p:spPr>
        <p:txBody>
          <a:bodyPr lIns="0" tIns="0" rIns="0" bIns="0"/>
          <a:lstStyle/>
          <a:p>
            <a:pPr>
              <a:defRPr>
                <a:latin typeface="Calibri"/>
                <a:ea typeface="Calibri"/>
                <a:cs typeface="Calibri"/>
                <a:sym typeface="Calibri"/>
              </a:defRPr>
            </a:pPr>
          </a:p>
        </p:txBody>
      </p:sp>
      <p:sp>
        <p:nvSpPr>
          <p:cNvPr id="495" name="revision-text-63"/>
          <p:cNvSpPr txBox="1"/>
          <p:nvPr/>
        </p:nvSpPr>
        <p:spPr>
          <a:xfrm>
            <a:off x="4200525" y="2295524"/>
            <a:ext cx="2362200"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20345A"/>
                </a:solidFill>
                <a:latin typeface="Trebuchet MS"/>
                <a:ea typeface="Trebuchet MS"/>
                <a:cs typeface="Trebuchet MS"/>
                <a:sym typeface="Trebuchet MS"/>
              </a:defRPr>
            </a:lvl1pPr>
          </a:lstStyle>
          <a:p>
            <a:pPr/>
            <a:r>
              <a:t>Capstone I</a:t>
            </a:r>
          </a:p>
        </p:txBody>
      </p:sp>
      <p:sp>
        <p:nvSpPr>
          <p:cNvPr id="496" name="revision-text-64"/>
          <p:cNvSpPr txBox="1"/>
          <p:nvPr/>
        </p:nvSpPr>
        <p:spPr>
          <a:xfrm>
            <a:off x="4200525" y="2495549"/>
            <a:ext cx="23622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Aug–Dec 2026</a:t>
            </a:r>
          </a:p>
        </p:txBody>
      </p:sp>
      <p:sp>
        <p:nvSpPr>
          <p:cNvPr id="497" name="revision-shape-65"/>
          <p:cNvSpPr/>
          <p:nvPr/>
        </p:nvSpPr>
        <p:spPr>
          <a:xfrm>
            <a:off x="6562725" y="2276475"/>
            <a:ext cx="2362200" cy="390525"/>
          </a:xfrm>
          <a:prstGeom prst="rect">
            <a:avLst/>
          </a:prstGeom>
          <a:solidFill>
            <a:srgbClr val="DDF3F2"/>
          </a:solidFill>
          <a:ln>
            <a:solidFill>
              <a:srgbClr val="D8E1ED"/>
            </a:solidFill>
          </a:ln>
        </p:spPr>
        <p:txBody>
          <a:bodyPr lIns="0" tIns="0" rIns="0" bIns="0"/>
          <a:lstStyle/>
          <a:p>
            <a:pPr>
              <a:defRPr>
                <a:latin typeface="Calibri"/>
                <a:ea typeface="Calibri"/>
                <a:cs typeface="Calibri"/>
                <a:sym typeface="Calibri"/>
              </a:defRPr>
            </a:pPr>
          </a:p>
        </p:txBody>
      </p:sp>
      <p:sp>
        <p:nvSpPr>
          <p:cNvPr id="498" name="revision-text-66"/>
          <p:cNvSpPr txBox="1"/>
          <p:nvPr/>
        </p:nvSpPr>
        <p:spPr>
          <a:xfrm>
            <a:off x="6562725" y="2295524"/>
            <a:ext cx="2362200"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20345A"/>
                </a:solidFill>
                <a:latin typeface="Trebuchet MS"/>
                <a:ea typeface="Trebuchet MS"/>
                <a:cs typeface="Trebuchet MS"/>
                <a:sym typeface="Trebuchet MS"/>
              </a:defRPr>
            </a:lvl1pPr>
          </a:lstStyle>
          <a:p>
            <a:pPr/>
            <a:r>
              <a:t>Capstone II</a:t>
            </a:r>
          </a:p>
        </p:txBody>
      </p:sp>
      <p:sp>
        <p:nvSpPr>
          <p:cNvPr id="499" name="revision-text-67"/>
          <p:cNvSpPr txBox="1"/>
          <p:nvPr/>
        </p:nvSpPr>
        <p:spPr>
          <a:xfrm>
            <a:off x="6562725" y="2495549"/>
            <a:ext cx="23622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Jan–May 2027</a:t>
            </a:r>
          </a:p>
        </p:txBody>
      </p:sp>
      <p:sp>
        <p:nvSpPr>
          <p:cNvPr id="500" name="revision-shape-68"/>
          <p:cNvSpPr/>
          <p:nvPr/>
        </p:nvSpPr>
        <p:spPr>
          <a:xfrm>
            <a:off x="8924925" y="2276475"/>
            <a:ext cx="2362200" cy="390525"/>
          </a:xfrm>
          <a:prstGeom prst="rect">
            <a:avLst/>
          </a:prstGeom>
          <a:solidFill>
            <a:srgbClr val="EEE5FA"/>
          </a:solidFill>
          <a:ln>
            <a:solidFill>
              <a:srgbClr val="D8E1ED"/>
            </a:solidFill>
          </a:ln>
        </p:spPr>
        <p:txBody>
          <a:bodyPr lIns="0" tIns="0" rIns="0" bIns="0"/>
          <a:lstStyle/>
          <a:p>
            <a:pPr>
              <a:defRPr>
                <a:latin typeface="Calibri"/>
                <a:ea typeface="Calibri"/>
                <a:cs typeface="Calibri"/>
                <a:sym typeface="Calibri"/>
              </a:defRPr>
            </a:pPr>
          </a:p>
        </p:txBody>
      </p:sp>
      <p:sp>
        <p:nvSpPr>
          <p:cNvPr id="501" name="revision-text-69"/>
          <p:cNvSpPr txBox="1"/>
          <p:nvPr/>
        </p:nvSpPr>
        <p:spPr>
          <a:xfrm>
            <a:off x="8924925" y="2295524"/>
            <a:ext cx="2362200"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20345A"/>
                </a:solidFill>
                <a:latin typeface="Trebuchet MS"/>
                <a:ea typeface="Trebuchet MS"/>
                <a:cs typeface="Trebuchet MS"/>
                <a:sym typeface="Trebuchet MS"/>
              </a:defRPr>
            </a:lvl1pPr>
          </a:lstStyle>
          <a:p>
            <a:pPr/>
            <a:r>
              <a:t>Capstone III</a:t>
            </a:r>
          </a:p>
        </p:txBody>
      </p:sp>
      <p:sp>
        <p:nvSpPr>
          <p:cNvPr id="502" name="revision-text-70"/>
          <p:cNvSpPr txBox="1"/>
          <p:nvPr/>
        </p:nvSpPr>
        <p:spPr>
          <a:xfrm>
            <a:off x="8924925" y="2495549"/>
            <a:ext cx="23622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Aug–Dec 2027</a:t>
            </a:r>
          </a:p>
        </p:txBody>
      </p:sp>
      <p:sp>
        <p:nvSpPr>
          <p:cNvPr id="503" name="revision-shape-71"/>
          <p:cNvSpPr/>
          <p:nvPr/>
        </p:nvSpPr>
        <p:spPr>
          <a:xfrm>
            <a:off x="762000" y="2667000"/>
            <a:ext cx="10525125" cy="266700"/>
          </a:xfrm>
          <a:prstGeom prst="rect">
            <a:avLst/>
          </a:prstGeom>
          <a:solidFill>
            <a:srgbClr val="EFF3F8"/>
          </a:solidFill>
          <a:ln>
            <a:solidFill>
              <a:srgbClr val="D8E1ED"/>
            </a:solidFill>
          </a:ln>
        </p:spPr>
        <p:txBody>
          <a:bodyPr lIns="0" tIns="0" rIns="0" bIns="0"/>
          <a:lstStyle/>
          <a:p>
            <a:pPr>
              <a:defRPr>
                <a:latin typeface="Calibri"/>
                <a:ea typeface="Calibri"/>
                <a:cs typeface="Calibri"/>
                <a:sym typeface="Calibri"/>
              </a:defRPr>
            </a:pPr>
          </a:p>
        </p:txBody>
      </p:sp>
      <p:sp>
        <p:nvSpPr>
          <p:cNvPr id="504" name="revision-text-72"/>
          <p:cNvSpPr txBox="1"/>
          <p:nvPr/>
        </p:nvSpPr>
        <p:spPr>
          <a:xfrm>
            <a:off x="838200" y="2698749"/>
            <a:ext cx="2581275"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20345A"/>
                </a:solidFill>
                <a:latin typeface="Trebuchet MS"/>
                <a:ea typeface="Trebuchet MS"/>
                <a:cs typeface="Trebuchet MS"/>
                <a:sym typeface="Trebuchet MS"/>
              </a:defRPr>
            </a:lvl1pPr>
          </a:lstStyle>
          <a:p>
            <a:pPr/>
            <a:r>
              <a:t>Task</a:t>
            </a:r>
          </a:p>
        </p:txBody>
      </p:sp>
      <p:sp>
        <p:nvSpPr>
          <p:cNvPr id="505" name="revision-text-73"/>
          <p:cNvSpPr txBox="1"/>
          <p:nvPr/>
        </p:nvSpPr>
        <p:spPr>
          <a:xfrm>
            <a:off x="3438525" y="2705099"/>
            <a:ext cx="762000"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20345A"/>
                </a:solidFill>
                <a:latin typeface="Trebuchet MS"/>
                <a:ea typeface="Trebuchet MS"/>
                <a:cs typeface="Trebuchet MS"/>
                <a:sym typeface="Trebuchet MS"/>
              </a:defRPr>
            </a:lvl1pPr>
          </a:lstStyle>
          <a:p>
            <a:pPr/>
            <a:r>
              <a:t>Lead</a:t>
            </a:r>
          </a:p>
        </p:txBody>
      </p:sp>
      <p:sp>
        <p:nvSpPr>
          <p:cNvPr id="506" name="revision-text-74"/>
          <p:cNvSpPr txBox="1"/>
          <p:nvPr/>
        </p:nvSpPr>
        <p:spPr>
          <a:xfrm>
            <a:off x="4200525"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Aug</a:t>
            </a:r>
          </a:p>
        </p:txBody>
      </p:sp>
      <p:sp>
        <p:nvSpPr>
          <p:cNvPr id="507" name="revision-text-75"/>
          <p:cNvSpPr txBox="1"/>
          <p:nvPr/>
        </p:nvSpPr>
        <p:spPr>
          <a:xfrm>
            <a:off x="4672965"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Sep</a:t>
            </a:r>
          </a:p>
        </p:txBody>
      </p:sp>
      <p:sp>
        <p:nvSpPr>
          <p:cNvPr id="508" name="revision-text-76"/>
          <p:cNvSpPr txBox="1"/>
          <p:nvPr/>
        </p:nvSpPr>
        <p:spPr>
          <a:xfrm>
            <a:off x="5145404"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Oct</a:t>
            </a:r>
          </a:p>
        </p:txBody>
      </p:sp>
      <p:sp>
        <p:nvSpPr>
          <p:cNvPr id="509" name="revision-text-77"/>
          <p:cNvSpPr txBox="1"/>
          <p:nvPr/>
        </p:nvSpPr>
        <p:spPr>
          <a:xfrm>
            <a:off x="5617845"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Nov</a:t>
            </a:r>
          </a:p>
        </p:txBody>
      </p:sp>
      <p:sp>
        <p:nvSpPr>
          <p:cNvPr id="510" name="revision-text-78"/>
          <p:cNvSpPr txBox="1"/>
          <p:nvPr/>
        </p:nvSpPr>
        <p:spPr>
          <a:xfrm>
            <a:off x="6090284"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Dec</a:t>
            </a:r>
          </a:p>
        </p:txBody>
      </p:sp>
      <p:sp>
        <p:nvSpPr>
          <p:cNvPr id="511" name="revision-text-79"/>
          <p:cNvSpPr txBox="1"/>
          <p:nvPr/>
        </p:nvSpPr>
        <p:spPr>
          <a:xfrm>
            <a:off x="6562725"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Jan</a:t>
            </a:r>
          </a:p>
        </p:txBody>
      </p:sp>
      <p:sp>
        <p:nvSpPr>
          <p:cNvPr id="512" name="revision-text-80"/>
          <p:cNvSpPr txBox="1"/>
          <p:nvPr/>
        </p:nvSpPr>
        <p:spPr>
          <a:xfrm>
            <a:off x="7035165"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Feb</a:t>
            </a:r>
          </a:p>
        </p:txBody>
      </p:sp>
      <p:sp>
        <p:nvSpPr>
          <p:cNvPr id="513" name="revision-text-81"/>
          <p:cNvSpPr txBox="1"/>
          <p:nvPr/>
        </p:nvSpPr>
        <p:spPr>
          <a:xfrm>
            <a:off x="7507605"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Mar</a:t>
            </a:r>
          </a:p>
        </p:txBody>
      </p:sp>
      <p:sp>
        <p:nvSpPr>
          <p:cNvPr id="514" name="revision-text-82"/>
          <p:cNvSpPr txBox="1"/>
          <p:nvPr/>
        </p:nvSpPr>
        <p:spPr>
          <a:xfrm>
            <a:off x="7980043"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Apr</a:t>
            </a:r>
          </a:p>
        </p:txBody>
      </p:sp>
      <p:sp>
        <p:nvSpPr>
          <p:cNvPr id="515" name="revision-text-83"/>
          <p:cNvSpPr txBox="1"/>
          <p:nvPr/>
        </p:nvSpPr>
        <p:spPr>
          <a:xfrm>
            <a:off x="8452484"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May</a:t>
            </a:r>
          </a:p>
        </p:txBody>
      </p:sp>
      <p:sp>
        <p:nvSpPr>
          <p:cNvPr id="516" name="revision-text-84"/>
          <p:cNvSpPr txBox="1"/>
          <p:nvPr/>
        </p:nvSpPr>
        <p:spPr>
          <a:xfrm>
            <a:off x="8924925"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Aug</a:t>
            </a:r>
          </a:p>
        </p:txBody>
      </p:sp>
      <p:sp>
        <p:nvSpPr>
          <p:cNvPr id="517" name="revision-text-85"/>
          <p:cNvSpPr txBox="1"/>
          <p:nvPr/>
        </p:nvSpPr>
        <p:spPr>
          <a:xfrm>
            <a:off x="9397365"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Sep</a:t>
            </a:r>
          </a:p>
        </p:txBody>
      </p:sp>
      <p:sp>
        <p:nvSpPr>
          <p:cNvPr id="518" name="revision-text-86"/>
          <p:cNvSpPr txBox="1"/>
          <p:nvPr/>
        </p:nvSpPr>
        <p:spPr>
          <a:xfrm>
            <a:off x="9869805"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Oct</a:t>
            </a:r>
          </a:p>
        </p:txBody>
      </p:sp>
      <p:sp>
        <p:nvSpPr>
          <p:cNvPr id="519" name="revision-text-87"/>
          <p:cNvSpPr txBox="1"/>
          <p:nvPr/>
        </p:nvSpPr>
        <p:spPr>
          <a:xfrm>
            <a:off x="10342243"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Nov</a:t>
            </a:r>
          </a:p>
        </p:txBody>
      </p:sp>
      <p:sp>
        <p:nvSpPr>
          <p:cNvPr id="520" name="revision-text-88"/>
          <p:cNvSpPr txBox="1"/>
          <p:nvPr/>
        </p:nvSpPr>
        <p:spPr>
          <a:xfrm>
            <a:off x="10814684" y="2730499"/>
            <a:ext cx="47244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20345A"/>
                </a:solidFill>
                <a:latin typeface="Trebuchet MS"/>
                <a:ea typeface="Trebuchet MS"/>
                <a:cs typeface="Trebuchet MS"/>
                <a:sym typeface="Trebuchet MS"/>
              </a:defRPr>
            </a:lvl1pPr>
          </a:lstStyle>
          <a:p>
            <a:pPr/>
            <a:r>
              <a:t>Dec</a:t>
            </a:r>
          </a:p>
        </p:txBody>
      </p:sp>
      <p:sp>
        <p:nvSpPr>
          <p:cNvPr id="521" name="revision-shape-89"/>
          <p:cNvSpPr/>
          <p:nvPr/>
        </p:nvSpPr>
        <p:spPr>
          <a:xfrm>
            <a:off x="762000" y="2933700"/>
            <a:ext cx="10525125" cy="219075"/>
          </a:xfrm>
          <a:prstGeom prst="rect">
            <a:avLst/>
          </a:prstGeom>
          <a:solidFill>
            <a:srgbClr val="FFFFFF"/>
          </a:solidFill>
          <a:ln w="5715">
            <a:solidFill>
              <a:srgbClr val="D8E1ED"/>
            </a:solidFill>
          </a:ln>
        </p:spPr>
        <p:txBody>
          <a:bodyPr lIns="0" tIns="0" rIns="0" bIns="0"/>
          <a:lstStyle/>
          <a:p>
            <a:pPr>
              <a:defRPr>
                <a:latin typeface="Calibri"/>
                <a:ea typeface="Calibri"/>
                <a:cs typeface="Calibri"/>
                <a:sym typeface="Calibri"/>
              </a:defRPr>
            </a:pPr>
          </a:p>
        </p:txBody>
      </p:sp>
      <p:sp>
        <p:nvSpPr>
          <p:cNvPr id="522" name="revision-text-90"/>
          <p:cNvSpPr txBox="1"/>
          <p:nvPr/>
        </p:nvSpPr>
        <p:spPr>
          <a:xfrm>
            <a:off x="838200" y="2947986"/>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Literature + threat model</a:t>
            </a:r>
          </a:p>
        </p:txBody>
      </p:sp>
      <p:sp>
        <p:nvSpPr>
          <p:cNvPr id="523" name="revision-text-91"/>
          <p:cNvSpPr txBox="1"/>
          <p:nvPr/>
        </p:nvSpPr>
        <p:spPr>
          <a:xfrm>
            <a:off x="3438525" y="2967036"/>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All</a:t>
            </a:r>
          </a:p>
        </p:txBody>
      </p:sp>
      <p:sp>
        <p:nvSpPr>
          <p:cNvPr id="524" name="revision-shape-92"/>
          <p:cNvSpPr/>
          <p:nvPr/>
        </p:nvSpPr>
        <p:spPr>
          <a:xfrm>
            <a:off x="5173979" y="2971800"/>
            <a:ext cx="887733" cy="142875"/>
          </a:xfrm>
          <a:prstGeom prst="roundRect">
            <a:avLst>
              <a:gd name="adj" fmla="val 50000"/>
            </a:avLst>
          </a:prstGeom>
          <a:solidFill>
            <a:srgbClr val="368CDF"/>
          </a:solidFill>
          <a:ln w="12700">
            <a:miter lim="400000"/>
          </a:ln>
        </p:spPr>
        <p:txBody>
          <a:bodyPr lIns="0" tIns="0" rIns="0" bIns="0"/>
          <a:lstStyle/>
          <a:p>
            <a:pPr>
              <a:defRPr>
                <a:latin typeface="Calibri"/>
                <a:ea typeface="Calibri"/>
                <a:cs typeface="Calibri"/>
                <a:sym typeface="Calibri"/>
              </a:defRPr>
            </a:pPr>
          </a:p>
        </p:txBody>
      </p:sp>
      <p:sp>
        <p:nvSpPr>
          <p:cNvPr id="525" name="revision-shape-93"/>
          <p:cNvSpPr/>
          <p:nvPr/>
        </p:nvSpPr>
        <p:spPr>
          <a:xfrm>
            <a:off x="6591300" y="2971800"/>
            <a:ext cx="887731" cy="142875"/>
          </a:xfrm>
          <a:prstGeom prst="roundRect">
            <a:avLst>
              <a:gd name="adj" fmla="val 50000"/>
            </a:avLst>
          </a:prstGeom>
          <a:solidFill>
            <a:srgbClr val="368CDF"/>
          </a:solidFill>
          <a:ln w="12700">
            <a:miter lim="400000"/>
          </a:ln>
        </p:spPr>
        <p:txBody>
          <a:bodyPr lIns="0" tIns="0" rIns="0" bIns="0"/>
          <a:lstStyle/>
          <a:p>
            <a:pPr>
              <a:defRPr>
                <a:latin typeface="Calibri"/>
                <a:ea typeface="Calibri"/>
                <a:cs typeface="Calibri"/>
                <a:sym typeface="Calibri"/>
              </a:defRPr>
            </a:pPr>
          </a:p>
        </p:txBody>
      </p:sp>
      <p:sp>
        <p:nvSpPr>
          <p:cNvPr id="526" name="revision-shape-94"/>
          <p:cNvSpPr/>
          <p:nvPr/>
        </p:nvSpPr>
        <p:spPr>
          <a:xfrm>
            <a:off x="762000" y="3152775"/>
            <a:ext cx="10525125" cy="219075"/>
          </a:xfrm>
          <a:prstGeom prst="rect">
            <a:avLst/>
          </a:prstGeom>
          <a:solidFill>
            <a:srgbClr val="F8FAFD"/>
          </a:solidFill>
          <a:ln w="5715">
            <a:solidFill>
              <a:srgbClr val="D8E1ED"/>
            </a:solidFill>
          </a:ln>
        </p:spPr>
        <p:txBody>
          <a:bodyPr lIns="0" tIns="0" rIns="0" bIns="0"/>
          <a:lstStyle/>
          <a:p>
            <a:pPr>
              <a:defRPr>
                <a:latin typeface="Calibri"/>
                <a:ea typeface="Calibri"/>
                <a:cs typeface="Calibri"/>
                <a:sym typeface="Calibri"/>
              </a:defRPr>
            </a:pPr>
          </a:p>
        </p:txBody>
      </p:sp>
      <p:sp>
        <p:nvSpPr>
          <p:cNvPr id="527" name="revision-text-95"/>
          <p:cNvSpPr txBox="1"/>
          <p:nvPr/>
        </p:nvSpPr>
        <p:spPr>
          <a:xfrm>
            <a:off x="838200" y="3167060"/>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Scenario labels + data protocol</a:t>
            </a:r>
          </a:p>
        </p:txBody>
      </p:sp>
      <p:sp>
        <p:nvSpPr>
          <p:cNvPr id="528" name="revision-text-96"/>
          <p:cNvSpPr txBox="1"/>
          <p:nvPr/>
        </p:nvSpPr>
        <p:spPr>
          <a:xfrm>
            <a:off x="3438525" y="3186110"/>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Dhanush</a:t>
            </a:r>
          </a:p>
        </p:txBody>
      </p:sp>
      <p:sp>
        <p:nvSpPr>
          <p:cNvPr id="529" name="revision-shape-97"/>
          <p:cNvSpPr/>
          <p:nvPr/>
        </p:nvSpPr>
        <p:spPr>
          <a:xfrm>
            <a:off x="5173979" y="3190875"/>
            <a:ext cx="1360173" cy="142875"/>
          </a:xfrm>
          <a:prstGeom prst="roundRect">
            <a:avLst>
              <a:gd name="adj" fmla="val 50000"/>
            </a:avLst>
          </a:prstGeom>
          <a:solidFill>
            <a:srgbClr val="1DA5AC"/>
          </a:solidFill>
          <a:ln w="12700">
            <a:miter lim="400000"/>
          </a:ln>
        </p:spPr>
        <p:txBody>
          <a:bodyPr lIns="0" tIns="0" rIns="0" bIns="0"/>
          <a:lstStyle/>
          <a:p>
            <a:pPr>
              <a:defRPr>
                <a:latin typeface="Calibri"/>
                <a:ea typeface="Calibri"/>
                <a:cs typeface="Calibri"/>
                <a:sym typeface="Calibri"/>
              </a:defRPr>
            </a:pPr>
          </a:p>
        </p:txBody>
      </p:sp>
      <p:sp>
        <p:nvSpPr>
          <p:cNvPr id="530" name="revision-shape-98"/>
          <p:cNvSpPr/>
          <p:nvPr/>
        </p:nvSpPr>
        <p:spPr>
          <a:xfrm>
            <a:off x="762000" y="3371850"/>
            <a:ext cx="10525125" cy="219075"/>
          </a:xfrm>
          <a:prstGeom prst="rect">
            <a:avLst/>
          </a:prstGeom>
          <a:solidFill>
            <a:srgbClr val="FFFFFF"/>
          </a:solidFill>
          <a:ln w="5715">
            <a:solidFill>
              <a:srgbClr val="D8E1ED"/>
            </a:solidFill>
          </a:ln>
        </p:spPr>
        <p:txBody>
          <a:bodyPr lIns="0" tIns="0" rIns="0" bIns="0"/>
          <a:lstStyle/>
          <a:p>
            <a:pPr>
              <a:defRPr>
                <a:latin typeface="Calibri"/>
                <a:ea typeface="Calibri"/>
                <a:cs typeface="Calibri"/>
                <a:sym typeface="Calibri"/>
              </a:defRPr>
            </a:pPr>
          </a:p>
        </p:txBody>
      </p:sp>
      <p:sp>
        <p:nvSpPr>
          <p:cNvPr id="531" name="revision-text-99"/>
          <p:cNvSpPr txBox="1"/>
          <p:nvPr/>
        </p:nvSpPr>
        <p:spPr>
          <a:xfrm>
            <a:off x="838200" y="3386135"/>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CAN replay + baseline</a:t>
            </a:r>
          </a:p>
        </p:txBody>
      </p:sp>
      <p:sp>
        <p:nvSpPr>
          <p:cNvPr id="532" name="revision-text-100"/>
          <p:cNvSpPr txBox="1"/>
          <p:nvPr/>
        </p:nvSpPr>
        <p:spPr>
          <a:xfrm>
            <a:off x="3438525" y="3405185"/>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Dhanush</a:t>
            </a:r>
          </a:p>
        </p:txBody>
      </p:sp>
      <p:sp>
        <p:nvSpPr>
          <p:cNvPr id="533" name="revision-shape-101"/>
          <p:cNvSpPr/>
          <p:nvPr/>
        </p:nvSpPr>
        <p:spPr>
          <a:xfrm>
            <a:off x="5646420" y="3409950"/>
            <a:ext cx="1360173" cy="142875"/>
          </a:xfrm>
          <a:prstGeom prst="roundRect">
            <a:avLst>
              <a:gd name="adj" fmla="val 50000"/>
            </a:avLst>
          </a:prstGeom>
          <a:solidFill>
            <a:srgbClr val="9165CF"/>
          </a:solidFill>
          <a:ln w="12700">
            <a:miter lim="400000"/>
          </a:ln>
        </p:spPr>
        <p:txBody>
          <a:bodyPr lIns="0" tIns="0" rIns="0" bIns="0"/>
          <a:lstStyle/>
          <a:p>
            <a:pPr>
              <a:defRPr>
                <a:latin typeface="Calibri"/>
                <a:ea typeface="Calibri"/>
                <a:cs typeface="Calibri"/>
                <a:sym typeface="Calibri"/>
              </a:defRPr>
            </a:pPr>
          </a:p>
        </p:txBody>
      </p:sp>
      <p:sp>
        <p:nvSpPr>
          <p:cNvPr id="534" name="revision-shape-102"/>
          <p:cNvSpPr/>
          <p:nvPr/>
        </p:nvSpPr>
        <p:spPr>
          <a:xfrm>
            <a:off x="762000" y="3590925"/>
            <a:ext cx="10525125" cy="219075"/>
          </a:xfrm>
          <a:prstGeom prst="rect">
            <a:avLst/>
          </a:prstGeom>
          <a:solidFill>
            <a:srgbClr val="F8FAFD"/>
          </a:solidFill>
          <a:ln w="5715">
            <a:solidFill>
              <a:srgbClr val="D8E1ED"/>
            </a:solidFill>
          </a:ln>
        </p:spPr>
        <p:txBody>
          <a:bodyPr lIns="0" tIns="0" rIns="0" bIns="0"/>
          <a:lstStyle/>
          <a:p>
            <a:pPr>
              <a:defRPr>
                <a:latin typeface="Calibri"/>
                <a:ea typeface="Calibri"/>
                <a:cs typeface="Calibri"/>
                <a:sym typeface="Calibri"/>
              </a:defRPr>
            </a:pPr>
          </a:p>
        </p:txBody>
      </p:sp>
      <p:sp>
        <p:nvSpPr>
          <p:cNvPr id="535" name="revision-text-103"/>
          <p:cNvSpPr txBox="1"/>
          <p:nvPr/>
        </p:nvSpPr>
        <p:spPr>
          <a:xfrm>
            <a:off x="838200" y="3605210"/>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V2X simulation + baseline</a:t>
            </a:r>
          </a:p>
        </p:txBody>
      </p:sp>
      <p:sp>
        <p:nvSpPr>
          <p:cNvPr id="536" name="revision-text-104"/>
          <p:cNvSpPr txBox="1"/>
          <p:nvPr/>
        </p:nvSpPr>
        <p:spPr>
          <a:xfrm>
            <a:off x="3438525" y="3624260"/>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Eshwar</a:t>
            </a:r>
          </a:p>
        </p:txBody>
      </p:sp>
      <p:sp>
        <p:nvSpPr>
          <p:cNvPr id="537" name="revision-shape-105"/>
          <p:cNvSpPr/>
          <p:nvPr/>
        </p:nvSpPr>
        <p:spPr>
          <a:xfrm>
            <a:off x="5646420" y="3629025"/>
            <a:ext cx="1360173" cy="142875"/>
          </a:xfrm>
          <a:prstGeom prst="roundRect">
            <a:avLst>
              <a:gd name="adj" fmla="val 50000"/>
            </a:avLst>
          </a:prstGeom>
          <a:solidFill>
            <a:srgbClr val="9165CF"/>
          </a:solidFill>
          <a:ln w="12700">
            <a:miter lim="400000"/>
          </a:ln>
        </p:spPr>
        <p:txBody>
          <a:bodyPr lIns="0" tIns="0" rIns="0" bIns="0"/>
          <a:lstStyle/>
          <a:p>
            <a:pPr>
              <a:defRPr>
                <a:latin typeface="Calibri"/>
                <a:ea typeface="Calibri"/>
                <a:cs typeface="Calibri"/>
                <a:sym typeface="Calibri"/>
              </a:defRPr>
            </a:pPr>
          </a:p>
        </p:txBody>
      </p:sp>
      <p:sp>
        <p:nvSpPr>
          <p:cNvPr id="538" name="revision-shape-106"/>
          <p:cNvSpPr/>
          <p:nvPr/>
        </p:nvSpPr>
        <p:spPr>
          <a:xfrm>
            <a:off x="762000" y="3810000"/>
            <a:ext cx="10525125" cy="219075"/>
          </a:xfrm>
          <a:prstGeom prst="rect">
            <a:avLst/>
          </a:prstGeom>
          <a:solidFill>
            <a:srgbClr val="FFFFFF"/>
          </a:solidFill>
          <a:ln w="5715">
            <a:solidFill>
              <a:srgbClr val="D8E1ED"/>
            </a:solidFill>
          </a:ln>
        </p:spPr>
        <p:txBody>
          <a:bodyPr lIns="0" tIns="0" rIns="0" bIns="0"/>
          <a:lstStyle/>
          <a:p>
            <a:pPr>
              <a:defRPr>
                <a:latin typeface="Calibri"/>
                <a:ea typeface="Calibri"/>
                <a:cs typeface="Calibri"/>
                <a:sym typeface="Calibri"/>
              </a:defRPr>
            </a:pPr>
          </a:p>
        </p:txBody>
      </p:sp>
      <p:sp>
        <p:nvSpPr>
          <p:cNvPr id="539" name="revision-text-107"/>
          <p:cNvSpPr txBox="1"/>
          <p:nvPr/>
        </p:nvSpPr>
        <p:spPr>
          <a:xfrm>
            <a:off x="838200" y="3824285"/>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Timing vs Accuracy</a:t>
            </a:r>
          </a:p>
        </p:txBody>
      </p:sp>
      <p:sp>
        <p:nvSpPr>
          <p:cNvPr id="540" name="revision-text-108"/>
          <p:cNvSpPr txBox="1"/>
          <p:nvPr/>
        </p:nvSpPr>
        <p:spPr>
          <a:xfrm>
            <a:off x="3438525" y="3843335"/>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Eshwar</a:t>
            </a:r>
          </a:p>
        </p:txBody>
      </p:sp>
      <p:sp>
        <p:nvSpPr>
          <p:cNvPr id="541" name="revision-shape-109"/>
          <p:cNvSpPr/>
          <p:nvPr/>
        </p:nvSpPr>
        <p:spPr>
          <a:xfrm>
            <a:off x="6591300" y="3848100"/>
            <a:ext cx="1360170" cy="142875"/>
          </a:xfrm>
          <a:prstGeom prst="roundRect">
            <a:avLst>
              <a:gd name="adj" fmla="val 50000"/>
            </a:avLst>
          </a:prstGeom>
          <a:solidFill>
            <a:srgbClr val="9165CF"/>
          </a:solidFill>
          <a:ln w="12700">
            <a:miter lim="400000"/>
          </a:ln>
        </p:spPr>
        <p:txBody>
          <a:bodyPr lIns="0" tIns="0" rIns="0" bIns="0"/>
          <a:lstStyle/>
          <a:p>
            <a:pPr>
              <a:defRPr>
                <a:latin typeface="Calibri"/>
                <a:ea typeface="Calibri"/>
                <a:cs typeface="Calibri"/>
                <a:sym typeface="Calibri"/>
              </a:defRPr>
            </a:pPr>
          </a:p>
        </p:txBody>
      </p:sp>
      <p:sp>
        <p:nvSpPr>
          <p:cNvPr id="542" name="revision-shape-110"/>
          <p:cNvSpPr/>
          <p:nvPr/>
        </p:nvSpPr>
        <p:spPr>
          <a:xfrm>
            <a:off x="762000" y="4029075"/>
            <a:ext cx="10525125" cy="219075"/>
          </a:xfrm>
          <a:prstGeom prst="rect">
            <a:avLst/>
          </a:prstGeom>
          <a:solidFill>
            <a:srgbClr val="F8FAFD"/>
          </a:solidFill>
          <a:ln w="5715">
            <a:solidFill>
              <a:srgbClr val="D8E1ED"/>
            </a:solidFill>
          </a:ln>
        </p:spPr>
        <p:txBody>
          <a:bodyPr lIns="0" tIns="0" rIns="0" bIns="0"/>
          <a:lstStyle/>
          <a:p>
            <a:pPr>
              <a:defRPr>
                <a:latin typeface="Calibri"/>
                <a:ea typeface="Calibri"/>
                <a:cs typeface="Calibri"/>
                <a:sym typeface="Calibri"/>
              </a:defRPr>
            </a:pPr>
          </a:p>
        </p:txBody>
      </p:sp>
      <p:sp>
        <p:nvSpPr>
          <p:cNvPr id="543" name="revision-text-111"/>
          <p:cNvSpPr txBox="1"/>
          <p:nvPr/>
        </p:nvSpPr>
        <p:spPr>
          <a:xfrm>
            <a:off x="838200" y="4043360"/>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Signed verdicts + quorum</a:t>
            </a:r>
          </a:p>
        </p:txBody>
      </p:sp>
      <p:sp>
        <p:nvSpPr>
          <p:cNvPr id="544" name="revision-text-112"/>
          <p:cNvSpPr txBox="1"/>
          <p:nvPr/>
        </p:nvSpPr>
        <p:spPr>
          <a:xfrm>
            <a:off x="3438525" y="4062410"/>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Shreya</a:t>
            </a:r>
          </a:p>
        </p:txBody>
      </p:sp>
      <p:sp>
        <p:nvSpPr>
          <p:cNvPr id="545" name="revision-shape-113"/>
          <p:cNvSpPr/>
          <p:nvPr/>
        </p:nvSpPr>
        <p:spPr>
          <a:xfrm>
            <a:off x="6591300" y="4067175"/>
            <a:ext cx="1360170" cy="142875"/>
          </a:xfrm>
          <a:prstGeom prst="roundRect">
            <a:avLst>
              <a:gd name="adj" fmla="val 50000"/>
            </a:avLst>
          </a:prstGeom>
          <a:solidFill>
            <a:srgbClr val="9165CF"/>
          </a:solidFill>
          <a:ln w="12700">
            <a:miter lim="400000"/>
          </a:ln>
        </p:spPr>
        <p:txBody>
          <a:bodyPr lIns="0" tIns="0" rIns="0" bIns="0"/>
          <a:lstStyle/>
          <a:p>
            <a:pPr>
              <a:defRPr>
                <a:latin typeface="Calibri"/>
                <a:ea typeface="Calibri"/>
                <a:cs typeface="Calibri"/>
                <a:sym typeface="Calibri"/>
              </a:defRPr>
            </a:pPr>
          </a:p>
        </p:txBody>
      </p:sp>
      <p:sp>
        <p:nvSpPr>
          <p:cNvPr id="546" name="revision-shape-114"/>
          <p:cNvSpPr/>
          <p:nvPr/>
        </p:nvSpPr>
        <p:spPr>
          <a:xfrm>
            <a:off x="762000" y="4248150"/>
            <a:ext cx="10525125" cy="219075"/>
          </a:xfrm>
          <a:prstGeom prst="rect">
            <a:avLst/>
          </a:prstGeom>
          <a:solidFill>
            <a:srgbClr val="FFFFFF"/>
          </a:solidFill>
          <a:ln w="5715">
            <a:solidFill>
              <a:srgbClr val="D8E1ED"/>
            </a:solidFill>
          </a:ln>
        </p:spPr>
        <p:txBody>
          <a:bodyPr lIns="0" tIns="0" rIns="0" bIns="0"/>
          <a:lstStyle/>
          <a:p>
            <a:pPr>
              <a:defRPr>
                <a:latin typeface="Calibri"/>
                <a:ea typeface="Calibri"/>
                <a:cs typeface="Calibri"/>
                <a:sym typeface="Calibri"/>
              </a:defRPr>
            </a:pPr>
          </a:p>
        </p:txBody>
      </p:sp>
      <p:sp>
        <p:nvSpPr>
          <p:cNvPr id="547" name="revision-text-115"/>
          <p:cNvSpPr txBox="1"/>
          <p:nvPr/>
        </p:nvSpPr>
        <p:spPr>
          <a:xfrm>
            <a:off x="838200" y="4262435"/>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GhostTrace + witness recovery</a:t>
            </a:r>
          </a:p>
        </p:txBody>
      </p:sp>
      <p:sp>
        <p:nvSpPr>
          <p:cNvPr id="548" name="revision-text-116"/>
          <p:cNvSpPr txBox="1"/>
          <p:nvPr/>
        </p:nvSpPr>
        <p:spPr>
          <a:xfrm>
            <a:off x="3438525" y="4281485"/>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Shreya</a:t>
            </a:r>
          </a:p>
        </p:txBody>
      </p:sp>
      <p:sp>
        <p:nvSpPr>
          <p:cNvPr id="549" name="revision-shape-117"/>
          <p:cNvSpPr/>
          <p:nvPr/>
        </p:nvSpPr>
        <p:spPr>
          <a:xfrm>
            <a:off x="7063740" y="4286250"/>
            <a:ext cx="1360173" cy="142875"/>
          </a:xfrm>
          <a:prstGeom prst="roundRect">
            <a:avLst>
              <a:gd name="adj" fmla="val 50000"/>
            </a:avLst>
          </a:prstGeom>
          <a:solidFill>
            <a:srgbClr val="9165CF"/>
          </a:solidFill>
          <a:ln w="12700">
            <a:miter lim="400000"/>
          </a:ln>
        </p:spPr>
        <p:txBody>
          <a:bodyPr lIns="0" tIns="0" rIns="0" bIns="0"/>
          <a:lstStyle/>
          <a:p>
            <a:pPr>
              <a:defRPr>
                <a:latin typeface="Calibri"/>
                <a:ea typeface="Calibri"/>
                <a:cs typeface="Calibri"/>
                <a:sym typeface="Calibri"/>
              </a:defRPr>
            </a:pPr>
          </a:p>
        </p:txBody>
      </p:sp>
      <p:sp>
        <p:nvSpPr>
          <p:cNvPr id="550" name="revision-shape-118"/>
          <p:cNvSpPr/>
          <p:nvPr/>
        </p:nvSpPr>
        <p:spPr>
          <a:xfrm>
            <a:off x="762000" y="4467225"/>
            <a:ext cx="10525125" cy="219075"/>
          </a:xfrm>
          <a:prstGeom prst="rect">
            <a:avLst/>
          </a:prstGeom>
          <a:solidFill>
            <a:srgbClr val="F8FAFD"/>
          </a:solidFill>
          <a:ln w="5715">
            <a:solidFill>
              <a:srgbClr val="D8E1ED"/>
            </a:solidFill>
          </a:ln>
        </p:spPr>
        <p:txBody>
          <a:bodyPr lIns="0" tIns="0" rIns="0" bIns="0"/>
          <a:lstStyle/>
          <a:p>
            <a:pPr>
              <a:defRPr>
                <a:latin typeface="Calibri"/>
                <a:ea typeface="Calibri"/>
                <a:cs typeface="Calibri"/>
                <a:sym typeface="Calibri"/>
              </a:defRPr>
            </a:pPr>
          </a:p>
        </p:txBody>
      </p:sp>
      <p:sp>
        <p:nvSpPr>
          <p:cNvPr id="551" name="revision-text-119"/>
          <p:cNvSpPr txBox="1"/>
          <p:nvPr/>
        </p:nvSpPr>
        <p:spPr>
          <a:xfrm>
            <a:off x="838200" y="4481510"/>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Agentic AI + SOC</a:t>
            </a:r>
          </a:p>
        </p:txBody>
      </p:sp>
      <p:sp>
        <p:nvSpPr>
          <p:cNvPr id="552" name="revision-text-120"/>
          <p:cNvSpPr txBox="1"/>
          <p:nvPr/>
        </p:nvSpPr>
        <p:spPr>
          <a:xfrm>
            <a:off x="3438525" y="4500560"/>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Amruta</a:t>
            </a:r>
          </a:p>
        </p:txBody>
      </p:sp>
      <p:sp>
        <p:nvSpPr>
          <p:cNvPr id="553" name="revision-shape-121"/>
          <p:cNvSpPr/>
          <p:nvPr/>
        </p:nvSpPr>
        <p:spPr>
          <a:xfrm>
            <a:off x="7063740" y="4505325"/>
            <a:ext cx="1360173" cy="142875"/>
          </a:xfrm>
          <a:prstGeom prst="roundRect">
            <a:avLst>
              <a:gd name="adj" fmla="val 50000"/>
            </a:avLst>
          </a:prstGeom>
          <a:solidFill>
            <a:srgbClr val="9165CF"/>
          </a:solidFill>
          <a:ln w="12700">
            <a:miter lim="400000"/>
          </a:ln>
        </p:spPr>
        <p:txBody>
          <a:bodyPr lIns="0" tIns="0" rIns="0" bIns="0"/>
          <a:lstStyle/>
          <a:p>
            <a:pPr>
              <a:defRPr>
                <a:latin typeface="Calibri"/>
                <a:ea typeface="Calibri"/>
                <a:cs typeface="Calibri"/>
                <a:sym typeface="Calibri"/>
              </a:defRPr>
            </a:pPr>
          </a:p>
        </p:txBody>
      </p:sp>
      <p:sp>
        <p:nvSpPr>
          <p:cNvPr id="554" name="revision-shape-122"/>
          <p:cNvSpPr/>
          <p:nvPr/>
        </p:nvSpPr>
        <p:spPr>
          <a:xfrm>
            <a:off x="762000" y="4686300"/>
            <a:ext cx="10525125" cy="219075"/>
          </a:xfrm>
          <a:prstGeom prst="rect">
            <a:avLst/>
          </a:prstGeom>
          <a:solidFill>
            <a:srgbClr val="FFFFFF"/>
          </a:solidFill>
          <a:ln w="5715">
            <a:solidFill>
              <a:srgbClr val="D8E1ED"/>
            </a:solidFill>
          </a:ln>
        </p:spPr>
        <p:txBody>
          <a:bodyPr lIns="0" tIns="0" rIns="0" bIns="0"/>
          <a:lstStyle/>
          <a:p>
            <a:pPr>
              <a:defRPr>
                <a:latin typeface="Calibri"/>
                <a:ea typeface="Calibri"/>
                <a:cs typeface="Calibri"/>
                <a:sym typeface="Calibri"/>
              </a:defRPr>
            </a:pPr>
          </a:p>
        </p:txBody>
      </p:sp>
      <p:sp>
        <p:nvSpPr>
          <p:cNvPr id="555" name="revision-text-123"/>
          <p:cNvSpPr txBox="1"/>
          <p:nvPr/>
        </p:nvSpPr>
        <p:spPr>
          <a:xfrm>
            <a:off x="838200" y="4700585"/>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Integrated bench + pilot</a:t>
            </a:r>
          </a:p>
        </p:txBody>
      </p:sp>
      <p:sp>
        <p:nvSpPr>
          <p:cNvPr id="556" name="revision-text-124"/>
          <p:cNvSpPr txBox="1"/>
          <p:nvPr/>
        </p:nvSpPr>
        <p:spPr>
          <a:xfrm>
            <a:off x="3438525" y="4719635"/>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Amruta</a:t>
            </a:r>
          </a:p>
        </p:txBody>
      </p:sp>
      <p:sp>
        <p:nvSpPr>
          <p:cNvPr id="557" name="revision-shape-125"/>
          <p:cNvSpPr/>
          <p:nvPr/>
        </p:nvSpPr>
        <p:spPr>
          <a:xfrm>
            <a:off x="8008618" y="4724400"/>
            <a:ext cx="887733" cy="142875"/>
          </a:xfrm>
          <a:prstGeom prst="roundRect">
            <a:avLst>
              <a:gd name="adj" fmla="val 50000"/>
            </a:avLst>
          </a:prstGeom>
          <a:solidFill>
            <a:srgbClr val="9165CF"/>
          </a:solidFill>
          <a:ln w="12700">
            <a:miter lim="400000"/>
          </a:ln>
        </p:spPr>
        <p:txBody>
          <a:bodyPr lIns="0" tIns="0" rIns="0" bIns="0"/>
          <a:lstStyle/>
          <a:p>
            <a:pPr>
              <a:defRPr>
                <a:latin typeface="Calibri"/>
                <a:ea typeface="Calibri"/>
                <a:cs typeface="Calibri"/>
                <a:sym typeface="Calibri"/>
              </a:defRPr>
            </a:pPr>
          </a:p>
        </p:txBody>
      </p:sp>
      <p:sp>
        <p:nvSpPr>
          <p:cNvPr id="558" name="revision-shape-126"/>
          <p:cNvSpPr/>
          <p:nvPr/>
        </p:nvSpPr>
        <p:spPr>
          <a:xfrm>
            <a:off x="762000" y="4905375"/>
            <a:ext cx="10525125" cy="219075"/>
          </a:xfrm>
          <a:prstGeom prst="rect">
            <a:avLst/>
          </a:prstGeom>
          <a:solidFill>
            <a:srgbClr val="F8FAFD"/>
          </a:solidFill>
          <a:ln w="5715">
            <a:solidFill>
              <a:srgbClr val="D8E1ED"/>
            </a:solidFill>
          </a:ln>
        </p:spPr>
        <p:txBody>
          <a:bodyPr lIns="0" tIns="0" rIns="0" bIns="0"/>
          <a:lstStyle/>
          <a:p>
            <a:pPr>
              <a:defRPr>
                <a:latin typeface="Calibri"/>
                <a:ea typeface="Calibri"/>
                <a:cs typeface="Calibri"/>
                <a:sym typeface="Calibri"/>
              </a:defRPr>
            </a:pPr>
          </a:p>
        </p:txBody>
      </p:sp>
      <p:sp>
        <p:nvSpPr>
          <p:cNvPr id="559" name="revision-text-127"/>
          <p:cNvSpPr txBox="1"/>
          <p:nvPr/>
        </p:nvSpPr>
        <p:spPr>
          <a:xfrm>
            <a:off x="838200" y="4919660"/>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Cause / tamper datasets</a:t>
            </a:r>
          </a:p>
        </p:txBody>
      </p:sp>
      <p:sp>
        <p:nvSpPr>
          <p:cNvPr id="560" name="revision-text-128"/>
          <p:cNvSpPr txBox="1"/>
          <p:nvPr/>
        </p:nvSpPr>
        <p:spPr>
          <a:xfrm>
            <a:off x="3438525" y="4938710"/>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All</a:t>
            </a:r>
          </a:p>
        </p:txBody>
      </p:sp>
      <p:sp>
        <p:nvSpPr>
          <p:cNvPr id="561" name="revision-shape-129"/>
          <p:cNvSpPr/>
          <p:nvPr/>
        </p:nvSpPr>
        <p:spPr>
          <a:xfrm>
            <a:off x="8008618" y="4943475"/>
            <a:ext cx="887733" cy="142875"/>
          </a:xfrm>
          <a:prstGeom prst="roundRect">
            <a:avLst>
              <a:gd name="adj" fmla="val 50000"/>
            </a:avLst>
          </a:prstGeom>
          <a:solidFill>
            <a:srgbClr val="1DA5AC"/>
          </a:solidFill>
          <a:ln w="12700">
            <a:miter lim="400000"/>
          </a:ln>
        </p:spPr>
        <p:txBody>
          <a:bodyPr lIns="0" tIns="0" rIns="0" bIns="0"/>
          <a:lstStyle/>
          <a:p>
            <a:pPr>
              <a:defRPr>
                <a:latin typeface="Calibri"/>
                <a:ea typeface="Calibri"/>
                <a:cs typeface="Calibri"/>
                <a:sym typeface="Calibri"/>
              </a:defRPr>
            </a:pPr>
          </a:p>
        </p:txBody>
      </p:sp>
      <p:sp>
        <p:nvSpPr>
          <p:cNvPr id="562" name="revision-shape-130"/>
          <p:cNvSpPr/>
          <p:nvPr/>
        </p:nvSpPr>
        <p:spPr>
          <a:xfrm>
            <a:off x="8953500" y="4943475"/>
            <a:ext cx="887731" cy="142875"/>
          </a:xfrm>
          <a:prstGeom prst="roundRect">
            <a:avLst>
              <a:gd name="adj" fmla="val 50000"/>
            </a:avLst>
          </a:prstGeom>
          <a:solidFill>
            <a:srgbClr val="1DA5AC"/>
          </a:solidFill>
          <a:ln w="12700">
            <a:miter lim="400000"/>
          </a:ln>
        </p:spPr>
        <p:txBody>
          <a:bodyPr lIns="0" tIns="0" rIns="0" bIns="0"/>
          <a:lstStyle/>
          <a:p>
            <a:pPr>
              <a:defRPr>
                <a:latin typeface="Calibri"/>
                <a:ea typeface="Calibri"/>
                <a:cs typeface="Calibri"/>
                <a:sym typeface="Calibri"/>
              </a:defRPr>
            </a:pPr>
          </a:p>
        </p:txBody>
      </p:sp>
      <p:sp>
        <p:nvSpPr>
          <p:cNvPr id="563" name="revision-shape-131"/>
          <p:cNvSpPr/>
          <p:nvPr/>
        </p:nvSpPr>
        <p:spPr>
          <a:xfrm>
            <a:off x="762000" y="5124450"/>
            <a:ext cx="10525125" cy="219075"/>
          </a:xfrm>
          <a:prstGeom prst="rect">
            <a:avLst/>
          </a:prstGeom>
          <a:solidFill>
            <a:srgbClr val="FFFFFF"/>
          </a:solidFill>
          <a:ln w="5715">
            <a:solidFill>
              <a:srgbClr val="D8E1ED"/>
            </a:solidFill>
          </a:ln>
        </p:spPr>
        <p:txBody>
          <a:bodyPr lIns="0" tIns="0" rIns="0" bIns="0"/>
          <a:lstStyle/>
          <a:p>
            <a:pPr>
              <a:defRPr>
                <a:latin typeface="Calibri"/>
                <a:ea typeface="Calibri"/>
                <a:cs typeface="Calibri"/>
                <a:sym typeface="Calibri"/>
              </a:defRPr>
            </a:pPr>
          </a:p>
        </p:txBody>
      </p:sp>
      <p:sp>
        <p:nvSpPr>
          <p:cNvPr id="564" name="revision-text-132"/>
          <p:cNvSpPr txBox="1"/>
          <p:nvPr/>
        </p:nvSpPr>
        <p:spPr>
          <a:xfrm>
            <a:off x="838200" y="5138735"/>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Ablations + resilience tests</a:t>
            </a:r>
          </a:p>
        </p:txBody>
      </p:sp>
      <p:sp>
        <p:nvSpPr>
          <p:cNvPr id="565" name="revision-text-133"/>
          <p:cNvSpPr txBox="1"/>
          <p:nvPr/>
        </p:nvSpPr>
        <p:spPr>
          <a:xfrm>
            <a:off x="3438525" y="5157785"/>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All</a:t>
            </a:r>
          </a:p>
        </p:txBody>
      </p:sp>
      <p:sp>
        <p:nvSpPr>
          <p:cNvPr id="566" name="revision-shape-134"/>
          <p:cNvSpPr/>
          <p:nvPr/>
        </p:nvSpPr>
        <p:spPr>
          <a:xfrm>
            <a:off x="8953500" y="5162550"/>
            <a:ext cx="1360170" cy="142875"/>
          </a:xfrm>
          <a:prstGeom prst="roundRect">
            <a:avLst>
              <a:gd name="adj" fmla="val 50000"/>
            </a:avLst>
          </a:prstGeom>
          <a:solidFill>
            <a:srgbClr val="CF8737"/>
          </a:solidFill>
          <a:ln w="12700">
            <a:miter lim="400000"/>
          </a:ln>
        </p:spPr>
        <p:txBody>
          <a:bodyPr lIns="0" tIns="0" rIns="0" bIns="0"/>
          <a:lstStyle/>
          <a:p>
            <a:pPr>
              <a:defRPr>
                <a:latin typeface="Calibri"/>
                <a:ea typeface="Calibri"/>
                <a:cs typeface="Calibri"/>
                <a:sym typeface="Calibri"/>
              </a:defRPr>
            </a:pPr>
          </a:p>
        </p:txBody>
      </p:sp>
      <p:sp>
        <p:nvSpPr>
          <p:cNvPr id="567" name="revision-shape-135"/>
          <p:cNvSpPr/>
          <p:nvPr/>
        </p:nvSpPr>
        <p:spPr>
          <a:xfrm>
            <a:off x="762000" y="5343525"/>
            <a:ext cx="10525125" cy="219075"/>
          </a:xfrm>
          <a:prstGeom prst="rect">
            <a:avLst/>
          </a:prstGeom>
          <a:solidFill>
            <a:srgbClr val="F8FAFD"/>
          </a:solidFill>
          <a:ln w="5715">
            <a:solidFill>
              <a:srgbClr val="D8E1ED"/>
            </a:solidFill>
          </a:ln>
        </p:spPr>
        <p:txBody>
          <a:bodyPr lIns="0" tIns="0" rIns="0" bIns="0"/>
          <a:lstStyle/>
          <a:p>
            <a:pPr>
              <a:defRPr>
                <a:latin typeface="Calibri"/>
                <a:ea typeface="Calibri"/>
                <a:cs typeface="Calibri"/>
                <a:sym typeface="Calibri"/>
              </a:defRPr>
            </a:pPr>
          </a:p>
        </p:txBody>
      </p:sp>
      <p:sp>
        <p:nvSpPr>
          <p:cNvPr id="568" name="revision-text-136"/>
          <p:cNvSpPr txBox="1"/>
          <p:nvPr/>
        </p:nvSpPr>
        <p:spPr>
          <a:xfrm>
            <a:off x="838200" y="5357810"/>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ESP32 profiling + AI evaluation</a:t>
            </a:r>
          </a:p>
        </p:txBody>
      </p:sp>
      <p:sp>
        <p:nvSpPr>
          <p:cNvPr id="569" name="revision-text-137"/>
          <p:cNvSpPr txBox="1"/>
          <p:nvPr/>
        </p:nvSpPr>
        <p:spPr>
          <a:xfrm>
            <a:off x="3438525" y="5376860"/>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All</a:t>
            </a:r>
          </a:p>
        </p:txBody>
      </p:sp>
      <p:sp>
        <p:nvSpPr>
          <p:cNvPr id="570" name="revision-shape-138"/>
          <p:cNvSpPr/>
          <p:nvPr/>
        </p:nvSpPr>
        <p:spPr>
          <a:xfrm>
            <a:off x="9425940" y="5381625"/>
            <a:ext cx="1360173" cy="142875"/>
          </a:xfrm>
          <a:prstGeom prst="roundRect">
            <a:avLst>
              <a:gd name="adj" fmla="val 50000"/>
            </a:avLst>
          </a:prstGeom>
          <a:solidFill>
            <a:srgbClr val="CF8737"/>
          </a:solidFill>
          <a:ln w="12700">
            <a:miter lim="400000"/>
          </a:ln>
        </p:spPr>
        <p:txBody>
          <a:bodyPr lIns="0" tIns="0" rIns="0" bIns="0"/>
          <a:lstStyle/>
          <a:p>
            <a:pPr>
              <a:defRPr>
                <a:latin typeface="Calibri"/>
                <a:ea typeface="Calibri"/>
                <a:cs typeface="Calibri"/>
                <a:sym typeface="Calibri"/>
              </a:defRPr>
            </a:pPr>
          </a:p>
        </p:txBody>
      </p:sp>
      <p:sp>
        <p:nvSpPr>
          <p:cNvPr id="571" name="revision-shape-139"/>
          <p:cNvSpPr/>
          <p:nvPr/>
        </p:nvSpPr>
        <p:spPr>
          <a:xfrm>
            <a:off x="762000" y="5562600"/>
            <a:ext cx="10525125" cy="219075"/>
          </a:xfrm>
          <a:prstGeom prst="rect">
            <a:avLst/>
          </a:prstGeom>
          <a:solidFill>
            <a:srgbClr val="FFFFFF"/>
          </a:solidFill>
          <a:ln w="5715">
            <a:solidFill>
              <a:srgbClr val="D8E1ED"/>
            </a:solidFill>
          </a:ln>
        </p:spPr>
        <p:txBody>
          <a:bodyPr lIns="0" tIns="0" rIns="0" bIns="0"/>
          <a:lstStyle/>
          <a:p>
            <a:pPr>
              <a:defRPr>
                <a:latin typeface="Calibri"/>
                <a:ea typeface="Calibri"/>
                <a:cs typeface="Calibri"/>
                <a:sym typeface="Calibri"/>
              </a:defRPr>
            </a:pPr>
          </a:p>
        </p:txBody>
      </p:sp>
      <p:sp>
        <p:nvSpPr>
          <p:cNvPr id="572" name="revision-text-140"/>
          <p:cNvSpPr txBox="1"/>
          <p:nvPr/>
        </p:nvSpPr>
        <p:spPr>
          <a:xfrm>
            <a:off x="838200" y="5576885"/>
            <a:ext cx="2562225"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0345A"/>
                </a:solidFill>
                <a:latin typeface="Trebuchet MS"/>
                <a:ea typeface="Trebuchet MS"/>
                <a:cs typeface="Trebuchet MS"/>
                <a:sym typeface="Trebuchet MS"/>
              </a:defRPr>
            </a:lvl1pPr>
          </a:lstStyle>
          <a:p>
            <a:pPr/>
            <a:r>
              <a:t>Paper + final demonstration</a:t>
            </a:r>
          </a:p>
        </p:txBody>
      </p:sp>
      <p:sp>
        <p:nvSpPr>
          <p:cNvPr id="573" name="revision-text-141"/>
          <p:cNvSpPr txBox="1"/>
          <p:nvPr/>
        </p:nvSpPr>
        <p:spPr>
          <a:xfrm>
            <a:off x="3438525" y="5595935"/>
            <a:ext cx="76200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53627A"/>
                </a:solidFill>
                <a:latin typeface="Trebuchet MS"/>
                <a:ea typeface="Trebuchet MS"/>
                <a:cs typeface="Trebuchet MS"/>
                <a:sym typeface="Trebuchet MS"/>
              </a:defRPr>
            </a:lvl1pPr>
          </a:lstStyle>
          <a:p>
            <a:pPr/>
            <a:r>
              <a:t>All</a:t>
            </a:r>
          </a:p>
        </p:txBody>
      </p:sp>
      <p:sp>
        <p:nvSpPr>
          <p:cNvPr id="574" name="revision-shape-142"/>
          <p:cNvSpPr/>
          <p:nvPr/>
        </p:nvSpPr>
        <p:spPr>
          <a:xfrm>
            <a:off x="9898380" y="5600700"/>
            <a:ext cx="1360173" cy="142875"/>
          </a:xfrm>
          <a:prstGeom prst="roundRect">
            <a:avLst>
              <a:gd name="adj" fmla="val 50000"/>
            </a:avLst>
          </a:prstGeom>
          <a:solidFill>
            <a:srgbClr val="CF8737"/>
          </a:solidFill>
          <a:ln w="12700">
            <a:miter lim="400000"/>
          </a:ln>
        </p:spPr>
        <p:txBody>
          <a:bodyPr lIns="0" tIns="0" rIns="0" bIns="0"/>
          <a:lstStyle/>
          <a:p>
            <a:pPr>
              <a:defRPr>
                <a:latin typeface="Calibri"/>
                <a:ea typeface="Calibri"/>
                <a:cs typeface="Calibri"/>
                <a:sym typeface="Calibri"/>
              </a:defRPr>
            </a:pPr>
          </a:p>
        </p:txBody>
      </p:sp>
      <p:sp>
        <p:nvSpPr>
          <p:cNvPr id="575" name="revision-shape-143"/>
          <p:cNvSpPr/>
          <p:nvPr/>
        </p:nvSpPr>
        <p:spPr>
          <a:xfrm>
            <a:off x="4197508"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76" name="revision-shape-144"/>
          <p:cNvSpPr/>
          <p:nvPr/>
        </p:nvSpPr>
        <p:spPr>
          <a:xfrm>
            <a:off x="4669949"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77" name="revision-shape-145"/>
          <p:cNvSpPr/>
          <p:nvPr/>
        </p:nvSpPr>
        <p:spPr>
          <a:xfrm>
            <a:off x="5142388"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78" name="revision-shape-146"/>
          <p:cNvSpPr/>
          <p:nvPr/>
        </p:nvSpPr>
        <p:spPr>
          <a:xfrm>
            <a:off x="5614827"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79" name="revision-shape-147"/>
          <p:cNvSpPr/>
          <p:nvPr/>
        </p:nvSpPr>
        <p:spPr>
          <a:xfrm>
            <a:off x="6087266"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80" name="revision-shape-148"/>
          <p:cNvSpPr/>
          <p:nvPr/>
        </p:nvSpPr>
        <p:spPr>
          <a:xfrm>
            <a:off x="6559708"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81" name="revision-shape-149"/>
          <p:cNvSpPr/>
          <p:nvPr/>
        </p:nvSpPr>
        <p:spPr>
          <a:xfrm>
            <a:off x="7032149"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82" name="revision-shape-150"/>
          <p:cNvSpPr/>
          <p:nvPr/>
        </p:nvSpPr>
        <p:spPr>
          <a:xfrm>
            <a:off x="7504589"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83" name="revision-shape-151"/>
          <p:cNvSpPr/>
          <p:nvPr/>
        </p:nvSpPr>
        <p:spPr>
          <a:xfrm>
            <a:off x="7977027"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84" name="revision-shape-152"/>
          <p:cNvSpPr/>
          <p:nvPr/>
        </p:nvSpPr>
        <p:spPr>
          <a:xfrm>
            <a:off x="8449467"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85" name="revision-shape-153"/>
          <p:cNvSpPr/>
          <p:nvPr/>
        </p:nvSpPr>
        <p:spPr>
          <a:xfrm>
            <a:off x="8921908"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86" name="revision-shape-154"/>
          <p:cNvSpPr/>
          <p:nvPr/>
        </p:nvSpPr>
        <p:spPr>
          <a:xfrm>
            <a:off x="9394349"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87" name="revision-shape-155"/>
          <p:cNvSpPr/>
          <p:nvPr/>
        </p:nvSpPr>
        <p:spPr>
          <a:xfrm>
            <a:off x="9866789"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88" name="revision-shape-156"/>
          <p:cNvSpPr/>
          <p:nvPr/>
        </p:nvSpPr>
        <p:spPr>
          <a:xfrm>
            <a:off x="10339227"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89" name="revision-shape-157"/>
          <p:cNvSpPr/>
          <p:nvPr/>
        </p:nvSpPr>
        <p:spPr>
          <a:xfrm>
            <a:off x="10811667"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90" name="revision-shape-158"/>
          <p:cNvSpPr/>
          <p:nvPr/>
        </p:nvSpPr>
        <p:spPr>
          <a:xfrm>
            <a:off x="11284108" y="2933700"/>
            <a:ext cx="12703" cy="2847975"/>
          </a:xfrm>
          <a:prstGeom prst="rect">
            <a:avLst/>
          </a:prstGeom>
          <a:solidFill>
            <a:srgbClr val="DCE4EF"/>
          </a:solidFill>
          <a:ln w="12700">
            <a:miter lim="400000"/>
          </a:ln>
        </p:spPr>
        <p:txBody>
          <a:bodyPr lIns="0" tIns="0" rIns="0" bIns="0"/>
          <a:lstStyle/>
          <a:p>
            <a:pPr>
              <a:defRPr>
                <a:latin typeface="Calibri"/>
                <a:ea typeface="Calibri"/>
                <a:cs typeface="Calibri"/>
                <a:sym typeface="Calibri"/>
              </a:defRPr>
            </a:pPr>
          </a:p>
        </p:txBody>
      </p:sp>
      <p:sp>
        <p:nvSpPr>
          <p:cNvPr id="591" name="revision-shape-159"/>
          <p:cNvSpPr/>
          <p:nvPr/>
        </p:nvSpPr>
        <p:spPr>
          <a:xfrm>
            <a:off x="3435508" y="2667000"/>
            <a:ext cx="12703" cy="3114675"/>
          </a:xfrm>
          <a:prstGeom prst="rect">
            <a:avLst/>
          </a:prstGeom>
          <a:solidFill>
            <a:srgbClr val="D8E1ED"/>
          </a:solidFill>
          <a:ln w="12700">
            <a:miter lim="400000"/>
          </a:ln>
        </p:spPr>
        <p:txBody>
          <a:bodyPr lIns="0" tIns="0" rIns="0" bIns="0"/>
          <a:lstStyle/>
          <a:p>
            <a:pPr>
              <a:defRPr>
                <a:latin typeface="Calibri"/>
                <a:ea typeface="Calibri"/>
                <a:cs typeface="Calibri"/>
                <a:sym typeface="Calibri"/>
              </a:defRPr>
            </a:pPr>
          </a:p>
        </p:txBody>
      </p:sp>
      <p:sp>
        <p:nvSpPr>
          <p:cNvPr id="592" name="revision-shape-160"/>
          <p:cNvSpPr/>
          <p:nvPr/>
        </p:nvSpPr>
        <p:spPr>
          <a:xfrm>
            <a:off x="6562725" y="2276475"/>
            <a:ext cx="16193" cy="3505200"/>
          </a:xfrm>
          <a:prstGeom prst="rect">
            <a:avLst/>
          </a:prstGeom>
          <a:solidFill>
            <a:srgbClr val="B6C6D9"/>
          </a:solidFill>
          <a:ln w="12700">
            <a:miter lim="400000"/>
          </a:ln>
        </p:spPr>
        <p:txBody>
          <a:bodyPr lIns="0" tIns="0" rIns="0" bIns="0"/>
          <a:lstStyle/>
          <a:p>
            <a:pPr>
              <a:defRPr>
                <a:latin typeface="Calibri"/>
                <a:ea typeface="Calibri"/>
                <a:cs typeface="Calibri"/>
                <a:sym typeface="Calibri"/>
              </a:defRPr>
            </a:pPr>
          </a:p>
        </p:txBody>
      </p:sp>
      <p:sp>
        <p:nvSpPr>
          <p:cNvPr id="593" name="revision-shape-161"/>
          <p:cNvSpPr/>
          <p:nvPr/>
        </p:nvSpPr>
        <p:spPr>
          <a:xfrm>
            <a:off x="8924925" y="2276475"/>
            <a:ext cx="16193" cy="3505200"/>
          </a:xfrm>
          <a:prstGeom prst="rect">
            <a:avLst/>
          </a:prstGeom>
          <a:solidFill>
            <a:srgbClr val="B6C6D9"/>
          </a:solidFill>
          <a:ln w="12700">
            <a:miter lim="400000"/>
          </a:ln>
        </p:spPr>
        <p:txBody>
          <a:bodyPr lIns="0" tIns="0" rIns="0" bIns="0"/>
          <a:lstStyle/>
          <a:p>
            <a:pPr>
              <a:defRPr>
                <a:latin typeface="Calibri"/>
                <a:ea typeface="Calibri"/>
                <a:cs typeface="Calibri"/>
                <a:sym typeface="Calibri"/>
              </a:defRPr>
            </a:pPr>
          </a:p>
        </p:txBody>
      </p:sp>
      <p:sp>
        <p:nvSpPr>
          <p:cNvPr id="594" name="revision-shape-162"/>
          <p:cNvSpPr/>
          <p:nvPr/>
        </p:nvSpPr>
        <p:spPr>
          <a:xfrm>
            <a:off x="762000" y="5886450"/>
            <a:ext cx="47625" cy="257175"/>
          </a:xfrm>
          <a:prstGeom prst="rect">
            <a:avLst/>
          </a:prstGeom>
          <a:solidFill>
            <a:srgbClr val="287CC1"/>
          </a:solidFill>
          <a:ln w="12700">
            <a:miter lim="400000"/>
          </a:ln>
        </p:spPr>
        <p:txBody>
          <a:bodyPr lIns="0" tIns="0" rIns="0" bIns="0"/>
          <a:lstStyle/>
          <a:p>
            <a:pPr>
              <a:defRPr>
                <a:latin typeface="Calibri"/>
                <a:ea typeface="Calibri"/>
                <a:cs typeface="Calibri"/>
                <a:sym typeface="Calibri"/>
              </a:defRPr>
            </a:pPr>
          </a:p>
        </p:txBody>
      </p:sp>
      <p:sp>
        <p:nvSpPr>
          <p:cNvPr id="595" name="revision-text-163"/>
          <p:cNvSpPr txBox="1"/>
          <p:nvPr/>
        </p:nvSpPr>
        <p:spPr>
          <a:xfrm>
            <a:off x="885825" y="5902322"/>
            <a:ext cx="3400425"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287CC1"/>
                </a:solidFill>
                <a:latin typeface="Trebuchet MS"/>
                <a:ea typeface="Trebuchet MS"/>
                <a:cs typeface="Trebuchet MS"/>
                <a:sym typeface="Trebuchet MS"/>
              </a:defRPr>
            </a:lvl1pPr>
          </a:lstStyle>
          <a:p>
            <a:pPr/>
            <a:r>
              <a:t>I: Baseline + data protocol</a:t>
            </a:r>
          </a:p>
        </p:txBody>
      </p:sp>
      <p:sp>
        <p:nvSpPr>
          <p:cNvPr id="596" name="revision-shape-164"/>
          <p:cNvSpPr/>
          <p:nvPr/>
        </p:nvSpPr>
        <p:spPr>
          <a:xfrm>
            <a:off x="4352925" y="5886450"/>
            <a:ext cx="47625" cy="257175"/>
          </a:xfrm>
          <a:prstGeom prst="rect">
            <a:avLst/>
          </a:prstGeom>
          <a:solidFill>
            <a:srgbClr val="008B91"/>
          </a:solidFill>
          <a:ln w="12700">
            <a:miter lim="400000"/>
          </a:ln>
        </p:spPr>
        <p:txBody>
          <a:bodyPr lIns="0" tIns="0" rIns="0" bIns="0"/>
          <a:lstStyle/>
          <a:p>
            <a:pPr>
              <a:defRPr>
                <a:latin typeface="Calibri"/>
                <a:ea typeface="Calibri"/>
                <a:cs typeface="Calibri"/>
                <a:sym typeface="Calibri"/>
              </a:defRPr>
            </a:pPr>
          </a:p>
        </p:txBody>
      </p:sp>
      <p:sp>
        <p:nvSpPr>
          <p:cNvPr id="597" name="revision-text-165"/>
          <p:cNvSpPr txBox="1"/>
          <p:nvPr/>
        </p:nvSpPr>
        <p:spPr>
          <a:xfrm>
            <a:off x="4476750" y="5902322"/>
            <a:ext cx="3400425"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008B91"/>
                </a:solidFill>
                <a:latin typeface="Trebuchet MS"/>
                <a:ea typeface="Trebuchet MS"/>
                <a:cs typeface="Trebuchet MS"/>
                <a:sym typeface="Trebuchet MS"/>
              </a:defRPr>
            </a:lvl1pPr>
          </a:lstStyle>
          <a:p>
            <a:pPr/>
            <a:r>
              <a:t>II: Integrated prototype</a:t>
            </a:r>
          </a:p>
        </p:txBody>
      </p:sp>
      <p:sp>
        <p:nvSpPr>
          <p:cNvPr id="598" name="revision-shape-166"/>
          <p:cNvSpPr/>
          <p:nvPr/>
        </p:nvSpPr>
        <p:spPr>
          <a:xfrm>
            <a:off x="7943850" y="5886450"/>
            <a:ext cx="47625" cy="257175"/>
          </a:xfrm>
          <a:prstGeom prst="rect">
            <a:avLst/>
          </a:prstGeom>
          <a:solidFill>
            <a:srgbClr val="7850B7"/>
          </a:solidFill>
          <a:ln w="12700">
            <a:miter lim="400000"/>
          </a:ln>
        </p:spPr>
        <p:txBody>
          <a:bodyPr lIns="0" tIns="0" rIns="0" bIns="0"/>
          <a:lstStyle/>
          <a:p>
            <a:pPr>
              <a:defRPr>
                <a:latin typeface="Calibri"/>
                <a:ea typeface="Calibri"/>
                <a:cs typeface="Calibri"/>
                <a:sym typeface="Calibri"/>
              </a:defRPr>
            </a:pPr>
          </a:p>
        </p:txBody>
      </p:sp>
      <p:sp>
        <p:nvSpPr>
          <p:cNvPr id="599" name="revision-text-167"/>
          <p:cNvSpPr txBox="1"/>
          <p:nvPr/>
        </p:nvSpPr>
        <p:spPr>
          <a:xfrm>
            <a:off x="8067675" y="5902322"/>
            <a:ext cx="3400425"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7850B7"/>
                </a:solidFill>
                <a:latin typeface="Trebuchet MS"/>
                <a:ea typeface="Trebuchet MS"/>
                <a:cs typeface="Trebuchet MS"/>
                <a:sym typeface="Trebuchet MS"/>
              </a:defRPr>
            </a:lvl1pPr>
          </a:lstStyle>
          <a:p>
            <a:pPr/>
            <a:r>
              <a:t>III: Evaluation + paper</a:t>
            </a:r>
          </a:p>
        </p:txBody>
      </p:sp>
      <p:sp>
        <p:nvSpPr>
          <p:cNvPr id="600" name="revision-shape-168"/>
          <p:cNvSpPr/>
          <p:nvPr/>
        </p:nvSpPr>
        <p:spPr>
          <a:xfrm>
            <a:off x="762000" y="6219825"/>
            <a:ext cx="180975" cy="114300"/>
          </a:xfrm>
          <a:prstGeom prst="rect">
            <a:avLst/>
          </a:prstGeom>
          <a:solidFill>
            <a:srgbClr val="368CDF"/>
          </a:solidFill>
          <a:ln w="12700">
            <a:miter lim="400000"/>
          </a:ln>
        </p:spPr>
        <p:txBody>
          <a:bodyPr lIns="0" tIns="0" rIns="0" bIns="0"/>
          <a:lstStyle/>
          <a:p>
            <a:pPr>
              <a:defRPr>
                <a:latin typeface="Calibri"/>
                <a:ea typeface="Calibri"/>
                <a:cs typeface="Calibri"/>
                <a:sym typeface="Calibri"/>
              </a:defRPr>
            </a:pPr>
          </a:p>
        </p:txBody>
      </p:sp>
      <p:sp>
        <p:nvSpPr>
          <p:cNvPr id="601" name="revision-text-169"/>
          <p:cNvSpPr txBox="1"/>
          <p:nvPr/>
        </p:nvSpPr>
        <p:spPr>
          <a:xfrm>
            <a:off x="990600" y="6200138"/>
            <a:ext cx="2047875"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53627A"/>
                </a:solidFill>
                <a:latin typeface="Trebuchet MS"/>
                <a:ea typeface="Trebuchet MS"/>
                <a:cs typeface="Trebuchet MS"/>
                <a:sym typeface="Trebuchet MS"/>
              </a:defRPr>
            </a:lvl1pPr>
          </a:lstStyle>
          <a:p>
            <a:pPr/>
            <a:r>
              <a:t>Research</a:t>
            </a:r>
          </a:p>
        </p:txBody>
      </p:sp>
      <p:sp>
        <p:nvSpPr>
          <p:cNvPr id="602" name="revision-shape-170"/>
          <p:cNvSpPr/>
          <p:nvPr/>
        </p:nvSpPr>
        <p:spPr>
          <a:xfrm>
            <a:off x="3143250" y="6219825"/>
            <a:ext cx="180975" cy="114300"/>
          </a:xfrm>
          <a:prstGeom prst="rect">
            <a:avLst/>
          </a:prstGeom>
          <a:solidFill>
            <a:srgbClr val="1DA5AC"/>
          </a:solidFill>
          <a:ln w="12700">
            <a:miter lim="400000"/>
          </a:ln>
        </p:spPr>
        <p:txBody>
          <a:bodyPr lIns="0" tIns="0" rIns="0" bIns="0"/>
          <a:lstStyle/>
          <a:p>
            <a:pPr>
              <a:defRPr>
                <a:latin typeface="Calibri"/>
                <a:ea typeface="Calibri"/>
                <a:cs typeface="Calibri"/>
                <a:sym typeface="Calibri"/>
              </a:defRPr>
            </a:pPr>
          </a:p>
        </p:txBody>
      </p:sp>
      <p:sp>
        <p:nvSpPr>
          <p:cNvPr id="603" name="revision-text-171"/>
          <p:cNvSpPr txBox="1"/>
          <p:nvPr/>
        </p:nvSpPr>
        <p:spPr>
          <a:xfrm>
            <a:off x="3371850" y="6200138"/>
            <a:ext cx="2047875"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53627A"/>
                </a:solidFill>
                <a:latin typeface="Trebuchet MS"/>
                <a:ea typeface="Trebuchet MS"/>
                <a:cs typeface="Trebuchet MS"/>
                <a:sym typeface="Trebuchet MS"/>
              </a:defRPr>
            </a:lvl1pPr>
          </a:lstStyle>
          <a:p>
            <a:pPr/>
            <a:r>
              <a:t>Data / design</a:t>
            </a:r>
          </a:p>
        </p:txBody>
      </p:sp>
      <p:sp>
        <p:nvSpPr>
          <p:cNvPr id="604" name="revision-shape-172"/>
          <p:cNvSpPr/>
          <p:nvPr/>
        </p:nvSpPr>
        <p:spPr>
          <a:xfrm>
            <a:off x="5524500" y="6219825"/>
            <a:ext cx="180975" cy="114300"/>
          </a:xfrm>
          <a:prstGeom prst="rect">
            <a:avLst/>
          </a:prstGeom>
          <a:solidFill>
            <a:srgbClr val="9165CF"/>
          </a:solidFill>
          <a:ln w="12700">
            <a:miter lim="400000"/>
          </a:ln>
        </p:spPr>
        <p:txBody>
          <a:bodyPr lIns="0" tIns="0" rIns="0" bIns="0"/>
          <a:lstStyle/>
          <a:p>
            <a:pPr>
              <a:defRPr>
                <a:latin typeface="Calibri"/>
                <a:ea typeface="Calibri"/>
                <a:cs typeface="Calibri"/>
                <a:sym typeface="Calibri"/>
              </a:defRPr>
            </a:pPr>
          </a:p>
        </p:txBody>
      </p:sp>
      <p:sp>
        <p:nvSpPr>
          <p:cNvPr id="605" name="revision-text-173"/>
          <p:cNvSpPr txBox="1"/>
          <p:nvPr/>
        </p:nvSpPr>
        <p:spPr>
          <a:xfrm>
            <a:off x="5753100" y="6200138"/>
            <a:ext cx="2047875"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53627A"/>
                </a:solidFill>
                <a:latin typeface="Trebuchet MS"/>
                <a:ea typeface="Trebuchet MS"/>
                <a:cs typeface="Trebuchet MS"/>
                <a:sym typeface="Trebuchet MS"/>
              </a:defRPr>
            </a:lvl1pPr>
          </a:lstStyle>
          <a:p>
            <a:pPr/>
            <a:r>
              <a:t>Build / integration</a:t>
            </a:r>
          </a:p>
        </p:txBody>
      </p:sp>
      <p:sp>
        <p:nvSpPr>
          <p:cNvPr id="606" name="revision-shape-174"/>
          <p:cNvSpPr/>
          <p:nvPr/>
        </p:nvSpPr>
        <p:spPr>
          <a:xfrm>
            <a:off x="7905750" y="6219825"/>
            <a:ext cx="180975" cy="114300"/>
          </a:xfrm>
          <a:prstGeom prst="rect">
            <a:avLst/>
          </a:prstGeom>
          <a:solidFill>
            <a:srgbClr val="CF8737"/>
          </a:solidFill>
          <a:ln w="12700">
            <a:miter lim="400000"/>
          </a:ln>
        </p:spPr>
        <p:txBody>
          <a:bodyPr lIns="0" tIns="0" rIns="0" bIns="0"/>
          <a:lstStyle/>
          <a:p>
            <a:pPr>
              <a:defRPr>
                <a:latin typeface="Calibri"/>
                <a:ea typeface="Calibri"/>
                <a:cs typeface="Calibri"/>
                <a:sym typeface="Calibri"/>
              </a:defRPr>
            </a:pPr>
          </a:p>
        </p:txBody>
      </p:sp>
      <p:sp>
        <p:nvSpPr>
          <p:cNvPr id="607" name="revision-text-175"/>
          <p:cNvSpPr txBox="1"/>
          <p:nvPr/>
        </p:nvSpPr>
        <p:spPr>
          <a:xfrm>
            <a:off x="8143875" y="6200138"/>
            <a:ext cx="2809875"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53627A"/>
                </a:solidFill>
                <a:latin typeface="Trebuchet MS"/>
                <a:ea typeface="Trebuchet MS"/>
                <a:cs typeface="Trebuchet MS"/>
                <a:sym typeface="Trebuchet MS"/>
              </a:defRPr>
            </a:lvl1pPr>
          </a:lstStyle>
          <a:p>
            <a:pPr/>
            <a:r>
              <a:t>Evaluation / release</a:t>
            </a:r>
          </a:p>
        </p:txBody>
      </p:sp>
      <p:sp>
        <p:nvSpPr>
          <p:cNvPr id="608"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20</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2" name="revision-text-68"/>
          <p:cNvSpPr txBox="1"/>
          <p:nvPr/>
        </p:nvSpPr>
        <p:spPr>
          <a:xfrm>
            <a:off x="1524000" y="1123950"/>
            <a:ext cx="914400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References</a:t>
            </a:r>
          </a:p>
        </p:txBody>
      </p:sp>
      <p:sp>
        <p:nvSpPr>
          <p:cNvPr id="613" name="revision-box-69"/>
          <p:cNvSpPr/>
          <p:nvPr/>
        </p:nvSpPr>
        <p:spPr>
          <a:xfrm>
            <a:off x="3048000" y="1581150"/>
            <a:ext cx="7620000" cy="28575"/>
          </a:xfrm>
          <a:prstGeom prst="rect">
            <a:avLst/>
          </a:prstGeom>
          <a:solidFill>
            <a:srgbClr val="33CCCC"/>
          </a:solidFill>
          <a:ln w="12700">
            <a:miter lim="400000"/>
          </a:ln>
        </p:spPr>
        <p:txBody>
          <a:bodyPr lIns="0" tIns="0" rIns="0" bIns="0"/>
          <a:lstStyle/>
          <a:p>
            <a:pPr>
              <a:defRPr>
                <a:latin typeface="Calibri"/>
                <a:ea typeface="Calibri"/>
                <a:cs typeface="Calibri"/>
                <a:sym typeface="Calibri"/>
              </a:defRPr>
            </a:pPr>
          </a:p>
        </p:txBody>
      </p:sp>
      <p:sp>
        <p:nvSpPr>
          <p:cNvPr id="614" name="revision-text-70"/>
          <p:cNvSpPr txBox="1"/>
          <p:nvPr/>
        </p:nvSpPr>
        <p:spPr>
          <a:xfrm>
            <a:off x="1143000" y="1752600"/>
            <a:ext cx="9906000" cy="190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300">
                <a:solidFill>
                  <a:srgbClr val="53627A"/>
                </a:solidFill>
                <a:latin typeface="Trebuchet MS"/>
                <a:ea typeface="Trebuchet MS"/>
                <a:cs typeface="Trebuchet MS"/>
                <a:sym typeface="Trebuchet MS"/>
              </a:defRPr>
            </a:lvl1pPr>
          </a:lstStyle>
          <a:p>
            <a:pPr/>
            <a:r>
              <a:t>References ordered by publication year, newest first; paper titles link to sources</a:t>
            </a:r>
          </a:p>
        </p:txBody>
      </p:sp>
      <p:sp>
        <p:nvSpPr>
          <p:cNvPr id="615" name="revision-text-71"/>
          <p:cNvSpPr txBox="1"/>
          <p:nvPr/>
        </p:nvSpPr>
        <p:spPr>
          <a:xfrm>
            <a:off x="1143000" y="2152650"/>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0345A"/>
                </a:solidFill>
                <a:latin typeface="Trebuchet MS"/>
                <a:ea typeface="Trebuchet MS"/>
                <a:cs typeface="Trebuchet MS"/>
                <a:sym typeface="Trebuchet MS"/>
              </a:defRPr>
            </a:lvl1pPr>
          </a:lstStyle>
          <a:p>
            <a:pPr/>
            <a:r>
              <a:t>[1] Z. Shen et al.</a:t>
            </a:r>
          </a:p>
        </p:txBody>
      </p:sp>
      <p:sp>
        <p:nvSpPr>
          <p:cNvPr id="616" name="reference-title-1"/>
          <p:cNvSpPr txBox="1"/>
          <p:nvPr/>
        </p:nvSpPr>
        <p:spPr>
          <a:xfrm>
            <a:off x="1143000" y="2505075"/>
            <a:ext cx="4667250" cy="647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u="sng">
                <a:solidFill>
                  <a:srgbClr val="0000FF"/>
                </a:solidFill>
                <a:latin typeface="Trebuchet MS"/>
                <a:ea typeface="Trebuchet MS"/>
                <a:cs typeface="Trebuchet MS"/>
                <a:sym typeface="Trebuchet MS"/>
              </a:defRPr>
            </a:pPr>
            <a:r>
              <a:rPr>
                <a:uFill>
                  <a:solidFill>
                    <a:srgbClr val="0000FF"/>
                  </a:solidFill>
                </a:uFill>
                <a:hlinkClick r:id="rId3" invalidUrl="" action="" tgtFrame="" tooltip="" history="1" highlightClick="0" endSnd="0"/>
              </a:rPr>
              <a:t>Securing autonomous vehicles: a dual-domain</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3" invalidUrl="" action="" tgtFrame="" tooltip="" history="1" highlightClick="0" endSnd="0"/>
              </a:rPr>
              <a:t>intrusion detection system for intra-vehicle</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3" invalidUrl="" action="" tgtFrame="" tooltip="" history="1" highlightClick="0" endSnd="0"/>
              </a:rPr>
              <a:t>and external networks</a:t>
            </a:r>
          </a:p>
        </p:txBody>
      </p:sp>
      <p:sp>
        <p:nvSpPr>
          <p:cNvPr id="617" name="revision-text-72"/>
          <p:cNvSpPr txBox="1"/>
          <p:nvPr/>
        </p:nvSpPr>
        <p:spPr>
          <a:xfrm>
            <a:off x="1143000" y="3276600"/>
            <a:ext cx="4667250" cy="190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3627A"/>
                </a:solidFill>
                <a:latin typeface="Trebuchet MS"/>
                <a:ea typeface="Trebuchet MS"/>
                <a:cs typeface="Trebuchet MS"/>
                <a:sym typeface="Trebuchet MS"/>
              </a:defRPr>
            </a:lvl1pPr>
          </a:lstStyle>
          <a:p>
            <a:pPr/>
            <a:r>
              <a:t>Peer-to-Peer Networking and Applications, 2026</a:t>
            </a:r>
          </a:p>
        </p:txBody>
      </p:sp>
      <p:sp>
        <p:nvSpPr>
          <p:cNvPr id="618" name="revision-text-73"/>
          <p:cNvSpPr txBox="1"/>
          <p:nvPr/>
        </p:nvSpPr>
        <p:spPr>
          <a:xfrm>
            <a:off x="1143000" y="3581400"/>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0345A"/>
                </a:solidFill>
                <a:latin typeface="Trebuchet MS"/>
                <a:ea typeface="Trebuchet MS"/>
                <a:cs typeface="Trebuchet MS"/>
                <a:sym typeface="Trebuchet MS"/>
              </a:defRPr>
            </a:lvl1pPr>
          </a:lstStyle>
          <a:p>
            <a:pPr/>
            <a:r>
              <a:t>[2] S. Fuhrman, O. Gungor and T. Rosing</a:t>
            </a:r>
          </a:p>
        </p:txBody>
      </p:sp>
      <p:sp>
        <p:nvSpPr>
          <p:cNvPr id="619" name="reference-title-2"/>
          <p:cNvSpPr txBox="1"/>
          <p:nvPr/>
        </p:nvSpPr>
        <p:spPr>
          <a:xfrm>
            <a:off x="1143000" y="3933825"/>
            <a:ext cx="466725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u="sng">
                <a:solidFill>
                  <a:srgbClr val="0000FF"/>
                </a:solidFill>
                <a:latin typeface="Trebuchet MS"/>
                <a:ea typeface="Trebuchet MS"/>
                <a:cs typeface="Trebuchet MS"/>
                <a:sym typeface="Trebuchet MS"/>
              </a:defRPr>
            </a:pPr>
            <a:r>
              <a:rPr>
                <a:uFill>
                  <a:solidFill>
                    <a:srgbClr val="0000FF"/>
                  </a:solidFill>
                </a:uFill>
                <a:hlinkClick r:id="rId4" invalidUrl="" action="" tgtFrame="" tooltip="" history="1" highlightClick="0" endSnd="0"/>
              </a:rPr>
              <a:t>CND-IDS: Continual Novelty Detection</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4" invalidUrl="" action="" tgtFrame="" tooltip="" history="1" highlightClick="0" endSnd="0"/>
              </a:rPr>
              <a:t>for Intrusion Detection Systems</a:t>
            </a:r>
          </a:p>
        </p:txBody>
      </p:sp>
      <p:sp>
        <p:nvSpPr>
          <p:cNvPr id="620" name="revision-text-74"/>
          <p:cNvSpPr txBox="1"/>
          <p:nvPr/>
        </p:nvSpPr>
        <p:spPr>
          <a:xfrm>
            <a:off x="1143000" y="4705350"/>
            <a:ext cx="4667250"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3627A"/>
                </a:solidFill>
                <a:latin typeface="Trebuchet MS"/>
                <a:ea typeface="Trebuchet MS"/>
                <a:cs typeface="Trebuchet MS"/>
                <a:sym typeface="Trebuchet MS"/>
              </a:defRPr>
            </a:lvl1pPr>
          </a:lstStyle>
          <a:p>
            <a:pPr/>
            <a:r>
              <a:t>ACM/IEEE DAC, 2025</a:t>
            </a:r>
          </a:p>
        </p:txBody>
      </p:sp>
      <p:sp>
        <p:nvSpPr>
          <p:cNvPr id="621" name="revision-text-75"/>
          <p:cNvSpPr txBox="1"/>
          <p:nvPr/>
        </p:nvSpPr>
        <p:spPr>
          <a:xfrm>
            <a:off x="1143000" y="5010150"/>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0345A"/>
                </a:solidFill>
                <a:latin typeface="Trebuchet MS"/>
                <a:ea typeface="Trebuchet MS"/>
                <a:cs typeface="Trebuchet MS"/>
                <a:sym typeface="Trebuchet MS"/>
              </a:defRPr>
            </a:lvl1pPr>
          </a:lstStyle>
          <a:p>
            <a:pPr/>
            <a:r>
              <a:t>[3] M. Golam, J.-M. Lee and D.-S. Kim</a:t>
            </a:r>
          </a:p>
        </p:txBody>
      </p:sp>
      <p:sp>
        <p:nvSpPr>
          <p:cNvPr id="622" name="reference-title-3"/>
          <p:cNvSpPr txBox="1"/>
          <p:nvPr/>
        </p:nvSpPr>
        <p:spPr>
          <a:xfrm>
            <a:off x="1143000" y="5362575"/>
            <a:ext cx="4667250" cy="647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u="sng">
                <a:solidFill>
                  <a:srgbClr val="0000FF"/>
                </a:solidFill>
                <a:latin typeface="Trebuchet MS"/>
                <a:ea typeface="Trebuchet MS"/>
                <a:cs typeface="Trebuchet MS"/>
                <a:sym typeface="Trebuchet MS"/>
              </a:defRPr>
            </a:pPr>
            <a:r>
              <a:rPr>
                <a:uFill>
                  <a:solidFill>
                    <a:srgbClr val="0000FF"/>
                  </a:solidFill>
                </a:uFill>
                <a:hlinkClick r:id="rId5" invalidUrl="" action="" tgtFrame="" tooltip="" history="1" highlightClick="0" endSnd="0"/>
              </a:rPr>
              <a:t>Language Agent Model-Driven Distributed</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5" invalidUrl="" action="" tgtFrame="" tooltip="" history="1" highlightClick="0" endSnd="0"/>
              </a:rPr>
              <a:t>Consensus for Advanced IoV Threat</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5" invalidUrl="" action="" tgtFrame="" tooltip="" history="1" highlightClick="0" endSnd="0"/>
              </a:rPr>
              <a:t>Response Management</a:t>
            </a:r>
          </a:p>
        </p:txBody>
      </p:sp>
      <p:sp>
        <p:nvSpPr>
          <p:cNvPr id="623" name="revision-text-76"/>
          <p:cNvSpPr txBox="1"/>
          <p:nvPr/>
        </p:nvSpPr>
        <p:spPr>
          <a:xfrm>
            <a:off x="1143000" y="6134100"/>
            <a:ext cx="4667250"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3627A"/>
                </a:solidFill>
                <a:latin typeface="Trebuchet MS"/>
                <a:ea typeface="Trebuchet MS"/>
                <a:cs typeface="Trebuchet MS"/>
                <a:sym typeface="Trebuchet MS"/>
              </a:defRPr>
            </a:lvl1pPr>
          </a:lstStyle>
          <a:p>
            <a:pPr/>
            <a:r>
              <a:t>APCC, 2025</a:t>
            </a:r>
          </a:p>
        </p:txBody>
      </p:sp>
      <p:sp>
        <p:nvSpPr>
          <p:cNvPr id="624" name="revision-text-77"/>
          <p:cNvSpPr txBox="1"/>
          <p:nvPr/>
        </p:nvSpPr>
        <p:spPr>
          <a:xfrm>
            <a:off x="6381750" y="2152650"/>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0345A"/>
                </a:solidFill>
                <a:latin typeface="Trebuchet MS"/>
                <a:ea typeface="Trebuchet MS"/>
                <a:cs typeface="Trebuchet MS"/>
                <a:sym typeface="Trebuchet MS"/>
              </a:defRPr>
            </a:lvl1pPr>
          </a:lstStyle>
          <a:p>
            <a:pPr/>
            <a:r>
              <a:t>[4] R. Zhao et al.</a:t>
            </a:r>
          </a:p>
        </p:txBody>
      </p:sp>
      <p:sp>
        <p:nvSpPr>
          <p:cNvPr id="625" name="reference-title-4"/>
          <p:cNvSpPr txBox="1"/>
          <p:nvPr/>
        </p:nvSpPr>
        <p:spPr>
          <a:xfrm>
            <a:off x="6381750" y="2505075"/>
            <a:ext cx="4667250" cy="647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u="sng">
                <a:solidFill>
                  <a:srgbClr val="0000FF"/>
                </a:solidFill>
                <a:latin typeface="Trebuchet MS"/>
                <a:ea typeface="Trebuchet MS"/>
                <a:cs typeface="Trebuchet MS"/>
                <a:sym typeface="Trebuchet MS"/>
              </a:defRPr>
            </a:pPr>
            <a:r>
              <a:rPr>
                <a:uFill>
                  <a:solidFill>
                    <a:srgbClr val="0000FF"/>
                  </a:solidFill>
                </a:uFill>
                <a:hlinkClick r:id="rId6" invalidUrl="" action="" tgtFrame="" tooltip="" history="1" highlightClick="0" endSnd="0"/>
              </a:rPr>
              <a:t>Rethinking Tamper-Evident Logging:</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6" invalidUrl="" action="" tgtFrame="" tooltip="" history="1" highlightClick="0" endSnd="0"/>
              </a:rPr>
              <a:t>A High-Performance, Co-Designed</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6" invalidUrl="" action="" tgtFrame="" tooltip="" history="1" highlightClick="0" endSnd="0"/>
              </a:rPr>
              <a:t>Auditing System</a:t>
            </a:r>
          </a:p>
        </p:txBody>
      </p:sp>
      <p:sp>
        <p:nvSpPr>
          <p:cNvPr id="626" name="revision-text-78"/>
          <p:cNvSpPr txBox="1"/>
          <p:nvPr/>
        </p:nvSpPr>
        <p:spPr>
          <a:xfrm>
            <a:off x="6381750" y="3276600"/>
            <a:ext cx="4667250"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3627A"/>
                </a:solidFill>
                <a:latin typeface="Trebuchet MS"/>
                <a:ea typeface="Trebuchet MS"/>
                <a:cs typeface="Trebuchet MS"/>
                <a:sym typeface="Trebuchet MS"/>
              </a:defRPr>
            </a:lvl1pPr>
          </a:lstStyle>
          <a:p>
            <a:pPr/>
            <a:r>
              <a:t>ACM CCS, 2025</a:t>
            </a:r>
          </a:p>
        </p:txBody>
      </p:sp>
      <p:sp>
        <p:nvSpPr>
          <p:cNvPr id="627" name="revision-text-79"/>
          <p:cNvSpPr txBox="1"/>
          <p:nvPr/>
        </p:nvSpPr>
        <p:spPr>
          <a:xfrm>
            <a:off x="6381750" y="3581400"/>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0345A"/>
                </a:solidFill>
                <a:latin typeface="Trebuchet MS"/>
                <a:ea typeface="Trebuchet MS"/>
                <a:cs typeface="Trebuchet MS"/>
                <a:sym typeface="Trebuchet MS"/>
              </a:defRPr>
            </a:lvl1pPr>
          </a:lstStyle>
          <a:p>
            <a:pPr/>
            <a:r>
              <a:t>[5] M. E. Verma et al.</a:t>
            </a:r>
          </a:p>
        </p:txBody>
      </p:sp>
      <p:sp>
        <p:nvSpPr>
          <p:cNvPr id="628" name="reference-title-5"/>
          <p:cNvSpPr txBox="1"/>
          <p:nvPr/>
        </p:nvSpPr>
        <p:spPr>
          <a:xfrm>
            <a:off x="6381750" y="3933825"/>
            <a:ext cx="466725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u="sng">
                <a:solidFill>
                  <a:srgbClr val="0000FF"/>
                </a:solidFill>
                <a:latin typeface="Trebuchet MS"/>
                <a:ea typeface="Trebuchet MS"/>
                <a:cs typeface="Trebuchet MS"/>
                <a:sym typeface="Trebuchet MS"/>
              </a:defRPr>
            </a:pPr>
            <a:r>
              <a:rPr>
                <a:uFill>
                  <a:solidFill>
                    <a:srgbClr val="0000FF"/>
                  </a:solidFill>
                </a:uFill>
                <a:hlinkClick r:id="rId7" invalidUrl="" action="" tgtFrame="" tooltip="" history="1" highlightClick="0" endSnd="0"/>
              </a:rPr>
              <a:t>A comprehensive guide to CAN IDS data</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7" invalidUrl="" action="" tgtFrame="" tooltip="" history="1" highlightClick="0" endSnd="0"/>
              </a:rPr>
              <a:t>and introduction of the ROAD dataset</a:t>
            </a:r>
          </a:p>
        </p:txBody>
      </p:sp>
      <p:sp>
        <p:nvSpPr>
          <p:cNvPr id="629" name="revision-text-80"/>
          <p:cNvSpPr txBox="1"/>
          <p:nvPr/>
        </p:nvSpPr>
        <p:spPr>
          <a:xfrm>
            <a:off x="6381750" y="4705350"/>
            <a:ext cx="4667250"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3627A"/>
                </a:solidFill>
                <a:latin typeface="Trebuchet MS"/>
                <a:ea typeface="Trebuchet MS"/>
                <a:cs typeface="Trebuchet MS"/>
                <a:sym typeface="Trebuchet MS"/>
              </a:defRPr>
            </a:lvl1pPr>
          </a:lstStyle>
          <a:p>
            <a:pPr/>
            <a:r>
              <a:t>PLOS ONE, 2024</a:t>
            </a:r>
          </a:p>
        </p:txBody>
      </p:sp>
      <p:sp>
        <p:nvSpPr>
          <p:cNvPr id="630" name="revision-text-81"/>
          <p:cNvSpPr txBox="1"/>
          <p:nvPr/>
        </p:nvSpPr>
        <p:spPr>
          <a:xfrm>
            <a:off x="6381750" y="5010150"/>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0345A"/>
                </a:solidFill>
                <a:latin typeface="Trebuchet MS"/>
                <a:ea typeface="Trebuchet MS"/>
                <a:cs typeface="Trebuchet MS"/>
                <a:sym typeface="Trebuchet MS"/>
              </a:defRPr>
            </a:lvl1pPr>
          </a:lstStyle>
          <a:p>
            <a:pPr/>
            <a:r>
              <a:t>[6] X. Sui, S. Duan and H. Zhang</a:t>
            </a:r>
          </a:p>
        </p:txBody>
      </p:sp>
      <p:sp>
        <p:nvSpPr>
          <p:cNvPr id="631" name="reference-title-6"/>
          <p:cNvSpPr txBox="1"/>
          <p:nvPr/>
        </p:nvSpPr>
        <p:spPr>
          <a:xfrm>
            <a:off x="6381750" y="5362575"/>
            <a:ext cx="466725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u="sng">
                <a:solidFill>
                  <a:srgbClr val="0000FF"/>
                </a:solidFill>
                <a:latin typeface="Trebuchet MS"/>
                <a:ea typeface="Trebuchet MS"/>
                <a:cs typeface="Trebuchet MS"/>
                <a:sym typeface="Trebuchet MS"/>
              </a:defRPr>
            </a:pPr>
            <a:r>
              <a:rPr>
                <a:uFill>
                  <a:solidFill>
                    <a:srgbClr val="0000FF"/>
                  </a:solidFill>
                </a:uFill>
                <a:hlinkClick r:id="rId8" invalidUrl="" action="" tgtFrame="" tooltip="" history="1" highlightClick="0" endSnd="0"/>
              </a:rPr>
              <a:t>BG: A Modular Treatment of BFT Consensus</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8" invalidUrl="" action="" tgtFrame="" tooltip="" history="1" highlightClick="0" endSnd="0"/>
              </a:rPr>
              <a:t>Toward a Unified Theory of BFT Replication</a:t>
            </a:r>
          </a:p>
        </p:txBody>
      </p:sp>
      <p:sp>
        <p:nvSpPr>
          <p:cNvPr id="632" name="revision-text-82"/>
          <p:cNvSpPr txBox="1"/>
          <p:nvPr/>
        </p:nvSpPr>
        <p:spPr>
          <a:xfrm>
            <a:off x="6381750" y="6134100"/>
            <a:ext cx="4667250"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3627A"/>
                </a:solidFill>
                <a:latin typeface="Trebuchet MS"/>
                <a:ea typeface="Trebuchet MS"/>
                <a:cs typeface="Trebuchet MS"/>
                <a:sym typeface="Trebuchet MS"/>
              </a:defRPr>
            </a:lvl1pPr>
          </a:lstStyle>
          <a:p>
            <a:pPr/>
            <a:r>
              <a:t>IEEE TIFS, vol. 19, pp. 44–58, 2024</a:t>
            </a:r>
          </a:p>
        </p:txBody>
      </p:sp>
      <p:sp>
        <p:nvSpPr>
          <p:cNvPr id="633"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21</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7" name="revision-text-83"/>
          <p:cNvSpPr txBox="1"/>
          <p:nvPr/>
        </p:nvSpPr>
        <p:spPr>
          <a:xfrm>
            <a:off x="1524000" y="1123950"/>
            <a:ext cx="914400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References (continued)</a:t>
            </a:r>
          </a:p>
        </p:txBody>
      </p:sp>
      <p:sp>
        <p:nvSpPr>
          <p:cNvPr id="638" name="revision-box-84"/>
          <p:cNvSpPr/>
          <p:nvPr/>
        </p:nvSpPr>
        <p:spPr>
          <a:xfrm>
            <a:off x="3048000" y="1581150"/>
            <a:ext cx="7620000" cy="28575"/>
          </a:xfrm>
          <a:prstGeom prst="rect">
            <a:avLst/>
          </a:prstGeom>
          <a:solidFill>
            <a:srgbClr val="33CCCC"/>
          </a:solidFill>
          <a:ln w="12700">
            <a:miter lim="400000"/>
          </a:ln>
        </p:spPr>
        <p:txBody>
          <a:bodyPr lIns="0" tIns="0" rIns="0" bIns="0"/>
          <a:lstStyle/>
          <a:p>
            <a:pPr>
              <a:defRPr>
                <a:latin typeface="Calibri"/>
                <a:ea typeface="Calibri"/>
                <a:cs typeface="Calibri"/>
                <a:sym typeface="Calibri"/>
              </a:defRPr>
            </a:pPr>
          </a:p>
        </p:txBody>
      </p:sp>
      <p:sp>
        <p:nvSpPr>
          <p:cNvPr id="639" name="revision-text-85"/>
          <p:cNvSpPr txBox="1"/>
          <p:nvPr/>
        </p:nvSpPr>
        <p:spPr>
          <a:xfrm>
            <a:off x="1143000" y="1752600"/>
            <a:ext cx="9906000" cy="190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300">
                <a:solidFill>
                  <a:srgbClr val="53627A"/>
                </a:solidFill>
                <a:latin typeface="Trebuchet MS"/>
                <a:ea typeface="Trebuchet MS"/>
                <a:cs typeface="Trebuchet MS"/>
                <a:sym typeface="Trebuchet MS"/>
              </a:defRPr>
            </a:lvl1pPr>
          </a:lstStyle>
          <a:p>
            <a:pPr/>
            <a:r>
              <a:t>References ordered by publication year, newest first; paper titles link to sources</a:t>
            </a:r>
          </a:p>
        </p:txBody>
      </p:sp>
      <p:sp>
        <p:nvSpPr>
          <p:cNvPr id="640" name="revision-text-86"/>
          <p:cNvSpPr txBox="1"/>
          <p:nvPr/>
        </p:nvSpPr>
        <p:spPr>
          <a:xfrm>
            <a:off x="1143000" y="2152650"/>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0345A"/>
                </a:solidFill>
                <a:latin typeface="Trebuchet MS"/>
                <a:ea typeface="Trebuchet MS"/>
                <a:cs typeface="Trebuchet MS"/>
                <a:sym typeface="Trebuchet MS"/>
              </a:defRPr>
            </a:lvl1pPr>
          </a:lstStyle>
          <a:p>
            <a:pPr/>
            <a:r>
              <a:t>[7] L. Korycki and B. Krawczyk</a:t>
            </a:r>
          </a:p>
        </p:txBody>
      </p:sp>
      <p:sp>
        <p:nvSpPr>
          <p:cNvPr id="641" name="reference-title-7"/>
          <p:cNvSpPr txBox="1"/>
          <p:nvPr/>
        </p:nvSpPr>
        <p:spPr>
          <a:xfrm>
            <a:off x="1143000" y="2505075"/>
            <a:ext cx="4667250" cy="647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u="sng">
                <a:solidFill>
                  <a:srgbClr val="0000FF"/>
                </a:solidFill>
                <a:latin typeface="Trebuchet MS"/>
                <a:ea typeface="Trebuchet MS"/>
                <a:cs typeface="Trebuchet MS"/>
                <a:sym typeface="Trebuchet MS"/>
              </a:defRPr>
            </a:pPr>
            <a:r>
              <a:rPr>
                <a:uFill>
                  <a:solidFill>
                    <a:srgbClr val="0000FF"/>
                  </a:solidFill>
                </a:uFill>
                <a:hlinkClick r:id="rId3" invalidUrl="" action="" tgtFrame="" tooltip="" history="1" highlightClick="0" endSnd="0"/>
              </a:rPr>
              <a:t>Adversarial concept drift detection under</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3" invalidUrl="" action="" tgtFrame="" tooltip="" history="1" highlightClick="0" endSnd="0"/>
              </a:rPr>
              <a:t>poisoning attacks for robust</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3" invalidUrl="" action="" tgtFrame="" tooltip="" history="1" highlightClick="0" endSnd="0"/>
              </a:rPr>
              <a:t>data stream mining</a:t>
            </a:r>
          </a:p>
        </p:txBody>
      </p:sp>
      <p:sp>
        <p:nvSpPr>
          <p:cNvPr id="642" name="revision-text-87"/>
          <p:cNvSpPr txBox="1"/>
          <p:nvPr/>
        </p:nvSpPr>
        <p:spPr>
          <a:xfrm>
            <a:off x="1143000" y="3276600"/>
            <a:ext cx="4667250"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3627A"/>
                </a:solidFill>
                <a:latin typeface="Trebuchet MS"/>
                <a:ea typeface="Trebuchet MS"/>
                <a:cs typeface="Trebuchet MS"/>
                <a:sym typeface="Trebuchet MS"/>
              </a:defRPr>
            </a:lvl1pPr>
          </a:lstStyle>
          <a:p>
            <a:pPr/>
            <a:r>
              <a:t>Machine Learning, 2023</a:t>
            </a:r>
          </a:p>
        </p:txBody>
      </p:sp>
      <p:sp>
        <p:nvSpPr>
          <p:cNvPr id="643" name="revision-text-88"/>
          <p:cNvSpPr txBox="1"/>
          <p:nvPr/>
        </p:nvSpPr>
        <p:spPr>
          <a:xfrm>
            <a:off x="1143000" y="3581400"/>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0345A"/>
                </a:solidFill>
                <a:latin typeface="Trebuchet MS"/>
                <a:ea typeface="Trebuchet MS"/>
                <a:cs typeface="Trebuchet MS"/>
                <a:sym typeface="Trebuchet MS"/>
              </a:defRPr>
            </a:lvl1pPr>
          </a:lstStyle>
          <a:p>
            <a:pPr/>
            <a:r>
              <a:t>[8] D. Koisser and A.-R. Sadeghi</a:t>
            </a:r>
          </a:p>
        </p:txBody>
      </p:sp>
      <p:sp>
        <p:nvSpPr>
          <p:cNvPr id="644" name="reference-title-8"/>
          <p:cNvSpPr txBox="1"/>
          <p:nvPr/>
        </p:nvSpPr>
        <p:spPr>
          <a:xfrm>
            <a:off x="1143000" y="3933825"/>
            <a:ext cx="466725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u="sng">
                <a:solidFill>
                  <a:srgbClr val="0000FF"/>
                </a:solidFill>
                <a:latin typeface="Trebuchet MS"/>
                <a:ea typeface="Trebuchet MS"/>
                <a:cs typeface="Trebuchet MS"/>
                <a:sym typeface="Trebuchet MS"/>
              </a:defRPr>
            </a:pPr>
            <a:r>
              <a:rPr>
                <a:uFill>
                  <a:solidFill>
                    <a:srgbClr val="0000FF"/>
                  </a:solidFill>
                </a:uFill>
                <a:hlinkClick r:id="rId4" invalidUrl="" action="" tgtFrame="" tooltip="" history="1" highlightClick="0" endSnd="0"/>
              </a:rPr>
              <a:t>Accountability of Things: Large-Scale</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4" invalidUrl="" action="" tgtFrame="" tooltip="" history="1" highlightClick="0" endSnd="0"/>
              </a:rPr>
              <a:t>Tamper-Evident Logging for Smart Devices</a:t>
            </a:r>
          </a:p>
        </p:txBody>
      </p:sp>
      <p:sp>
        <p:nvSpPr>
          <p:cNvPr id="645" name="revision-text-89"/>
          <p:cNvSpPr txBox="1"/>
          <p:nvPr/>
        </p:nvSpPr>
        <p:spPr>
          <a:xfrm>
            <a:off x="1143000" y="4705350"/>
            <a:ext cx="4667250"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3627A"/>
                </a:solidFill>
                <a:latin typeface="Trebuchet MS"/>
                <a:ea typeface="Trebuchet MS"/>
                <a:cs typeface="Trebuchet MS"/>
                <a:sym typeface="Trebuchet MS"/>
              </a:defRPr>
            </a:lvl1pPr>
          </a:lstStyle>
          <a:p>
            <a:pPr/>
            <a:r>
              <a:t>arXiv preprint, 2023</a:t>
            </a:r>
          </a:p>
        </p:txBody>
      </p:sp>
      <p:sp>
        <p:nvSpPr>
          <p:cNvPr id="646" name="revision-text-90"/>
          <p:cNvSpPr txBox="1"/>
          <p:nvPr/>
        </p:nvSpPr>
        <p:spPr>
          <a:xfrm>
            <a:off x="1143000" y="5010150"/>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0345A"/>
                </a:solidFill>
                <a:latin typeface="Trebuchet MS"/>
                <a:ea typeface="Trebuchet MS"/>
                <a:cs typeface="Trebuchet MS"/>
                <a:sym typeface="Trebuchet MS"/>
              </a:defRPr>
            </a:lvl1pPr>
          </a:lstStyle>
          <a:p>
            <a:pPr/>
            <a:r>
              <a:t>[9] P. Sharma and J. Gillanders</a:t>
            </a:r>
          </a:p>
        </p:txBody>
      </p:sp>
      <p:sp>
        <p:nvSpPr>
          <p:cNvPr id="647" name="reference-title-9"/>
          <p:cNvSpPr txBox="1"/>
          <p:nvPr/>
        </p:nvSpPr>
        <p:spPr>
          <a:xfrm>
            <a:off x="1143000" y="5362575"/>
            <a:ext cx="4667250" cy="647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u="sng">
                <a:solidFill>
                  <a:srgbClr val="0000FF"/>
                </a:solidFill>
                <a:latin typeface="Trebuchet MS"/>
                <a:ea typeface="Trebuchet MS"/>
                <a:cs typeface="Trebuchet MS"/>
                <a:sym typeface="Trebuchet MS"/>
              </a:defRPr>
            </a:pPr>
            <a:r>
              <a:rPr>
                <a:uFill>
                  <a:solidFill>
                    <a:srgbClr val="0000FF"/>
                  </a:solidFill>
                </a:uFill>
                <a:hlinkClick r:id="rId5" invalidUrl="" action="" tgtFrame="" tooltip="" history="1" highlightClick="0" endSnd="0"/>
              </a:rPr>
              <a:t>Cybersecurity and Forensics in Connected</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5" invalidUrl="" action="" tgtFrame="" tooltip="" history="1" highlightClick="0" endSnd="0"/>
              </a:rPr>
              <a:t>Autonomous Vehicles: A Review</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5" invalidUrl="" action="" tgtFrame="" tooltip="" history="1" highlightClick="0" endSnd="0"/>
              </a:rPr>
              <a:t>of the State-of-the-Art</a:t>
            </a:r>
          </a:p>
        </p:txBody>
      </p:sp>
      <p:sp>
        <p:nvSpPr>
          <p:cNvPr id="648" name="revision-text-91"/>
          <p:cNvSpPr txBox="1"/>
          <p:nvPr/>
        </p:nvSpPr>
        <p:spPr>
          <a:xfrm>
            <a:off x="1143000" y="6134100"/>
            <a:ext cx="4667250"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3627A"/>
                </a:solidFill>
                <a:latin typeface="Trebuchet MS"/>
                <a:ea typeface="Trebuchet MS"/>
                <a:cs typeface="Trebuchet MS"/>
                <a:sym typeface="Trebuchet MS"/>
              </a:defRPr>
            </a:lvl1pPr>
          </a:lstStyle>
          <a:p>
            <a:pPr/>
            <a:r>
              <a:t>IEEE Access, 2022</a:t>
            </a:r>
          </a:p>
        </p:txBody>
      </p:sp>
      <p:sp>
        <p:nvSpPr>
          <p:cNvPr id="649" name="revision-text-92"/>
          <p:cNvSpPr txBox="1"/>
          <p:nvPr/>
        </p:nvSpPr>
        <p:spPr>
          <a:xfrm>
            <a:off x="6381750" y="2152650"/>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0345A"/>
                </a:solidFill>
                <a:latin typeface="Trebuchet MS"/>
                <a:ea typeface="Trebuchet MS"/>
                <a:cs typeface="Trebuchet MS"/>
                <a:sym typeface="Trebuchet MS"/>
              </a:defRPr>
            </a:lvl1pPr>
          </a:lstStyle>
          <a:p>
            <a:pPr/>
            <a:r>
              <a:t>[10] L. Yang et al.</a:t>
            </a:r>
          </a:p>
        </p:txBody>
      </p:sp>
      <p:sp>
        <p:nvSpPr>
          <p:cNvPr id="650" name="reference-title-10"/>
          <p:cNvSpPr txBox="1"/>
          <p:nvPr/>
        </p:nvSpPr>
        <p:spPr>
          <a:xfrm>
            <a:off x="6381750" y="2505075"/>
            <a:ext cx="466725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u="sng">
                <a:solidFill>
                  <a:srgbClr val="0000FF"/>
                </a:solidFill>
                <a:latin typeface="Trebuchet MS"/>
                <a:ea typeface="Trebuchet MS"/>
                <a:cs typeface="Trebuchet MS"/>
                <a:sym typeface="Trebuchet MS"/>
              </a:defRPr>
            </a:pPr>
            <a:r>
              <a:rPr>
                <a:uFill>
                  <a:solidFill>
                    <a:srgbClr val="0000FF"/>
                  </a:solidFill>
                </a:uFill>
                <a:hlinkClick r:id="rId6" invalidUrl="" action="" tgtFrame="" tooltip="" history="1" highlightClick="0" endSnd="0"/>
              </a:rPr>
              <a:t>CADE: Detecting and Explaining Concept</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6" invalidUrl="" action="" tgtFrame="" tooltip="" history="1" highlightClick="0" endSnd="0"/>
              </a:rPr>
              <a:t>Drift Samples for Security Applications</a:t>
            </a:r>
          </a:p>
        </p:txBody>
      </p:sp>
      <p:sp>
        <p:nvSpPr>
          <p:cNvPr id="651" name="revision-text-93"/>
          <p:cNvSpPr txBox="1"/>
          <p:nvPr/>
        </p:nvSpPr>
        <p:spPr>
          <a:xfrm>
            <a:off x="6381750" y="3276600"/>
            <a:ext cx="4667250"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3627A"/>
                </a:solidFill>
                <a:latin typeface="Trebuchet MS"/>
                <a:ea typeface="Trebuchet MS"/>
                <a:cs typeface="Trebuchet MS"/>
                <a:sym typeface="Trebuchet MS"/>
              </a:defRPr>
            </a:lvl1pPr>
          </a:lstStyle>
          <a:p>
            <a:pPr/>
            <a:r>
              <a:t>USENIX Security, 2021</a:t>
            </a:r>
          </a:p>
        </p:txBody>
      </p:sp>
      <p:sp>
        <p:nvSpPr>
          <p:cNvPr id="652" name="revision-text-94"/>
          <p:cNvSpPr txBox="1"/>
          <p:nvPr/>
        </p:nvSpPr>
        <p:spPr>
          <a:xfrm>
            <a:off x="6381750" y="3581400"/>
            <a:ext cx="4667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0345A"/>
                </a:solidFill>
                <a:latin typeface="Trebuchet MS"/>
                <a:ea typeface="Trebuchet MS"/>
                <a:cs typeface="Trebuchet MS"/>
                <a:sym typeface="Trebuchet MS"/>
              </a:defRPr>
            </a:lvl1pPr>
          </a:lstStyle>
          <a:p>
            <a:pPr/>
            <a:r>
              <a:t>[11] P. K.C., R. Soman and P. Honnavalli</a:t>
            </a:r>
          </a:p>
        </p:txBody>
      </p:sp>
      <p:sp>
        <p:nvSpPr>
          <p:cNvPr id="653" name="reference-title-11"/>
          <p:cNvSpPr txBox="1"/>
          <p:nvPr/>
        </p:nvSpPr>
        <p:spPr>
          <a:xfrm>
            <a:off x="6381750" y="3933825"/>
            <a:ext cx="4667250" cy="431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u="sng">
                <a:solidFill>
                  <a:srgbClr val="0000FF"/>
                </a:solidFill>
                <a:latin typeface="Trebuchet MS"/>
                <a:ea typeface="Trebuchet MS"/>
                <a:cs typeface="Trebuchet MS"/>
                <a:sym typeface="Trebuchet MS"/>
              </a:defRPr>
            </a:pPr>
            <a:r>
              <a:rPr>
                <a:uFill>
                  <a:solidFill>
                    <a:srgbClr val="0000FF"/>
                  </a:solidFill>
                </a:uFill>
                <a:hlinkClick r:id="rId7" invalidUrl="" action="" tgtFrame="" tooltip="" history="1" highlightClick="0" endSnd="0"/>
              </a:rPr>
              <a:t>Validity of Forensic Evidence</a:t>
            </a:r>
            <a:endParaRPr>
              <a:solidFill>
                <a:srgbClr val="0033CC"/>
              </a:solidFill>
            </a:endParaRPr>
          </a:p>
          <a:p>
            <a:pPr>
              <a:defRPr sz="1500" u="sng">
                <a:solidFill>
                  <a:srgbClr val="0000FF"/>
                </a:solidFill>
                <a:latin typeface="Trebuchet MS"/>
                <a:ea typeface="Trebuchet MS"/>
                <a:cs typeface="Trebuchet MS"/>
                <a:sym typeface="Trebuchet MS"/>
              </a:defRPr>
            </a:pPr>
            <a:r>
              <a:rPr>
                <a:uFill>
                  <a:solidFill>
                    <a:srgbClr val="0000FF"/>
                  </a:solidFill>
                </a:uFill>
                <a:hlinkClick r:id="rId7" invalidUrl="" action="" tgtFrame="" tooltip="" history="1" highlightClick="0" endSnd="0"/>
              </a:rPr>
              <a:t>using Hash Function</a:t>
            </a:r>
          </a:p>
        </p:txBody>
      </p:sp>
      <p:sp>
        <p:nvSpPr>
          <p:cNvPr id="654" name="revision-text-95"/>
          <p:cNvSpPr txBox="1"/>
          <p:nvPr/>
        </p:nvSpPr>
        <p:spPr>
          <a:xfrm>
            <a:off x="6381750" y="4705350"/>
            <a:ext cx="4667250"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53627A"/>
                </a:solidFill>
                <a:latin typeface="Trebuchet MS"/>
                <a:ea typeface="Trebuchet MS"/>
                <a:cs typeface="Trebuchet MS"/>
                <a:sym typeface="Trebuchet MS"/>
              </a:defRPr>
            </a:lvl1pPr>
          </a:lstStyle>
          <a:p>
            <a:pPr/>
            <a:r>
              <a:t>IEEE ICCES, 2020</a:t>
            </a:r>
          </a:p>
        </p:txBody>
      </p:sp>
      <p:sp>
        <p:nvSpPr>
          <p:cNvPr id="655"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22</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9" name="Rectangle 3"/>
          <p:cNvSpPr txBox="1"/>
          <p:nvPr/>
        </p:nvSpPr>
        <p:spPr>
          <a:xfrm>
            <a:off x="4940324" y="2667000"/>
            <a:ext cx="2311351" cy="5969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defRPr sz="4000">
                <a:solidFill>
                  <a:srgbClr val="FF0000"/>
                </a:solidFill>
                <a:latin typeface="Trebuchet MS"/>
                <a:ea typeface="Trebuchet MS"/>
                <a:cs typeface="Trebuchet MS"/>
                <a:sym typeface="Trebuchet MS"/>
              </a:defRPr>
            </a:lvl1pPr>
          </a:lstStyle>
          <a:p>
            <a:pPr/>
            <a:r>
              <a:t>Thank You</a:t>
            </a:r>
          </a:p>
        </p:txBody>
      </p:sp>
      <p:sp>
        <p:nvSpPr>
          <p:cNvPr id="660" name="text-170"/>
          <p:cNvSpPr txBox="1"/>
          <p:nvPr/>
        </p:nvSpPr>
        <p:spPr>
          <a:xfrm>
            <a:off x="1143000" y="3638550"/>
            <a:ext cx="9906000" cy="368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500">
                <a:solidFill>
                  <a:srgbClr val="0033CC"/>
                </a:solidFill>
                <a:latin typeface="Trebuchet MS"/>
                <a:ea typeface="Trebuchet MS"/>
                <a:cs typeface="Trebuchet MS"/>
                <a:sym typeface="Trebuchet MS"/>
              </a:defRPr>
            </a:lvl1pPr>
          </a:lstStyle>
          <a:p>
            <a:pPr/>
            <a:r>
              <a:t>Questions and Discussion</a:t>
            </a:r>
          </a:p>
        </p:txBody>
      </p:sp>
      <p:sp>
        <p:nvSpPr>
          <p:cNvPr id="661" name="text-171"/>
          <p:cNvSpPr txBox="1"/>
          <p:nvPr/>
        </p:nvSpPr>
        <p:spPr>
          <a:xfrm>
            <a:off x="1143000" y="4505325"/>
            <a:ext cx="990600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400">
                <a:solidFill>
                  <a:srgbClr val="20345A"/>
                </a:solidFill>
                <a:latin typeface="Trebuchet MS"/>
                <a:ea typeface="Trebuchet MS"/>
                <a:cs typeface="Trebuchet MS"/>
                <a:sym typeface="Trebuchet MS"/>
              </a:defRPr>
            </a:lvl1pPr>
          </a:lstStyle>
          <a:p>
            <a:pPr/>
            <a:r>
              <a:t>VerdictTrace</a:t>
            </a:r>
          </a:p>
        </p:txBody>
      </p:sp>
      <p:sp>
        <p:nvSpPr>
          <p:cNvPr id="662" name="text-172"/>
          <p:cNvSpPr txBox="1"/>
          <p:nvPr/>
        </p:nvSpPr>
        <p:spPr>
          <a:xfrm>
            <a:off x="1143000" y="5048250"/>
            <a:ext cx="9906000" cy="266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a:solidFill>
                  <a:srgbClr val="53627A"/>
                </a:solidFill>
                <a:latin typeface="Trebuchet MS"/>
                <a:ea typeface="Trebuchet MS"/>
                <a:cs typeface="Trebuchet MS"/>
                <a:sym typeface="Trebuchet MS"/>
              </a:defRPr>
            </a:lvl1pPr>
          </a:lstStyle>
          <a:p>
            <a:pPr/>
            <a:r>
              <a:t>Batch 51</a:t>
            </a:r>
          </a:p>
        </p:txBody>
      </p:sp>
      <p:sp>
        <p:nvSpPr>
          <p:cNvPr id="663"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23</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revision-57"/>
          <p:cNvSpPr txBox="1"/>
          <p:nvPr/>
        </p:nvSpPr>
        <p:spPr>
          <a:xfrm>
            <a:off x="857250" y="1123950"/>
            <a:ext cx="98107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400">
                <a:solidFill>
                  <a:srgbClr val="FF0000"/>
                </a:solidFill>
                <a:latin typeface="Trebuchet MS"/>
                <a:ea typeface="Trebuchet MS"/>
                <a:cs typeface="Trebuchet MS"/>
                <a:sym typeface="Trebuchet MS"/>
              </a:defRPr>
            </a:lvl1pPr>
          </a:lstStyle>
          <a:p>
            <a:pPr/>
            <a:r>
              <a:t>GhostTrace: Forensics Command Centre</a:t>
            </a:r>
          </a:p>
        </p:txBody>
      </p:sp>
      <p:sp>
        <p:nvSpPr>
          <p:cNvPr id="316" name="Rectangle"/>
          <p:cNvSpPr/>
          <p:nvPr/>
        </p:nvSpPr>
        <p:spPr>
          <a:xfrm>
            <a:off x="3048000" y="1581150"/>
            <a:ext cx="7620000" cy="36195"/>
          </a:xfrm>
          <a:prstGeom prst="rect">
            <a:avLst/>
          </a:prstGeom>
          <a:solidFill>
            <a:srgbClr val="33CCCC"/>
          </a:solidFill>
          <a:ln w="12700">
            <a:miter lim="400000"/>
          </a:ln>
        </p:spPr>
        <p:txBody>
          <a:bodyPr lIns="0" tIns="0" rIns="0" bIns="0"/>
          <a:lstStyle/>
          <a:p>
            <a:pPr>
              <a:defRPr>
                <a:latin typeface="+mn-lt"/>
                <a:ea typeface="+mn-ea"/>
                <a:cs typeface="+mn-cs"/>
                <a:sym typeface="Helvetica"/>
              </a:defRPr>
            </a:pPr>
          </a:p>
        </p:txBody>
      </p:sp>
      <p:sp>
        <p:nvSpPr>
          <p:cNvPr id="330" name="slide-number"/>
          <p:cNvSpPr txBox="1"/>
          <p:nvPr/>
        </p:nvSpPr>
        <p:spPr>
          <a:xfrm>
            <a:off x="10572750" y="6572250"/>
            <a:ext cx="304800"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200">
                <a:solidFill>
                  <a:srgbClr val="53627A"/>
                </a:solidFill>
                <a:latin typeface="Trebuchet MS"/>
                <a:ea typeface="Trebuchet MS"/>
                <a:cs typeface="Trebuchet MS"/>
                <a:sym typeface="Trebuchet MS"/>
              </a:defRPr>
            </a:lvl1pPr>
          </a:lstStyle>
          <a:p>
            <a:pPr/>
            <a:r>
              <a:t>13</a:t>
            </a:r>
          </a:p>
        </p:txBody>
      </p:sp>
      <p:pic>
        <p:nvPicPr>
          <p:cNvPr id="331" name="">
            <a:extLst>
              <a:ext uri="{FF2B5EF4-FFF2-40B4-BE49-F238E27FC236}">
                <a16:creationId xmlns:a16="http://schemas.microsoft.com/office/drawing/2014/main" id="{E0BD8882-6090-4157-BFD2-1E2D886AF854}"/>
              </a:ext>
            </a:extLst>
          </p:cNvPr>
          <p:cNvPicPr>
            <a:picLocks noChangeAspect="1"/>
          </p:cNvPicPr>
          <p:nvPr/>
        </p:nvPicPr>
        <p:blipFill>
          <a:blip r:embed="rId4"/>
          <a:stretch/>
        </p:blipFill>
        <p:spPr>
          <a:xfrm>
            <a:off x="1907227" y="1714500"/>
            <a:ext cx="8377546" cy="4714875"/>
          </a:xfrm>
          <a:prstGeom prst="rect">
            <a:avLst/>
          </a:prstGeom>
        </p:spPr>
      </p:pic>
      <p:sp>
        <p:nvSpPr>
          <p:cNvPr id="332" name="VT_image_caption">
            <a:extLst>
              <a:ext uri="{FF2B5EF4-FFF2-40B4-BE49-F238E27FC236}">
                <a16:creationId xmlns:a16="http://schemas.microsoft.com/office/drawing/2014/main" id="{345042DF-47FE-4833-BD6E-EAA8F3EC95BE}"/>
              </a:ext>
            </a:extLst>
          </p:cNvPr>
          <p:cNvSpPr>
            <a:spLocks noGrp="1"/>
          </p:cNvSpPr>
          <p:nvPr/>
        </p:nvSpPr>
        <p:spPr>
          <a:xfrm>
            <a:off x="1143000" y="6505575"/>
            <a:ext cx="9144000" cy="219075"/>
          </a:xfrm>
          <a:prstGeom prst="rect">
            <a:avLst/>
          </a:prstGeom>
          <a:noFill/>
          <a:ln w="0">
            <a:noFill/>
          </a:ln>
        </p:spPr>
        <p:txBody>
          <a:bodyPr wrap="none" lIns="0" tIns="0" rIns="0" bIns="0" anchor="t">
            <a:noAutofit/>
          </a:bodyPr>
          <a:lstStyle>
            <a:defPPr algn="l">
              <a:defRPr sz="1200">
                <a:solidFill>
                  <a:srgbClr val="53627A"/>
                </a:solidFill>
                <a:latin typeface="Trebuchet MS"/>
                <a:ea typeface="Trebuchet MS"/>
                <a:cs typeface="Trebuchet MS"/>
              </a:defRPr>
            </a:defPPr>
          </a:lstStyle>
          <a:p>
            <a:pPr algn="l">
              <a:defRPr sz="1200">
                <a:solidFill>
                  <a:srgbClr val="53627A"/>
                </a:solidFill>
                <a:latin typeface="Trebuchet MS"/>
                <a:ea typeface="Trebuchet MS"/>
                <a:cs typeface="Trebuchet MS"/>
              </a:defRPr>
            </a:pPr>
            <a:r>
              <a:rPr sz="1200">
                <a:solidFill>
                  <a:srgbClr val="53627A"/>
                </a:solidFill>
                <a:latin typeface="Trebuchet MS"/>
                <a:ea typeface="Trebuchet MS"/>
                <a:cs typeface="Trebuchet MS"/>
              </a:rPr>
              <a:t>Concept illustration: displayed metrics are illustrative, not experimental results.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ustom Design">
  <a:themeElements>
    <a:clrScheme name="Custom Design">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Custom Design">
      <a:majorFont>
        <a:latin typeface="Helvetica Neue"/>
        <a:ea typeface="Helvetica Neue"/>
        <a:cs typeface="Helvetica Neue"/>
      </a:majorFont>
      <a:minorFont>
        <a:latin typeface="Helvetica"/>
        <a:ea typeface="Helvetica"/>
        <a:cs typeface="Helvetica"/>
      </a:minorFont>
    </a:fontScheme>
    <a:fmtScheme name="Custom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ustom Design">
  <a:themeElements>
    <a:clrScheme name="Custom Design">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Custom Design">
      <a:majorFont>
        <a:latin typeface="Helvetica Neue"/>
        <a:ea typeface="Helvetica Neue"/>
        <a:cs typeface="Helvetica Neue"/>
      </a:majorFont>
      <a:minorFont>
        <a:latin typeface="Helvetica"/>
        <a:ea typeface="Helvetica"/>
        <a:cs typeface="Helvetica"/>
      </a:minorFont>
    </a:fontScheme>
    <a:fmtScheme name="Custom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